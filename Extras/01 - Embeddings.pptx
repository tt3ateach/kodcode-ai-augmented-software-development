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1"/>
  </p:notesMasterIdLst>
  <p:sldIdLst>
    <p:sldId id="256" r:id="rId2"/>
    <p:sldId id="257" r:id="rId3"/>
    <p:sldId id="258" r:id="rId4"/>
    <p:sldId id="283" r:id="rId5"/>
    <p:sldId id="284" r:id="rId6"/>
    <p:sldId id="285" r:id="rId7"/>
    <p:sldId id="262" r:id="rId8"/>
    <p:sldId id="263" r:id="rId9"/>
    <p:sldId id="265" r:id="rId10"/>
    <p:sldId id="267" r:id="rId11"/>
    <p:sldId id="271" r:id="rId12"/>
    <p:sldId id="266" r:id="rId13"/>
    <p:sldId id="268" r:id="rId14"/>
    <p:sldId id="269" r:id="rId15"/>
    <p:sldId id="272" r:id="rId16"/>
    <p:sldId id="273" r:id="rId17"/>
    <p:sldId id="274" r:id="rId18"/>
    <p:sldId id="338" r:id="rId19"/>
    <p:sldId id="335" r:id="rId20"/>
    <p:sldId id="334" r:id="rId21"/>
    <p:sldId id="259" r:id="rId22"/>
    <p:sldId id="260" r:id="rId23"/>
    <p:sldId id="336" r:id="rId24"/>
    <p:sldId id="337" r:id="rId25"/>
    <p:sldId id="275" r:id="rId26"/>
    <p:sldId id="276" r:id="rId27"/>
    <p:sldId id="277" r:id="rId28"/>
    <p:sldId id="278" r:id="rId29"/>
    <p:sldId id="279" r:id="rId30"/>
    <p:sldId id="357" r:id="rId31"/>
    <p:sldId id="339" r:id="rId32"/>
    <p:sldId id="343" r:id="rId33"/>
    <p:sldId id="264" r:id="rId34"/>
    <p:sldId id="340" r:id="rId35"/>
    <p:sldId id="341" r:id="rId36"/>
    <p:sldId id="342" r:id="rId37"/>
    <p:sldId id="280" r:id="rId38"/>
    <p:sldId id="281" r:id="rId39"/>
    <p:sldId id="28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98EB1E-B29D-4B29-87A1-DD5A72C5769C}">
          <p14:sldIdLst>
            <p14:sldId id="256"/>
            <p14:sldId id="257"/>
            <p14:sldId id="258"/>
            <p14:sldId id="283"/>
            <p14:sldId id="284"/>
            <p14:sldId id="285"/>
          </p14:sldIdLst>
        </p14:section>
        <p14:section name="Embeddings" id="{C817C834-731A-4B6E-B84A-0F44A6462621}">
          <p14:sldIdLst>
            <p14:sldId id="262"/>
            <p14:sldId id="263"/>
            <p14:sldId id="265"/>
            <p14:sldId id="267"/>
            <p14:sldId id="271"/>
            <p14:sldId id="266"/>
            <p14:sldId id="268"/>
            <p14:sldId id="269"/>
            <p14:sldId id="272"/>
            <p14:sldId id="273"/>
            <p14:sldId id="274"/>
          </p14:sldIdLst>
        </p14:section>
        <p14:section name="Exercise 2" id="{E871F101-B515-49F6-AEDA-40FA487D86D9}">
          <p14:sldIdLst/>
        </p14:section>
        <p14:section name="Untitled Section" id="{AEAF73B1-CC80-4702-811B-4E083CAF1238}">
          <p14:sldIdLst>
            <p14:sldId id="338"/>
            <p14:sldId id="335"/>
            <p14:sldId id="334"/>
            <p14:sldId id="259"/>
            <p14:sldId id="260"/>
            <p14:sldId id="336"/>
            <p14:sldId id="337"/>
          </p14:sldIdLst>
        </p14:section>
        <p14:section name="Training Embedding Models" id="{4F7E905B-3F50-49D3-B5D3-2E020DCC8508}">
          <p14:sldIdLst>
            <p14:sldId id="275"/>
            <p14:sldId id="276"/>
            <p14:sldId id="277"/>
            <p14:sldId id="278"/>
            <p14:sldId id="279"/>
          </p14:sldIdLst>
        </p14:section>
        <p14:section name="Class Exercise 3" id="{C237C62E-4019-4A36-A69F-B359D1E187B9}">
          <p14:sldIdLst>
            <p14:sldId id="357"/>
            <p14:sldId id="339"/>
            <p14:sldId id="343"/>
            <p14:sldId id="264"/>
            <p14:sldId id="340"/>
            <p14:sldId id="341"/>
            <p14:sldId id="342"/>
          </p14:sldIdLst>
        </p14:section>
        <p14:section name="Embeddings Summary" id="{0E0A771D-4BF1-4FC8-A4F3-3656BD5099FD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FF97D-16A8-4659-BA84-16FD0FF63C6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0CBAA-7421-4B4E-B03C-5344B295C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0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2-D picture is a dramatic simplification – real embedding spaces have 768-3072 dimensions. PCA / t-SNE projections are used to visualize them. The King–Man+Woman=Queen example shows that vector arithmetic encodes semantic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we don't care about the magnitude of the vector, only the direction. This is why cosine works better than Euclidean. Practical tip: if your embedding API returns L2-normalized vectors (as many do), then dot product == cosine similarity – no division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reference solution:
static float CosineSimilarity(float[] a, float[] b)
{
    float dot = 0, na = 0, nb = 0;
    for (int i = 0; i &lt; a.Length; i++)
    {
        dot += a[i] * b[i];
        na += a[i] * a[i];
        nb += b[i] * b[i];
    }
    return dot / (MathF.Sqrt(na) * MathF.Sqrt(nb));
}
Give students ~5 minutes before showing this. If stuck, point them back to this morning's slide 26 (Cosine Similarity in C#).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Word2Vec (2013 Google) was the breakthrough. BERT (2018) showed masked prediction is better. Sentence-BERT (2019) fixed BERT's sentence-similarity weakness with contrastive pairs. Modern embedding APIs like text-embedding-3 use this approach at massive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resolves a common confusion: 'I thought each word had a vector?' Emphasize that what the OpenAI / Anthropic / Cohere APIs return is a single vector for the entire input string – not one per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in VS with the actual NuGet package: OpenAI. model text-embedding-3-small: 1536 dims, cheapest. text-embedding-3-large: 3072 dims, better quality. Live demo opportunity: embed 'bank' alone vs in sentence – compare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.NET 8 / System.Numerics.Tensors introduces TensorPrimitives.CosineSimilarity. For large-scale comparisons (thousands of vectors) prefer a vector database or Microsoft.Extensions.AI / Semantic Kernel which have built-in similarity helpers.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= Retrieval Augmented Generation. This is how GitHub Copilot Chat, ChatGPT file uploads, and enterprise search products work. The two-phase index/query split is important: indexing happens once (or incrementally), querying must be fast (milliseconds).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708D-8FC3-2D50-CDC5-F013170C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B97CD-2681-684B-E3AF-B511B4633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47C15-5273-7DDF-2C0D-22E7AC827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BBCAB-21B4-1991-1147-6F3F09086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085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MTEB = Massive Text Embedding Benchmark – the standard leaderboard at huggingface.co/spaces/mteb/leaderboard. For enterprise .NET you'll most often use text-embedding-3-small via Azure OpenAI. OSS models (MiniLM etc.) are great for privacy-sensitive workloads – run on-premise.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course's hands-on exercises we use Semantic Kernel with an in-memory vector store so attendees don't need to spin up extra services. For production, Azure AI Search is the natural fit for .NET Azure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module. Ask attendees: 'What is the vector for a sentence?' and 'How would you find the 3 most similar documents to a search query?'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9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4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5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9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5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5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77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14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82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29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11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790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91987-6452-42A9-BE1F-7013B43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05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6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60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urigoldstein/" TargetMode="External"/><Relationship Id="rId2" Type="http://schemas.openxmlformats.org/officeDocument/2006/relationships/hyperlink" Target="mailto:uri_goldstein@epam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brenndoerfer.com/writing/unigram-language-model-tokenization" TargetMode="External"/><Relationship Id="rId2" Type="http://schemas.openxmlformats.org/officeDocument/2006/relationships/hyperlink" Target="https://en.wikipedia.org/wiki/Byte-pair_encodi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tform.openai.com/tokeniz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DC48-BD96-02B0-817B-E38944541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01 –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0C76E-463A-BB5D-BB10-A1BE58798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5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5A7A-A2A8-6E18-8FD7-A8473F74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Hello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D7B5-BC0E-5A9C-83BC-CE23820F3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029200" cy="3843666"/>
          </a:xfrm>
        </p:spPr>
        <p:txBody>
          <a:bodyPr>
            <a:normAutofit/>
          </a:bodyPr>
          <a:lstStyle/>
          <a:p>
            <a:r>
              <a:rPr lang="en-US" sz="2000" dirty="0"/>
              <a:t>Uri Goldstein</a:t>
            </a:r>
            <a:r>
              <a:rPr lang="he-IL" sz="2000" dirty="0"/>
              <a:t> אורי גולדשטיין </a:t>
            </a:r>
            <a:endParaRPr lang="en-US" sz="2000" dirty="0"/>
          </a:p>
          <a:p>
            <a:r>
              <a:rPr lang="en-US" sz="2000" dirty="0">
                <a:hlinkClick r:id="rId2"/>
              </a:rPr>
              <a:t>uri_goldstein@epam.com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https://www.linkedin.com/in/urigoldstein/</a:t>
            </a:r>
            <a:endParaRPr lang="he-IL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72387-F497-99CB-7D6D-87E628A96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090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2785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C50C-C0B9-E1A5-819A-2CF22AEC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44F4-CA3D-2229-0A22-AFD05DB80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Make the most of your </a:t>
            </a:r>
            <a:r>
              <a:rPr lang="en-US" sz="2000" dirty="0" err="1"/>
              <a:t>Github</a:t>
            </a:r>
            <a:r>
              <a:rPr lang="en-US" sz="2000" dirty="0"/>
              <a:t> Copilot subscription.</a:t>
            </a:r>
          </a:p>
          <a:p>
            <a:pPr lvl="1"/>
            <a:r>
              <a:rPr lang="en-US" sz="1800" dirty="0"/>
              <a:t>Spend less</a:t>
            </a:r>
          </a:p>
          <a:p>
            <a:pPr lvl="1"/>
            <a:r>
              <a:rPr lang="en-US" sz="1800" dirty="0"/>
              <a:t>Build more</a:t>
            </a:r>
          </a:p>
          <a:p>
            <a:pPr lvl="1"/>
            <a:r>
              <a:rPr lang="en-US" sz="1800" dirty="0"/>
              <a:t>Improve quality</a:t>
            </a:r>
          </a:p>
          <a:p>
            <a:pPr lvl="1"/>
            <a:endParaRPr lang="en-US" sz="1800" dirty="0"/>
          </a:p>
          <a:p>
            <a:r>
              <a:rPr lang="en-US" sz="2000" dirty="0"/>
              <a:t>Learn to integrate AI into your code.</a:t>
            </a:r>
          </a:p>
          <a:p>
            <a:pPr lvl="1"/>
            <a:r>
              <a:rPr lang="en-US" sz="1800" dirty="0"/>
              <a:t>AI-driven Product Features</a:t>
            </a:r>
          </a:p>
        </p:txBody>
      </p:sp>
    </p:spTree>
    <p:extLst>
      <p:ext uri="{BB962C8B-B14F-4D97-AF65-F5344CB8AC3E}">
        <p14:creationId xmlns:p14="http://schemas.microsoft.com/office/powerpoint/2010/main" val="68626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5495-F474-F77C-9473-3B411E99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9378-FA51-4CDD-4521-8F40E7994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Embeddings</a:t>
            </a:r>
          </a:p>
          <a:p>
            <a:endParaRPr lang="en-US" sz="2400" dirty="0"/>
          </a:p>
          <a:p>
            <a:r>
              <a:rPr lang="en-US" sz="2400" dirty="0"/>
              <a:t>Large Language Models</a:t>
            </a:r>
          </a:p>
          <a:p>
            <a:pPr lvl="1"/>
            <a:endParaRPr lang="en-US" sz="2000" dirty="0"/>
          </a:p>
          <a:p>
            <a:r>
              <a:rPr lang="en-US" sz="2400" dirty="0"/>
              <a:t>Introducing: </a:t>
            </a:r>
            <a:r>
              <a:rPr lang="en-US" sz="2400" dirty="0" err="1"/>
              <a:t>Github</a:t>
            </a:r>
            <a:r>
              <a:rPr lang="en-US" sz="2400" dirty="0"/>
              <a:t> Copilot</a:t>
            </a:r>
          </a:p>
        </p:txBody>
      </p:sp>
    </p:spTree>
    <p:extLst>
      <p:ext uri="{BB962C8B-B14F-4D97-AF65-F5344CB8AC3E}">
        <p14:creationId xmlns:p14="http://schemas.microsoft.com/office/powerpoint/2010/main" val="155171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73B3-A718-773F-D9D7-9054CB93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5447F-C705-39C4-5F90-0ECA786F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D74DC4-FAF5-7855-CB1A-7AC35A003D40}"/>
              </a:ext>
            </a:extLst>
          </p:cNvPr>
          <p:cNvSpPr/>
          <p:nvPr/>
        </p:nvSpPr>
        <p:spPr>
          <a:xfrm>
            <a:off x="3028950" y="2400300"/>
            <a:ext cx="5114925" cy="3181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Artificial Intelligence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92A1E2-0E8D-FECA-7A84-6289145D4FBD}"/>
              </a:ext>
            </a:extLst>
          </p:cNvPr>
          <p:cNvSpPr/>
          <p:nvPr/>
        </p:nvSpPr>
        <p:spPr>
          <a:xfrm>
            <a:off x="3228975" y="2552700"/>
            <a:ext cx="4714875" cy="2495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Machine Learning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058691-1671-B998-11B5-132D6F8BE1B3}"/>
              </a:ext>
            </a:extLst>
          </p:cNvPr>
          <p:cNvSpPr/>
          <p:nvPr/>
        </p:nvSpPr>
        <p:spPr>
          <a:xfrm>
            <a:off x="3448050" y="2705101"/>
            <a:ext cx="4276725" cy="18192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Deep Learning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1475BD-8DC4-0603-41ED-C9D15F11EFD0}"/>
              </a:ext>
            </a:extLst>
          </p:cNvPr>
          <p:cNvSpPr/>
          <p:nvPr/>
        </p:nvSpPr>
        <p:spPr>
          <a:xfrm>
            <a:off x="3686175" y="2952750"/>
            <a:ext cx="3819525" cy="10667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Large Language </a:t>
            </a:r>
            <a:br>
              <a:rPr lang="en-US" dirty="0"/>
            </a:br>
            <a:r>
              <a:rPr lang="en-US" dirty="0"/>
              <a:t>Models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7C9CB0-E353-90BC-F4F2-3779DED7B447}"/>
              </a:ext>
            </a:extLst>
          </p:cNvPr>
          <p:cNvSpPr/>
          <p:nvPr/>
        </p:nvSpPr>
        <p:spPr>
          <a:xfrm>
            <a:off x="6467475" y="3081338"/>
            <a:ext cx="904875" cy="118585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Generative AI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5C01650D-4C21-F25C-8AF9-E39E9D584970}"/>
              </a:ext>
            </a:extLst>
          </p:cNvPr>
          <p:cNvSpPr/>
          <p:nvPr/>
        </p:nvSpPr>
        <p:spPr>
          <a:xfrm>
            <a:off x="8629650" y="5514777"/>
            <a:ext cx="1781175" cy="9112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434"/>
              <a:gd name="adj6" fmla="val -5041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Systems with</a:t>
            </a:r>
          </a:p>
          <a:p>
            <a:pPr algn="ctr"/>
            <a:r>
              <a:rPr lang="en-US" sz="1600" dirty="0"/>
              <a:t>human-like intelligence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93A03E5E-A907-8C96-FC7F-F8BA8BB3BA77}"/>
              </a:ext>
            </a:extLst>
          </p:cNvPr>
          <p:cNvSpPr/>
          <p:nvPr/>
        </p:nvSpPr>
        <p:spPr>
          <a:xfrm>
            <a:off x="9382125" y="3674267"/>
            <a:ext cx="1781175" cy="9112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0409"/>
              <a:gd name="adj6" fmla="val -9212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Systems with</a:t>
            </a:r>
          </a:p>
          <a:p>
            <a:pPr algn="ctr"/>
            <a:r>
              <a:rPr lang="en-US" sz="1600" dirty="0"/>
              <a:t>human-like intelligence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71EEF210-3012-1A28-D892-432644553443}"/>
              </a:ext>
            </a:extLst>
          </p:cNvPr>
          <p:cNvSpPr/>
          <p:nvPr/>
        </p:nvSpPr>
        <p:spPr>
          <a:xfrm>
            <a:off x="895350" y="3905250"/>
            <a:ext cx="1781175" cy="1323975"/>
          </a:xfrm>
          <a:prstGeom prst="borderCallout2">
            <a:avLst>
              <a:gd name="adj1" fmla="val 81014"/>
              <a:gd name="adj2" fmla="val 106640"/>
              <a:gd name="adj3" fmla="val 81014"/>
              <a:gd name="adj4" fmla="val 114883"/>
              <a:gd name="adj5" fmla="val 30426"/>
              <a:gd name="adj6" fmla="val 16937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Machine learning with neural networks consisting of many layer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D5395606-B4C9-E11F-7189-14FCD952D5F9}"/>
              </a:ext>
            </a:extLst>
          </p:cNvPr>
          <p:cNvSpPr/>
          <p:nvPr/>
        </p:nvSpPr>
        <p:spPr>
          <a:xfrm>
            <a:off x="8682037" y="2303364"/>
            <a:ext cx="1781175" cy="9112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1002"/>
              <a:gd name="adj6" fmla="val -8142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Systems with</a:t>
            </a:r>
          </a:p>
          <a:p>
            <a:pPr algn="ctr"/>
            <a:r>
              <a:rPr lang="en-US" sz="1600" dirty="0"/>
              <a:t>“human-like“ intelligence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50D54461-1166-039E-E0F8-A5AA2B6A4359}"/>
              </a:ext>
            </a:extLst>
          </p:cNvPr>
          <p:cNvSpPr/>
          <p:nvPr/>
        </p:nvSpPr>
        <p:spPr>
          <a:xfrm>
            <a:off x="828675" y="2400300"/>
            <a:ext cx="1781175" cy="1273967"/>
          </a:xfrm>
          <a:prstGeom prst="borderCallout2">
            <a:avLst>
              <a:gd name="adj1" fmla="val 20841"/>
              <a:gd name="adj2" fmla="val 104501"/>
              <a:gd name="adj3" fmla="val 20841"/>
              <a:gd name="adj4" fmla="val 118092"/>
              <a:gd name="adj5" fmla="val 93685"/>
              <a:gd name="adj6" fmla="val 16563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Deep neural network for parsing and generating human-like text</a:t>
            </a:r>
          </a:p>
        </p:txBody>
      </p:sp>
    </p:spTree>
    <p:extLst>
      <p:ext uri="{BB962C8B-B14F-4D97-AF65-F5344CB8AC3E}">
        <p14:creationId xmlns:p14="http://schemas.microsoft.com/office/powerpoint/2010/main" val="53802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48E5-4714-9DFA-72FF-E73EFCAF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0F42B-25A4-A97E-C4D6-352F82E01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EDB0ED3-9CD1-95E7-AC6D-13462302AA87}"/>
              </a:ext>
            </a:extLst>
          </p:cNvPr>
          <p:cNvSpPr/>
          <p:nvPr/>
        </p:nvSpPr>
        <p:spPr>
          <a:xfrm>
            <a:off x="3501372" y="1590675"/>
            <a:ext cx="5189253" cy="5157258"/>
          </a:xfrm>
          <a:custGeom>
            <a:avLst/>
            <a:gdLst>
              <a:gd name="csX0" fmla="*/ 0 w 4246034"/>
              <a:gd name="csY0" fmla="*/ 2123017 h 4246034"/>
              <a:gd name="csX1" fmla="*/ 2123017 w 4246034"/>
              <a:gd name="csY1" fmla="*/ 0 h 4246034"/>
              <a:gd name="csX2" fmla="*/ 4246034 w 4246034"/>
              <a:gd name="csY2" fmla="*/ 2123017 h 4246034"/>
              <a:gd name="csX3" fmla="*/ 2123017 w 4246034"/>
              <a:gd name="csY3" fmla="*/ 4246034 h 4246034"/>
              <a:gd name="csX4" fmla="*/ 0 w 4246034"/>
              <a:gd name="csY4" fmla="*/ 2123017 h 424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46034" h="4246034">
                <a:moveTo>
                  <a:pt x="0" y="2123017"/>
                </a:moveTo>
                <a:cubicBezTo>
                  <a:pt x="0" y="950507"/>
                  <a:pt x="950507" y="0"/>
                  <a:pt x="2123017" y="0"/>
                </a:cubicBezTo>
                <a:cubicBezTo>
                  <a:pt x="3295527" y="0"/>
                  <a:pt x="4246034" y="950507"/>
                  <a:pt x="4246034" y="2123017"/>
                </a:cubicBezTo>
                <a:cubicBezTo>
                  <a:pt x="4246034" y="3295527"/>
                  <a:pt x="3295527" y="4246034"/>
                  <a:pt x="2123017" y="4246034"/>
                </a:cubicBezTo>
                <a:cubicBezTo>
                  <a:pt x="950507" y="4246034"/>
                  <a:pt x="0" y="3295527"/>
                  <a:pt x="0" y="2123017"/>
                </a:cubicBez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607653" tIns="290533" rIns="1607654" bIns="3475060" numCol="1" spcCol="1270" anchor="t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Multi-Agents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Orchestration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CF1005-3B07-C169-8E77-5BBC920683CE}"/>
              </a:ext>
            </a:extLst>
          </p:cNvPr>
          <p:cNvSpPr/>
          <p:nvPr/>
        </p:nvSpPr>
        <p:spPr>
          <a:xfrm>
            <a:off x="-4187825" y="1441450"/>
            <a:ext cx="3819525" cy="10667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Large Language </a:t>
            </a:r>
            <a:br>
              <a:rPr lang="en-US" dirty="0"/>
            </a:br>
            <a:r>
              <a:rPr lang="en-US" dirty="0"/>
              <a:t>Models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A4D3A1-23C9-1B35-BB72-6CDFE12DA4F5}"/>
              </a:ext>
            </a:extLst>
          </p:cNvPr>
          <p:cNvSpPr/>
          <p:nvPr/>
        </p:nvSpPr>
        <p:spPr>
          <a:xfrm>
            <a:off x="-3844925" y="3408364"/>
            <a:ext cx="904875" cy="118585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Generative AI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9A0A0B4-5AD7-2CB9-4743-675FCABE2F63}"/>
              </a:ext>
            </a:extLst>
          </p:cNvPr>
          <p:cNvSpPr/>
          <p:nvPr/>
        </p:nvSpPr>
        <p:spPr>
          <a:xfrm>
            <a:off x="3972983" y="2501900"/>
            <a:ext cx="4246034" cy="4246034"/>
          </a:xfrm>
          <a:custGeom>
            <a:avLst/>
            <a:gdLst>
              <a:gd name="csX0" fmla="*/ 0 w 4246034"/>
              <a:gd name="csY0" fmla="*/ 2123017 h 4246034"/>
              <a:gd name="csX1" fmla="*/ 2123017 w 4246034"/>
              <a:gd name="csY1" fmla="*/ 0 h 4246034"/>
              <a:gd name="csX2" fmla="*/ 4246034 w 4246034"/>
              <a:gd name="csY2" fmla="*/ 2123017 h 4246034"/>
              <a:gd name="csX3" fmla="*/ 2123017 w 4246034"/>
              <a:gd name="csY3" fmla="*/ 4246034 h 4246034"/>
              <a:gd name="csX4" fmla="*/ 0 w 4246034"/>
              <a:gd name="csY4" fmla="*/ 2123017 h 424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46034" h="4246034">
                <a:moveTo>
                  <a:pt x="0" y="2123017"/>
                </a:moveTo>
                <a:cubicBezTo>
                  <a:pt x="0" y="950507"/>
                  <a:pt x="950507" y="0"/>
                  <a:pt x="2123017" y="0"/>
                </a:cubicBezTo>
                <a:cubicBezTo>
                  <a:pt x="3295527" y="0"/>
                  <a:pt x="4246034" y="950507"/>
                  <a:pt x="4246034" y="2123017"/>
                </a:cubicBezTo>
                <a:cubicBezTo>
                  <a:pt x="4246034" y="3295527"/>
                  <a:pt x="3295527" y="4246034"/>
                  <a:pt x="2123017" y="4246034"/>
                </a:cubicBezTo>
                <a:cubicBezTo>
                  <a:pt x="950507" y="4246034"/>
                  <a:pt x="0" y="3295527"/>
                  <a:pt x="0" y="2123017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607653" tIns="290533" rIns="1607654" bIns="347506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AI Agents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B05A960-C01B-889C-6A20-A84F2A9B42AB}"/>
              </a:ext>
            </a:extLst>
          </p:cNvPr>
          <p:cNvSpPr/>
          <p:nvPr/>
        </p:nvSpPr>
        <p:spPr>
          <a:xfrm>
            <a:off x="4397586" y="3351106"/>
            <a:ext cx="3396827" cy="3396827"/>
          </a:xfrm>
          <a:custGeom>
            <a:avLst/>
            <a:gdLst>
              <a:gd name="csX0" fmla="*/ 0 w 3396827"/>
              <a:gd name="csY0" fmla="*/ 1698414 h 3396827"/>
              <a:gd name="csX1" fmla="*/ 1698414 w 3396827"/>
              <a:gd name="csY1" fmla="*/ 0 h 3396827"/>
              <a:gd name="csX2" fmla="*/ 3396828 w 3396827"/>
              <a:gd name="csY2" fmla="*/ 1698414 h 3396827"/>
              <a:gd name="csX3" fmla="*/ 1698414 w 3396827"/>
              <a:gd name="csY3" fmla="*/ 3396828 h 3396827"/>
              <a:gd name="csX4" fmla="*/ 0 w 3396827"/>
              <a:gd name="csY4" fmla="*/ 1698414 h 339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96827" h="3396827">
                <a:moveTo>
                  <a:pt x="0" y="1698414"/>
                </a:moveTo>
                <a:cubicBezTo>
                  <a:pt x="0" y="760406"/>
                  <a:pt x="760406" y="0"/>
                  <a:pt x="1698414" y="0"/>
                </a:cubicBezTo>
                <a:cubicBezTo>
                  <a:pt x="2636422" y="0"/>
                  <a:pt x="3396828" y="760406"/>
                  <a:pt x="3396828" y="1698414"/>
                </a:cubicBezTo>
                <a:cubicBezTo>
                  <a:pt x="3396828" y="2636422"/>
                  <a:pt x="2636422" y="3396828"/>
                  <a:pt x="1698414" y="3396828"/>
                </a:cubicBezTo>
                <a:cubicBezTo>
                  <a:pt x="760406" y="3396828"/>
                  <a:pt x="0" y="2636422"/>
                  <a:pt x="0" y="1698414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1183050" tIns="282042" rIns="1183050" bIns="2659821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AI Chatbots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36E825-62FA-318D-24FC-2A41BF76A33E}"/>
              </a:ext>
            </a:extLst>
          </p:cNvPr>
          <p:cNvSpPr/>
          <p:nvPr/>
        </p:nvSpPr>
        <p:spPr>
          <a:xfrm>
            <a:off x="4822189" y="4200313"/>
            <a:ext cx="2547620" cy="2547620"/>
          </a:xfrm>
          <a:custGeom>
            <a:avLst/>
            <a:gdLst>
              <a:gd name="csX0" fmla="*/ 0 w 2547620"/>
              <a:gd name="csY0" fmla="*/ 1273810 h 2547620"/>
              <a:gd name="csX1" fmla="*/ 1273810 w 2547620"/>
              <a:gd name="csY1" fmla="*/ 0 h 2547620"/>
              <a:gd name="csX2" fmla="*/ 2547620 w 2547620"/>
              <a:gd name="csY2" fmla="*/ 1273810 h 2547620"/>
              <a:gd name="csX3" fmla="*/ 1273810 w 2547620"/>
              <a:gd name="csY3" fmla="*/ 2547620 h 2547620"/>
              <a:gd name="csX4" fmla="*/ 0 w 2547620"/>
              <a:gd name="csY4" fmla="*/ 1273810 h 2547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47620" h="2547620">
                <a:moveTo>
                  <a:pt x="0" y="1273810"/>
                </a:moveTo>
                <a:cubicBezTo>
                  <a:pt x="0" y="570304"/>
                  <a:pt x="570304" y="0"/>
                  <a:pt x="1273810" y="0"/>
                </a:cubicBezTo>
                <a:cubicBezTo>
                  <a:pt x="1977316" y="0"/>
                  <a:pt x="2547620" y="570304"/>
                  <a:pt x="2547620" y="1273810"/>
                </a:cubicBezTo>
                <a:cubicBezTo>
                  <a:pt x="2547620" y="1977316"/>
                  <a:pt x="1977316" y="2547620"/>
                  <a:pt x="1273810" y="2547620"/>
                </a:cubicBezTo>
                <a:cubicBezTo>
                  <a:pt x="570304" y="2547620"/>
                  <a:pt x="0" y="1977316"/>
                  <a:pt x="0" y="12738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758447" tIns="269304" rIns="758446" bIns="1861566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Large Language Models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8A1D9F2-58B1-BE66-D5F4-3207EBB39B94}"/>
              </a:ext>
            </a:extLst>
          </p:cNvPr>
          <p:cNvSpPr/>
          <p:nvPr/>
        </p:nvSpPr>
        <p:spPr>
          <a:xfrm>
            <a:off x="5246793" y="5049520"/>
            <a:ext cx="1698413" cy="1698413"/>
          </a:xfrm>
          <a:custGeom>
            <a:avLst/>
            <a:gdLst>
              <a:gd name="csX0" fmla="*/ 0 w 1698413"/>
              <a:gd name="csY0" fmla="*/ 849207 h 1698413"/>
              <a:gd name="csX1" fmla="*/ 849207 w 1698413"/>
              <a:gd name="csY1" fmla="*/ 0 h 1698413"/>
              <a:gd name="csX2" fmla="*/ 1698414 w 1698413"/>
              <a:gd name="csY2" fmla="*/ 849207 h 1698413"/>
              <a:gd name="csX3" fmla="*/ 849207 w 1698413"/>
              <a:gd name="csY3" fmla="*/ 1698414 h 1698413"/>
              <a:gd name="csX4" fmla="*/ 0 w 1698413"/>
              <a:gd name="csY4" fmla="*/ 849207 h 1698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8413" h="1698413">
                <a:moveTo>
                  <a:pt x="0" y="849207"/>
                </a:moveTo>
                <a:cubicBezTo>
                  <a:pt x="0" y="380203"/>
                  <a:pt x="380203" y="0"/>
                  <a:pt x="849207" y="0"/>
                </a:cubicBezTo>
                <a:cubicBezTo>
                  <a:pt x="1318211" y="0"/>
                  <a:pt x="1698414" y="380203"/>
                  <a:pt x="1698414" y="849207"/>
                </a:cubicBezTo>
                <a:cubicBezTo>
                  <a:pt x="1698414" y="1318211"/>
                  <a:pt x="1318211" y="1698414"/>
                  <a:pt x="849207" y="1698414"/>
                </a:cubicBezTo>
                <a:cubicBezTo>
                  <a:pt x="380203" y="1698414"/>
                  <a:pt x="0" y="1318211"/>
                  <a:pt x="0" y="849207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0" vert="horz" wrap="square" lIns="326959" tIns="502835" rIns="326959" bIns="502836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Embeddings</a:t>
            </a:r>
          </a:p>
        </p:txBody>
      </p:sp>
    </p:spTree>
    <p:extLst>
      <p:ext uri="{BB962C8B-B14F-4D97-AF65-F5344CB8AC3E}">
        <p14:creationId xmlns:p14="http://schemas.microsoft.com/office/powerpoint/2010/main" val="147750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36A1-77CF-7B78-4F95-ABB512D4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72A5-91D0-CD22-BD67-EF8C8CB5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258"/>
            <a:ext cx="10131425" cy="6986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Embeddings are the representation of </a:t>
            </a:r>
            <a:r>
              <a:rPr lang="en-US" u="sng" dirty="0"/>
              <a:t>texts</a:t>
            </a:r>
            <a:r>
              <a:rPr lang="en-US" dirty="0"/>
              <a:t> as </a:t>
            </a:r>
            <a:r>
              <a:rPr lang="en-US" u="sng" dirty="0"/>
              <a:t>vectors</a:t>
            </a:r>
            <a:r>
              <a:rPr lang="en-US" dirty="0"/>
              <a:t> that convey </a:t>
            </a:r>
            <a:r>
              <a:rPr lang="en-US" u="sng" dirty="0"/>
              <a:t>meaning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19AF4-39E2-CEDB-6E1D-8D08F46ED3C0}"/>
              </a:ext>
            </a:extLst>
          </p:cNvPr>
          <p:cNvSpPr txBox="1"/>
          <p:nvPr/>
        </p:nvSpPr>
        <p:spPr>
          <a:xfrm>
            <a:off x="1566863" y="2840674"/>
            <a:ext cx="42767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“Michelle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laisse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adieu ma belle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laisse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t'aime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reine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problèmes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Michelle, Michelle, Michelle, Michelle”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59C497-362B-0DAF-C28D-765CAD2FF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470778"/>
              </p:ext>
            </p:extLst>
          </p:nvPr>
        </p:nvGraphicFramePr>
        <p:xfrm>
          <a:off x="2965446" y="5102078"/>
          <a:ext cx="80645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072">
                  <a:extLst>
                    <a:ext uri="{9D8B030D-6E8A-4147-A177-3AD203B41FA5}">
                      <a16:colId xmlns:a16="http://schemas.microsoft.com/office/drawing/2014/main" val="1337642219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3511629068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1095602813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439513596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2395129085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224318990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3494537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0.97134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0.01865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0.23771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0.34986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0.84467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0.75923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512777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1C0F5F32-0F1C-8C21-B28C-8E318F3A4A25}"/>
              </a:ext>
            </a:extLst>
          </p:cNvPr>
          <p:cNvSpPr/>
          <p:nvPr/>
        </p:nvSpPr>
        <p:spPr>
          <a:xfrm rot="2639112">
            <a:off x="5860640" y="4354705"/>
            <a:ext cx="821075" cy="380721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D46BD44-6B3C-E3CD-AF94-14B90C83C11E}"/>
              </a:ext>
            </a:extLst>
          </p:cNvPr>
          <p:cNvSpPr/>
          <p:nvPr/>
        </p:nvSpPr>
        <p:spPr>
          <a:xfrm rot="16200000">
            <a:off x="6880097" y="1721954"/>
            <a:ext cx="235203" cy="8064504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F11AD-8D45-D68E-9F6A-81B8FC15F0F1}"/>
              </a:ext>
            </a:extLst>
          </p:cNvPr>
          <p:cNvSpPr txBox="1"/>
          <p:nvPr/>
        </p:nvSpPr>
        <p:spPr>
          <a:xfrm>
            <a:off x="6388098" y="595685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Meaning?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25607-4521-B8FD-4030-B61390C8BBE6}"/>
              </a:ext>
            </a:extLst>
          </p:cNvPr>
          <p:cNvSpPr txBox="1"/>
          <p:nvPr/>
        </p:nvSpPr>
        <p:spPr>
          <a:xfrm>
            <a:off x="4356792" y="2611813"/>
            <a:ext cx="529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♫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20D5F-8052-643F-75E9-9AC0A30894BD}"/>
              </a:ext>
            </a:extLst>
          </p:cNvPr>
          <p:cNvSpPr txBox="1"/>
          <p:nvPr/>
        </p:nvSpPr>
        <p:spPr>
          <a:xfrm>
            <a:off x="4822344" y="2573071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♬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C91DA-3465-7F83-33A0-0074E25AFCA8}"/>
              </a:ext>
            </a:extLst>
          </p:cNvPr>
          <p:cNvSpPr txBox="1"/>
          <p:nvPr/>
        </p:nvSpPr>
        <p:spPr>
          <a:xfrm>
            <a:off x="4697952" y="2373699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♪</a:t>
            </a:r>
          </a:p>
        </p:txBody>
      </p:sp>
    </p:spTree>
    <p:extLst>
      <p:ext uri="{BB962C8B-B14F-4D97-AF65-F5344CB8AC3E}">
        <p14:creationId xmlns:p14="http://schemas.microsoft.com/office/powerpoint/2010/main" val="18099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DB2B-A674-028A-3C04-3482BAED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6EB26-CCDA-7206-91DB-CBA79D762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What can embeddings do for you?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Semantic Search</a:t>
            </a:r>
          </a:p>
          <a:p>
            <a:r>
              <a:rPr lang="en-US" sz="2400" dirty="0"/>
              <a:t>Similarity, Duplication, and Anomaly Detection</a:t>
            </a:r>
          </a:p>
          <a:p>
            <a:r>
              <a:rPr lang="en-US" sz="2400" dirty="0"/>
              <a:t>Machine Translation</a:t>
            </a:r>
          </a:p>
          <a:p>
            <a:r>
              <a:rPr lang="en-US" sz="2400" dirty="0"/>
              <a:t>Sentiment Analysis…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Embeddings are the Foundation of 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112002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F1DE-6C4F-5FFA-371A-9005D9AF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8B06-A300-CCCA-047E-458D8BCA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Tokens are word parts.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text is split into tokens.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>
                <a:latin typeface="Consolas" panose="020B0609020204030204" pitchFamily="49" charset="0"/>
              </a:rPr>
              <a:t>“Encyclopedia Galactica!”</a:t>
            </a:r>
          </a:p>
          <a:p>
            <a:pPr marL="0" indent="0" algn="ctr">
              <a:buNone/>
            </a:pPr>
            <a:r>
              <a:rPr lang="en-US" sz="2400" dirty="0">
                <a:latin typeface="Consolas" panose="020B0609020204030204" pitchFamily="49" charset="0"/>
              </a:rPr>
              <a:t>⬇</a:t>
            </a:r>
          </a:p>
          <a:p>
            <a:pPr marL="0" indent="0" algn="ctr">
              <a:buNone/>
            </a:pPr>
            <a:r>
              <a:rPr lang="en-US" sz="2200" dirty="0">
                <a:latin typeface="Consolas" panose="020B0609020204030204" pitchFamily="49" charset="0"/>
              </a:rPr>
              <a:t>“En”, “cy”, “</a:t>
            </a:r>
            <a:r>
              <a:rPr lang="en-US" sz="2200" dirty="0" err="1">
                <a:latin typeface="Consolas" panose="020B0609020204030204" pitchFamily="49" charset="0"/>
              </a:rPr>
              <a:t>clo</a:t>
            </a:r>
            <a:r>
              <a:rPr lang="en-US" sz="2200" dirty="0">
                <a:latin typeface="Consolas" panose="020B0609020204030204" pitchFamily="49" charset="0"/>
              </a:rPr>
              <a:t>”, “ped”, “</a:t>
            </a:r>
            <a:r>
              <a:rPr lang="en-US" sz="2200" dirty="0" err="1">
                <a:latin typeface="Consolas" panose="020B0609020204030204" pitchFamily="49" charset="0"/>
              </a:rPr>
              <a:t>ia</a:t>
            </a:r>
            <a:r>
              <a:rPr lang="en-US" sz="2200" dirty="0">
                <a:latin typeface="Consolas" panose="020B0609020204030204" pitchFamily="49" charset="0"/>
              </a:rPr>
              <a:t>“, “ ”, “Ga”, “lac”, “tic”, “a”, “!”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Why word parts and not whole words?</a:t>
            </a:r>
          </a:p>
        </p:txBody>
      </p:sp>
    </p:spTree>
    <p:extLst>
      <p:ext uri="{BB962C8B-B14F-4D97-AF65-F5344CB8AC3E}">
        <p14:creationId xmlns:p14="http://schemas.microsoft.com/office/powerpoint/2010/main" val="315687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C78F-ACB9-7D2C-82F7-425E54AC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B096C-C26E-692F-5001-1A32C91B1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Why word parts and not whole words?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Research has shown that breaking down words into roots, prefixes, suffixes etc. best reflects their meaning.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Consider, for example: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*    </a:t>
            </a:r>
            <a:r>
              <a:rPr lang="en-US" sz="2400" b="1" dirty="0">
                <a:latin typeface="Consolas" panose="020B0609020204030204" pitchFamily="49" charset="0"/>
              </a:rPr>
              <a:t>RE GU L</a:t>
            </a:r>
            <a:r>
              <a:rPr lang="en-US" sz="2400" dirty="0">
                <a:latin typeface="Consolas" panose="020B0609020204030204" pitchFamily="49" charset="0"/>
              </a:rPr>
              <a:t> AR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* IR </a:t>
            </a:r>
            <a:r>
              <a:rPr lang="en-US" sz="2400" b="1" dirty="0">
                <a:latin typeface="Consolas" panose="020B0609020204030204" pitchFamily="49" charset="0"/>
              </a:rPr>
              <a:t>RE GU L</a:t>
            </a:r>
            <a:r>
              <a:rPr lang="en-US" sz="2400" dirty="0">
                <a:latin typeface="Consolas" panose="020B0609020204030204" pitchFamily="49" charset="0"/>
              </a:rPr>
              <a:t> AR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*    </a:t>
            </a:r>
            <a:r>
              <a:rPr lang="en-US" sz="2400" b="1" dirty="0">
                <a:latin typeface="Consolas" panose="020B0609020204030204" pitchFamily="49" charset="0"/>
              </a:rPr>
              <a:t>RE GU L</a:t>
            </a:r>
            <a:r>
              <a:rPr lang="en-US" sz="2400" dirty="0">
                <a:latin typeface="Consolas" panose="020B0609020204030204" pitchFamily="49" charset="0"/>
              </a:rPr>
              <a:t> ATE</a:t>
            </a:r>
          </a:p>
        </p:txBody>
      </p:sp>
    </p:spTree>
    <p:extLst>
      <p:ext uri="{BB962C8B-B14F-4D97-AF65-F5344CB8AC3E}">
        <p14:creationId xmlns:p14="http://schemas.microsoft.com/office/powerpoint/2010/main" val="237819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C644-6DCB-C714-0648-C611AA2C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13A0-6285-3B08-19AB-C182383E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03873-CEF6-8A21-911F-FB131A2A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However, tokens boundaries are not chosen based on linguistics!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Token boundaries are determined by algorithms that analyze which character sequences occur most frequently in a body of text.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Algorithms such as: </a:t>
            </a:r>
            <a:r>
              <a:rPr lang="en-US" sz="2400" dirty="0">
                <a:hlinkClick r:id="rId2"/>
              </a:rPr>
              <a:t>Byte-Pair Encoding (BPE)</a:t>
            </a:r>
            <a:r>
              <a:rPr lang="en-US" sz="2400" dirty="0"/>
              <a:t> and </a:t>
            </a:r>
            <a:r>
              <a:rPr lang="en-US" sz="2400" dirty="0">
                <a:hlinkClick r:id="rId3"/>
              </a:rPr>
              <a:t>Unigram LM</a:t>
            </a:r>
            <a:r>
              <a:rPr lang="en-US" sz="2400" dirty="0"/>
              <a:t>.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34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2EAC8-989E-BFE8-12C0-56E7492A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9557-CE05-67F4-9630-D74B844F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71EB-0B2B-439E-B551-6C4F20D2F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Try it out yourselves: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24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/>
              </a:rPr>
              <a:t>platform.openai.com/tokenizer</a:t>
            </a:r>
            <a:endParaRPr lang="en-US" sz="2400" b="1" dirty="0">
              <a:solidFill>
                <a:srgbClr val="33333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do you notice when pasting:</a:t>
            </a:r>
          </a:p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1.  A short English sentence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2.  A C# method (with indentation, namespaces, generics)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3.  The same method minified onto one line</a:t>
            </a:r>
            <a:endParaRPr lang="en-US" sz="2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4.  A JSON blob the class brings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0390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A5D3-A57F-441A-3581-504F2639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4D09-E0D7-0FD8-D4B3-F76D3283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4ACB2-A738-BCB1-9EDF-A9A54B95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Observations:</a:t>
            </a:r>
          </a:p>
          <a:p>
            <a:endParaRPr lang="en-US" sz="24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alone costs tokens!</a:t>
            </a:r>
          </a:p>
          <a:p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Symbols and operators tokenized differently than letters.</a:t>
            </a:r>
          </a:p>
          <a:p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typo can fragment a familiar word into 4 tokens.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800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A9DB-BE2C-DB35-C900-AB887DC2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– Token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D2866-E355-3B03-C895-D53EB2562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CPUs and GPUs understand numbers, not tokens so:</a:t>
            </a:r>
          </a:p>
          <a:p>
            <a:r>
              <a:rPr lang="en-US" sz="2400" dirty="0"/>
              <a:t>Every token gets a numeric representation,</a:t>
            </a:r>
            <a:br>
              <a:rPr lang="en-US" sz="2400" dirty="0"/>
            </a:br>
            <a:r>
              <a:rPr lang="en-US" sz="2400" dirty="0"/>
              <a:t>Just an arbitrary number: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		“Re” ➡ 385,     “</a:t>
            </a:r>
            <a:r>
              <a:rPr lang="en-US" sz="2400" dirty="0" err="1"/>
              <a:t>gu</a:t>
            </a:r>
            <a:r>
              <a:rPr lang="en-US" sz="2400" dirty="0"/>
              <a:t>” ➡12,     “la” ➡ 67345,     “r” ➡892</a:t>
            </a:r>
          </a:p>
          <a:p>
            <a:endParaRPr lang="en-US" sz="2400" dirty="0"/>
          </a:p>
          <a:p>
            <a:r>
              <a:rPr lang="en-US" sz="2400" dirty="0"/>
              <a:t>E.g. the English vocabulary typically ends up having ~10k different tokens, each with its own number.</a:t>
            </a:r>
          </a:p>
        </p:txBody>
      </p:sp>
    </p:spTree>
    <p:extLst>
      <p:ext uri="{BB962C8B-B14F-4D97-AF65-F5344CB8AC3E}">
        <p14:creationId xmlns:p14="http://schemas.microsoft.com/office/powerpoint/2010/main" val="115208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C7D7-B76C-B482-E15E-EB661447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- 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8A229-E960-5184-E470-0E595C2F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Embedding models (as well as LLMs) create a numeric vector for each one of the tokens in the vocabulary.</a:t>
            </a:r>
          </a:p>
          <a:p>
            <a:endParaRPr lang="en-US" sz="2800" dirty="0"/>
          </a:p>
          <a:p>
            <a:r>
              <a:rPr lang="en-US" sz="2800" dirty="0"/>
              <a:t>For example: 		“Dog”🐶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B6EA0F-EE29-D6B9-74DE-71629460D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78278"/>
              </p:ext>
            </p:extLst>
          </p:nvPr>
        </p:nvGraphicFramePr>
        <p:xfrm>
          <a:off x="3035893" y="5318135"/>
          <a:ext cx="80645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072">
                  <a:extLst>
                    <a:ext uri="{9D8B030D-6E8A-4147-A177-3AD203B41FA5}">
                      <a16:colId xmlns:a16="http://schemas.microsoft.com/office/drawing/2014/main" val="1337642219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3511629068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1095602813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439513596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2395129085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224318990"/>
                    </a:ext>
                  </a:extLst>
                </a:gridCol>
                <a:gridCol w="1152072">
                  <a:extLst>
                    <a:ext uri="{9D8B030D-6E8A-4147-A177-3AD203B41FA5}">
                      <a16:colId xmlns:a16="http://schemas.microsoft.com/office/drawing/2014/main" val="3494537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0.97134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0.01865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0.23771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0.34986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0.84467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0.75923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512777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2B2C039F-DBAE-85E7-C4E8-86E883D1AC1E}"/>
              </a:ext>
            </a:extLst>
          </p:cNvPr>
          <p:cNvSpPr/>
          <p:nvPr/>
        </p:nvSpPr>
        <p:spPr>
          <a:xfrm rot="2639112">
            <a:off x="4781297" y="4603475"/>
            <a:ext cx="821075" cy="380721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80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Vector Space &amp; Similarity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0560" y="1767840"/>
            <a:ext cx="5974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2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All token vectors live in the same N-dimensional space.</a:t>
            </a:r>
            <a:endParaRPr lang="en-US" sz="2267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2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Semantically similar words cluster together.</a:t>
            </a:r>
            <a:endParaRPr lang="en-US" sz="2267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2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Famous analogy: King – Man + Woman ≈ Queen</a:t>
            </a:r>
            <a:endParaRPr lang="en-US" sz="2267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2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Distance in this space = semantic distance.</a:t>
            </a:r>
            <a:endParaRPr lang="en-US" sz="2267" dirty="0"/>
          </a:p>
        </p:txBody>
      </p:sp>
      <p:sp>
        <p:nvSpPr>
          <p:cNvPr id="5" name="Shape 3"/>
          <p:cNvSpPr/>
          <p:nvPr/>
        </p:nvSpPr>
        <p:spPr>
          <a:xfrm>
            <a:off x="6339840" y="6339840"/>
            <a:ext cx="5486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6339840" y="1584960"/>
            <a:ext cx="0" cy="47548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339840" y="64008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(2-D projection of embedding space)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7930896" y="2718816"/>
            <a:ext cx="109728" cy="10972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058912" y="2651760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8479536" y="3051657"/>
            <a:ext cx="109728" cy="10972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607552" y="2984601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7821168" y="3336951"/>
            <a:ext cx="109728" cy="10972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949184" y="3269895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Wolf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369808" y="2481072"/>
            <a:ext cx="109728" cy="10972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497824" y="2414016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Puppy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10564368" y="2956560"/>
            <a:ext cx="109728" cy="10972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0692384" y="2889504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King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10235184" y="3432048"/>
            <a:ext cx="109728" cy="10972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0363200" y="3364992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Queen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10783824" y="3527145"/>
            <a:ext cx="109728" cy="10972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911840" y="3460089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9302496" y="5238903"/>
            <a:ext cx="109728" cy="10972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430512" y="5171847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9576816" y="5571744"/>
            <a:ext cx="109728" cy="10972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9704832" y="5504688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Bus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9028176" y="5334000"/>
            <a:ext cx="109728" cy="10972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156192" y="5266944"/>
            <a:ext cx="1036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7546848" y="2203095"/>
            <a:ext cx="1158240" cy="853440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546848" y="3080919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9796272" y="2535936"/>
            <a:ext cx="1097280" cy="829056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9796272" y="3389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Royalty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8534400" y="4818279"/>
            <a:ext cx="1097280" cy="731520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8534400" y="557418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Measuring Similarity – Cosine Distance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0560" y="1767840"/>
            <a:ext cx="5913117" cy="4870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How similar are two vectors? Measure the angle between them.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Cosine similarity = 1 → identical direction (same meaning).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Cosine similarity = 0 → perpendicular (unrelated).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Cosine similarity = –1 → opposite direction (antonyms).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We use cosine rather than Euclidean distance because it's length-invariant.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Dot product of unit-normalized vectors gives you cosine similarity in O(N).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4944" y="1767840"/>
            <a:ext cx="4209375" cy="892447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680960" y="1853184"/>
            <a:ext cx="3877056" cy="74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cos(θ) = </a:t>
            </a:r>
            <a:br>
              <a:rPr lang="en-US" sz="2267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2267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 · B) / (‖A‖ × ‖B‖)</a:t>
            </a:r>
            <a:endParaRPr lang="en-US" sz="2267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071360" y="3938016"/>
            <a:ext cx="46329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7071360" y="38404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851904" y="4059936"/>
            <a:ext cx="43891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–1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87840" y="38404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9168384" y="4059936"/>
            <a:ext cx="43891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704320" y="38404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1484864" y="4059936"/>
            <a:ext cx="43891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760" y="3425952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Opposite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778240" y="3425952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Unrelated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11094720" y="3425952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Identical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7071360" y="4450080"/>
            <a:ext cx="4632960" cy="85344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217664" y="4511040"/>
            <a:ext cx="434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chemeClr val="accent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Typical threshold: &gt; 0.85 = semantically similar</a:t>
            </a:r>
            <a:endParaRPr lang="en-US" sz="1733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F6FF-0382-33CD-62CA-23B3CC34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91C5F-0C6A-9519-1DBE-AEFB65290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1341840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2: Build Your Own Cosine Similarity</a:t>
            </a:r>
            <a:endParaRPr lang="en-US" sz="3733" dirty="0"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Goal: implement the similarity formula yourself, then see what it reveals about meaning.</a:t>
            </a:r>
            <a:endParaRPr lang="en-US" sz="1867" dirty="0"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2560320"/>
            <a:ext cx="1097280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Call the Gemini Embedding API from C#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CosineSimilarity() from the formula — no shortcuts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Predict, then test, similarity scores for word and sentence pairs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Discuss what the scores tell you about how embeddings work</a:t>
            </a:r>
            <a:endParaRPr lang="en-US" sz="2133" dirty="0"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 box: ~20–25 minutes, solo or in pairs.</a:t>
            </a:r>
            <a:endParaRPr lang="en-US" sz="1467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Exercise 2 - Setup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584960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console app:  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buSzPct val="100000"/>
            </a:pPr>
            <a:r>
              <a:rPr lang="en-US" sz="21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133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dotnet new console -n EmbeddingsLab</a:t>
            </a:r>
            <a:endParaRPr lang="en-US" sz="2133" dirty="0">
              <a:solidFill>
                <a:prstClr val="black"/>
              </a:solidFill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API key at aistudio.google.com/apikey — instructor will share a class key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key as an environment variable: 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buSzPct val="100000"/>
            </a:pPr>
            <a:r>
              <a:rPr lang="en-US" sz="2133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	</a:t>
            </a:r>
            <a:r>
              <a:rPr lang="en-US" sz="2133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$</a:t>
            </a:r>
            <a:r>
              <a:rPr lang="en-US" sz="2133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env:GEMINI_API_KEY</a:t>
            </a:r>
            <a:r>
              <a:rPr lang="en-US" sz="2133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 = "your-key-here"</a:t>
            </a:r>
          </a:p>
          <a:p>
            <a:pPr defTabSz="1219170">
              <a:buSzPct val="100000"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setup is shared by both Assignment 2 and Assignment 3.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Call the Embedding API</a:t>
            </a:r>
            <a:endParaRPr lang="en-US" sz="3733" dirty="0"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645920"/>
            <a:ext cx="10972800" cy="46329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828800"/>
            <a:ext cx="1048512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apiKey = </a:t>
            </a:r>
            <a:r>
              <a:rPr lang="en-US" sz="1533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533" dirty="0" err="1">
                <a:latin typeface="Courier New" pitchFamily="34" charset="0"/>
                <a:cs typeface="Courier New" pitchFamily="34" charset="-120"/>
              </a:rPr>
              <a:t>nvironme</a:t>
            </a:r>
            <a:r>
              <a:rPr lang="en-US" sz="1533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nt.GetEnvironmentVariable</a:t>
            </a: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("GEMINI_API_KEY");</a:t>
            </a: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baseUrl = "https://generativelanguage.googleapis.com/v1beta/models";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http = new HttpClient();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Task&lt;float[]&gt; GetEmbeddingAsync(string text)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url = $"{baseUrl}/gemini-embedding-001:embedContent?key={apiKey}";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 = new { content = new { parts = new[] { new { text } } } };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 = await http.PostAsJsonAsync(url, body);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json = await res.Content.ReadFromJsonAsync&lt;EmbedResponse&gt;();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json!.embedding.values;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EmbedResponse(Embedding embedding);</a:t>
            </a:r>
            <a:endParaRPr lang="en-US" sz="15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5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Embedding(float[] values);</a:t>
            </a:r>
            <a:endParaRPr lang="en-US" sz="1533" dirty="0"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HTTP POST → one vector of floats. Keep this helper — both assignments reuse it.</a:t>
            </a:r>
            <a:endParaRPr lang="en-US" sz="1467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Implement Cosine Similarity (Your Turn)</a:t>
            </a:r>
            <a:endParaRPr lang="en-US" sz="3733" dirty="0"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0972800" cy="157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		</a:t>
            </a:r>
          </a:p>
          <a:p>
            <a:pPr defTabSz="1219170"/>
            <a:r>
              <a:rPr lang="en-US" sz="3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	cos(θ) = (A · B) / ( ||A|| × ||B|| )      </a:t>
            </a:r>
          </a:p>
          <a:p>
            <a:pPr defTabSz="1219170"/>
            <a:endParaRPr lang="en-US" sz="3200" i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			— values range from –1 (opposite) to 1 (identical)</a:t>
            </a:r>
            <a:endParaRPr lang="en-US" sz="1867" dirty="0"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3133344"/>
            <a:ext cx="10972800" cy="268224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3316224"/>
            <a:ext cx="10485120" cy="2316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float CosineSimilarity(float[] a, float[] b)</a:t>
            </a:r>
            <a:endParaRPr lang="en-US" sz="1867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67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TODO: implement using the dot product and</a:t>
            </a:r>
            <a:endParaRPr lang="en-US" sz="1867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the magnitude (length) of each vector.</a:t>
            </a:r>
            <a:endParaRPr lang="en-US" sz="1867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</a:t>
            </a:r>
            <a:r>
              <a:rPr lang="en-US" sz="1867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NotImplementedException</a:t>
            </a: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867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67" dirty="0"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Don't peek at this morning's slides until you've given it a real try.</a:t>
            </a:r>
            <a:endParaRPr lang="en-US" sz="1467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Predict, Then Test</a:t>
            </a:r>
            <a:endParaRPr lang="en-US" sz="3733" dirty="0">
              <a:latin typeface="Calibri" panose="020F0502020204030204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89374"/>
              </p:ext>
            </p:extLst>
          </p:nvPr>
        </p:nvGraphicFramePr>
        <p:xfrm>
          <a:off x="609600" y="1463040"/>
          <a:ext cx="10972800" cy="207264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Prediction (0–1)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“dog” vs “puppy”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“dog” vs “car”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deposited cash at the bank” vs “I sat by the river bank”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“C#” vs “JavaScript”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600" y="3840480"/>
            <a:ext cx="10972800" cy="24993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853440" y="4023360"/>
            <a:ext cx="10485120" cy="213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pairs = new[] { ("dog","puppy"), ("dog","car") };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(x, y) in pairs)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vx = await GetEmbeddingAsync(x);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vy = await GetEmbeddingAsync(y);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Console.WriteLine($"{x} vs {y}: {CosineSimilarity(vx, vy):F3}");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33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3733" dirty="0"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584960"/>
            <a:ext cx="1097280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Which pair's score surprised you most — higher or lower than predicted?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400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 are sentence-level: does “bank” score differently depending on the surrounding sentence?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400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day job could this be useful — search, duplicate detection, recommendations?</a:t>
            </a:r>
            <a:endParaRPr lang="en-US" sz="24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How Embedding Models Are Trained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70560" y="1731264"/>
            <a:ext cx="243840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621536" y="1914144"/>
            <a:ext cx="536448" cy="53644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621536" y="1914144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16864" y="2584704"/>
            <a:ext cx="21457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Predict the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neighbour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16864" y="3499104"/>
            <a:ext cx="2145792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Given the word, predict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surrounding words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(Word2Vec, Skip-gram).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57728" y="3560064"/>
            <a:ext cx="21945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377184" y="1731264"/>
            <a:ext cx="243840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4328160" y="1914144"/>
            <a:ext cx="536448" cy="53644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328160" y="1914144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3523488" y="2584704"/>
            <a:ext cx="21457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Mask &amp; fill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3523488" y="3499104"/>
            <a:ext cx="2145792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Mask random tokens;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train the model to fill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them in (BERT, MLM).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64352" y="3560064"/>
            <a:ext cx="21945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083808" y="1731264"/>
            <a:ext cx="243840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7034784" y="1914144"/>
            <a:ext cx="536448" cy="53644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034784" y="1914144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6230112" y="2584704"/>
            <a:ext cx="21457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Contrastive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6230112" y="3499104"/>
            <a:ext cx="2145792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Pull similar sentences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together; push different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ones apart (SBERT).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70976" y="3560064"/>
            <a:ext cx="21945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8790432" y="1731264"/>
            <a:ext cx="243840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9741408" y="1914144"/>
            <a:ext cx="536448" cy="53644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9741408" y="1914144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8936736" y="2584704"/>
            <a:ext cx="214579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8936736" y="3499104"/>
            <a:ext cx="2145792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Adapt on domain-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specific pairs (legal,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medical, code…).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0560" y="5583936"/>
            <a:ext cx="1085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insight: the embedding is the byproduct — the model learns it while solving a prediction task, not directly.</a:t>
            </a:r>
            <a:endParaRPr lang="en-US" sz="173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From Word to Sentence Embeddings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0560" y="1767840"/>
            <a:ext cx="10972800" cy="499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 single word can mean different things in context:</a:t>
            </a:r>
            <a:endParaRPr lang="en-US" sz="2000" dirty="0"/>
          </a:p>
          <a:p>
            <a:pPr marL="338658" lvl="1">
              <a:spcAft>
                <a:spcPts val="1333"/>
              </a:spcAft>
              <a:buSzPct val="100000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	"I went to the </a:t>
            </a:r>
            <a:r>
              <a:rPr lang="en-US" sz="20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</a:t>
            </a: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." vs "The river </a:t>
            </a:r>
            <a:r>
              <a:rPr lang="en-US" sz="20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</a:t>
            </a: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is steep."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Word-level embeddings miss this – they give 'bank' one vector.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Sentence (contextual) embeddings encode the whole input at once.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same word gets a different vector depending on its neighbours.</a:t>
            </a:r>
            <a:endParaRPr lang="en-US" sz="20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0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full input is typically limited to the model's context window (e.g. 8192 tokens).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439156"/>
            <a:ext cx="5303520" cy="1327404"/>
          </a:xfrm>
          <a:prstGeom prst="roundRect">
            <a:avLst>
              <a:gd name="adj" fmla="val 48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68096" y="5524500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Word-level (Word2Vec)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768096" y="5963412"/>
            <a:ext cx="4876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444444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One vector per token.</a:t>
            </a:r>
            <a:endParaRPr lang="en-US" sz="1733" dirty="0"/>
          </a:p>
          <a:p>
            <a:r>
              <a:rPr lang="en-US" sz="1733" dirty="0">
                <a:solidFill>
                  <a:srgbClr val="444444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Ignores context.</a:t>
            </a:r>
            <a:endParaRPr lang="en-US" sz="1733" dirty="0"/>
          </a:p>
          <a:p>
            <a:r>
              <a:rPr lang="en-US" sz="1733" dirty="0">
                <a:solidFill>
                  <a:srgbClr val="444444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512–1024 dimensions.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035040" y="5439156"/>
            <a:ext cx="5303520" cy="1351788"/>
          </a:xfrm>
          <a:prstGeom prst="roundRect">
            <a:avLst>
              <a:gd name="adj" fmla="val 484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254496" y="5524500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Sentence-level (BERT/Ada)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254496" y="5963412"/>
            <a:ext cx="4876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CCCC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One vector per input.</a:t>
            </a:r>
            <a:endParaRPr lang="en-US" sz="1733" dirty="0"/>
          </a:p>
          <a:p>
            <a:r>
              <a:rPr lang="en-US" sz="1733" dirty="0">
                <a:solidFill>
                  <a:srgbClr val="CCCC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Context-aware.</a:t>
            </a:r>
            <a:endParaRPr lang="en-US" sz="1733" dirty="0"/>
          </a:p>
          <a:p>
            <a:r>
              <a:rPr lang="en-US" sz="1733" dirty="0">
                <a:solidFill>
                  <a:srgbClr val="CCCC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768–3072 dimensions.</a:t>
            </a:r>
            <a:endParaRPr lang="en-US" sz="17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 – PRACTICE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Calling the Embeddings API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70560" y="1706880"/>
            <a:ext cx="10972800" cy="3194304"/>
          </a:xfrm>
          <a:prstGeom prst="roundRect">
            <a:avLst>
              <a:gd name="adj" fmla="val 229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90016" y="1889760"/>
            <a:ext cx="1053388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OpenAI SDK for .NET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 = new OpenAIClient(apiKey);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embeddingClient = client.GetEmbeddingClient("text-embedding-3-small");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a vector for a single string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EmbeddingCollection result = await embeddingClient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.GenerateEmbeddingsAsync(["The river bank is steep."]);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ReadOnlyMemory&lt;float&gt; vector = result[0].ToFloats();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Console.WriteLine($"Dimensions: {vector.Length}"); // 1536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70560" y="5218176"/>
            <a:ext cx="3230880" cy="6096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5218176"/>
            <a:ext cx="323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 API call → 1 vector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4145280" y="5218176"/>
            <a:ext cx="3230880" cy="6096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145280" y="5218176"/>
            <a:ext cx="323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Dimensions fixed per model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7620000" y="5218176"/>
            <a:ext cx="3230880" cy="6096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620000" y="5218176"/>
            <a:ext cx="323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Batch inputs to save latency</a:t>
            </a:r>
            <a:endParaRPr lang="en-US" sz="186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 – PRACTICE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Cosine Similarity in C#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70560" y="1682496"/>
            <a:ext cx="10972800" cy="347472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90016" y="1865376"/>
            <a:ext cx="1053388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float CosineSimilarity(ReadOnlyMemory&lt;float&gt; a,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ReadOnlyMemory&lt;float&gt; b)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va = a.Span; var vb = b.Span;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dot = 0, normA = 0, normB = 0;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va.Length; i++)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dot   += va[i] * vb[i];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normA += va[i] * va[i];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normB += vb[i] * vb[i];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dot / (MathF.Sqrt(normA) * MathF.Sqrt(normB));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70560" y="5266944"/>
            <a:ext cx="10972800" cy="950976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90016" y="5449824"/>
            <a:ext cx="1053388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score = CosineSimilarity(vectorA, vectorB);</a:t>
            </a:r>
            <a:endParaRPr lang="en-US" sz="1733" dirty="0"/>
          </a:p>
          <a:p>
            <a:r>
              <a:rPr lang="en-US" sz="173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Console.WriteLine(score &gt; 0.85f ? "Semantically similar!" : "Different.");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70560" y="6303264"/>
            <a:ext cx="10972800" cy="341376"/>
          </a:xfrm>
          <a:prstGeom prst="roundRect">
            <a:avLst>
              <a:gd name="adj" fmla="val 28571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77824" y="631545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💡  .NET 8+: TensorPrimitives.CosineSimilarity() gives a SIMD-optimised one-liner.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 – APPLICATION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Semantic Search – End to End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63296" y="1731264"/>
            <a:ext cx="3657600" cy="42672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1901952"/>
            <a:ext cx="3364992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901952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1. Index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3984" y="2462784"/>
            <a:ext cx="3316224" cy="3389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Chunk documents into paragraphs.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 each chunk → vector.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Store (id, text, vector) in a vector DB.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4145280" y="3864864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328160" y="1731264"/>
            <a:ext cx="3657600" cy="42672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474464" y="1901952"/>
            <a:ext cx="3364992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474464" y="1901952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2. Query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2462784"/>
            <a:ext cx="3316224" cy="3389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 the user's query.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Find the top-K nearest vectors.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Return the matching text chunks.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8010144" y="3864864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8193024" y="1731264"/>
            <a:ext cx="3657600" cy="42672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8339328" y="1901952"/>
            <a:ext cx="3364992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339328" y="1901952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3. (Optional)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3712" y="2462784"/>
            <a:ext cx="3316224" cy="3389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Feed retrieved chunks + query to an LLM.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LLM synthesizes a grounded answer.</a:t>
            </a:r>
            <a:endParaRPr lang="en-US" sz="1733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1733" dirty="0">
                <a:solidFill>
                  <a:srgbClr val="0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This pattern is called RAG.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70560" y="6217920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key: searching by meaning rather than by keyword matching.</a:t>
            </a:r>
            <a:endParaRPr lang="en-US" sz="1867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FEE5-BA79-F9BF-072F-D991D5BF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F523-F4BB-0096-4B21-FDBB2A01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C9B94-C09D-4BA3-090F-269683D8E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Search</a:t>
            </a:r>
          </a:p>
        </p:txBody>
      </p:sp>
    </p:spTree>
    <p:extLst>
      <p:ext uri="{BB962C8B-B14F-4D97-AF65-F5344CB8AC3E}">
        <p14:creationId xmlns:p14="http://schemas.microsoft.com/office/powerpoint/2010/main" val="3410485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3: Mini Semantic Search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the full embed → store → search pipeline end-to-end, over real text.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609600" y="2560320"/>
            <a:ext cx="1097280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Embed a small set of text snippets (provided, or your own code comments / docs)</a:t>
            </a:r>
            <a:endParaRPr lang="en-US" sz="2133" dirty="0"/>
          </a:p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as (id, text, vector) in memory</a:t>
            </a:r>
            <a:endParaRPr lang="en-US" sz="2133" dirty="0"/>
          </a:p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Embed a user query and rank snippets by cosine similarity</a:t>
            </a:r>
            <a:endParaRPr lang="en-US" sz="2133" dirty="0"/>
          </a:p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top 3 matches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 box: ~30–40 minutes, in small groups.</a:t>
            </a:r>
            <a:endParaRPr lang="en-US" sz="1467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42BE3-F757-C6E5-AFE7-A1B77DF6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2300C0-46D4-1E48-E3E8-ED00FEEF12A7}"/>
              </a:ext>
            </a:extLst>
          </p:cNvPr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 Exercise 3 - Setup</a:t>
            </a:r>
            <a:endParaRPr lang="en-US" sz="3733" dirty="0"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EEB8B0-4455-F6A3-FBC1-AF146C038836}"/>
              </a:ext>
            </a:extLst>
          </p:cNvPr>
          <p:cNvSpPr/>
          <p:nvPr/>
        </p:nvSpPr>
        <p:spPr>
          <a:xfrm>
            <a:off x="609600" y="1584960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Sames as before, create a console app:  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buSzPct val="100000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133" dirty="0">
                <a:highlight>
                  <a:srgbClr val="C0C0C0"/>
                </a:highlight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dotnet new console -n </a:t>
            </a:r>
            <a:r>
              <a:rPr lang="en-US" sz="2133" dirty="0" err="1">
                <a:highlight>
                  <a:srgbClr val="C0C0C0"/>
                </a:highlight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SemanticSearch</a:t>
            </a:r>
            <a:endParaRPr lang="en-US" sz="2133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Get an API key at aistudio.google.com/apikey — instructor will share a class key</a:t>
            </a:r>
            <a:endParaRPr lang="en-US" sz="2133" dirty="0"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the key as an environment variable: </a:t>
            </a:r>
          </a:p>
          <a:p>
            <a:pPr marL="457189" indent="-457189" defTabSz="1219170">
              <a:buSzPct val="100000"/>
              <a:buFontTx/>
              <a:buChar char="•"/>
            </a:pPr>
            <a:endParaRPr lang="en-US" sz="2133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buSzPct val="100000"/>
            </a:pPr>
            <a:r>
              <a:rPr lang="en-US" sz="2133" dirty="0">
                <a:latin typeface="Calibri" pitchFamily="34" charset="0"/>
                <a:cs typeface="Calibri" pitchFamily="34" charset="-120"/>
              </a:rPr>
              <a:t>	</a:t>
            </a:r>
            <a:r>
              <a:rPr lang="en-US" sz="2133" dirty="0"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$</a:t>
            </a:r>
            <a:r>
              <a:rPr lang="en-US" sz="2133" dirty="0" err="1"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env:GEMINI_API_KEY</a:t>
            </a:r>
            <a:r>
              <a:rPr lang="en-US" sz="2133" dirty="0">
                <a:highlight>
                  <a:srgbClr val="C0C0C0"/>
                </a:highlight>
                <a:latin typeface="Consolas" panose="020B0609020204030204" pitchFamily="49" charset="0"/>
                <a:cs typeface="Calibri" pitchFamily="34" charset="-120"/>
              </a:rPr>
              <a:t> = "your-key-here"</a:t>
            </a:r>
          </a:p>
          <a:p>
            <a:pPr defTabSz="1219170">
              <a:buSzPct val="100000"/>
            </a:pPr>
            <a:endParaRPr lang="en-US" sz="2400" dirty="0"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6CCA90-D920-AEBB-0499-DB1CDB12F4BC}"/>
              </a:ext>
            </a:extLst>
          </p:cNvPr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setup is shared by both Assignment 2 and Assignment 3.</a:t>
            </a:r>
            <a:endParaRPr lang="en-US" sz="1467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53206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Build a Small Corpus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10972800" cy="365760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1889760"/>
            <a:ext cx="1048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DocChunk(string Id, string Text, float[] Vector);</a:t>
            </a:r>
            <a:endParaRPr lang="en-US" dirty="0"/>
          </a:p>
          <a:p>
            <a:pPr>
              <a:lnSpc>
                <a:spcPct val="115000"/>
              </a:lnSpc>
            </a:pP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corpus = {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 [Authorize] on a controller to require a logged-in user.",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"RxJS Observables let Angular handle async HTTP responses.",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"Entity Framework Core maps C# classes to database tables.",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"Angular services use dependency injection via constructors.",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Swap in snippets from your own project's README or code comments for an extra challenge.</a:t>
            </a:r>
            <a:endParaRPr lang="en-US" sz="1467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Embed and Store Each Snippet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10972800" cy="353568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1889760"/>
            <a:ext cx="1048512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index = new List&lt;DocChunk&gt;();</a:t>
            </a:r>
            <a:endParaRPr lang="en-US" sz="1867" dirty="0"/>
          </a:p>
          <a:p>
            <a:pPr>
              <a:lnSpc>
                <a:spcPct val="115000"/>
              </a:lnSpc>
            </a:pPr>
            <a:endParaRPr lang="en-US" sz="1867" dirty="0"/>
          </a:p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corpus.Length; i++)</a:t>
            </a:r>
            <a:endParaRPr lang="en-US" sz="1867" dirty="0"/>
          </a:p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67" dirty="0"/>
          </a:p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vector = await GetEmbeddingAsync(corpus[i]);</a:t>
            </a:r>
            <a:endParaRPr lang="en-US" sz="1867" dirty="0"/>
          </a:p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index.Add(new DocChunk(i.ToString(), corpus[i], vector));</a:t>
            </a:r>
            <a:endParaRPr lang="en-US" sz="1867" dirty="0"/>
          </a:p>
          <a:p>
            <a:pPr>
              <a:lnSpc>
                <a:spcPct val="115000"/>
              </a:lnSpc>
            </a:pPr>
            <a:r>
              <a:rPr lang="en-US" sz="186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 per snippet — four snippets here means four calls.</a:t>
            </a:r>
            <a:endParaRPr lang="en-US" sz="1467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Embed the Query and Rank Results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10972800" cy="438912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1889760"/>
            <a:ext cx="10485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query = "How do I restrict a page to logged-in users?";</a:t>
            </a: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queryVector = await GetEmbeddingAsync(query);</a:t>
            </a:r>
            <a:endParaRPr lang="en-US" sz="1733" dirty="0"/>
          </a:p>
          <a:p>
            <a:pPr>
              <a:lnSpc>
                <a:spcPct val="115000"/>
              </a:lnSpc>
            </a:pP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topMatches = index</a:t>
            </a: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.Select(d =&gt; (d.Text, Score: CosineSimilarity(d.Vector, queryVector)))</a:t>
            </a: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.OrderByDescending(m =&gt; m.Score)</a:t>
            </a: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.Take(3);</a:t>
            </a:r>
            <a:endParaRPr lang="en-US" sz="1733" dirty="0"/>
          </a:p>
          <a:p>
            <a:pPr>
              <a:lnSpc>
                <a:spcPct val="115000"/>
              </a:lnSpc>
            </a:pP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m in topMatches)</a:t>
            </a:r>
            <a:endParaRPr lang="en-US" sz="1733" dirty="0"/>
          </a:p>
          <a:p>
            <a:pPr>
              <a:lnSpc>
                <a:spcPct val="115000"/>
              </a:lnSpc>
            </a:pPr>
            <a:r>
              <a:rPr lang="en-US" sz="1733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Console.WriteLine($"{m.Score:F3}  {m.Text}");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609600" y="6486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Reuses CosineSimilarity() from Assignment 2. Needs: using System.Linq;</a:t>
            </a:r>
            <a:endParaRPr lang="en-US" sz="1467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Look Ahead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09600" y="15849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a query phrased differently than the snippet (“log in” vs “authenticate”) — does it still find the match?</a:t>
            </a:r>
            <a:endParaRPr lang="en-US" sz="2133" dirty="0"/>
          </a:p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embed, store, embed query, rank — is the foundation of RAG (Retrieval-Augmented Generation)</a:t>
            </a:r>
            <a:endParaRPr lang="en-US" sz="2133" dirty="0"/>
          </a:p>
          <a:p>
            <a:pPr marL="457189" indent="-457189">
              <a:buSzPct val="100000"/>
              <a:buChar char="•"/>
            </a:pPr>
            <a:r>
              <a:rPr lang="en-US" sz="2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Tomorrow: add an LLM on top of this pipeline to generate grounded answers from the retrieved chunks</a:t>
            </a:r>
            <a:endParaRPr lang="en-US" sz="213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Popular Embedding Models</a:t>
            </a:r>
            <a:endParaRPr lang="en-US" sz="4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28680"/>
              </p:ext>
            </p:extLst>
          </p:nvPr>
        </p:nvGraphicFramePr>
        <p:xfrm>
          <a:off x="548640" y="1731264"/>
          <a:ext cx="11218228" cy="445008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Dimensions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Context (tokens)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text-embedding-3-small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1 536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8 192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Good cost/quality balance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text-embedding-3-large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3 072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8 192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Best OpenAI quality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embed-v3.0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Cohere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1 024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Multilingual, MTEB leader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text-embedding-004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Google (Vertex)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2 048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Integrated with Gemini stack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all-MiniLM-L6-v2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HuggingFace (OSS)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rial" pitchFamily="34" charset="-122"/>
                          <a:cs typeface="Arial" pitchFamily="34" charset="-120"/>
                        </a:rPr>
                        <a:t>Fast; runs locally</a:t>
                      </a:r>
                      <a:endParaRPr lang="en-US" sz="1700" dirty="0">
                        <a:latin typeface="Aptos" panose="020B00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0560" y="62788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Tip: all models can be swapped behind a single interface – pick the model that best fits your latency, cost, and accuracy requirements.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 – INFRASTRUCTURE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609600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Vector Databases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0560" y="1731264"/>
            <a:ext cx="585216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1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 vector DB stores vectors and makes nearest-neighbour queries fast.</a:t>
            </a:r>
            <a:endParaRPr lang="en-US" sz="2133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1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Uses Approximate Nearest Neighbour (ANN) algorithms (HNSW, IVF…).</a:t>
            </a:r>
            <a:endParaRPr lang="en-US" sz="2133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1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Millions of vectors queried in milliseconds – not possible with brute-force.</a:t>
            </a:r>
            <a:endParaRPr lang="en-US" sz="2133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1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Most support metadata filtering alongside vector search.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6888480" y="1767840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034784" y="1865376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Azure AI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34784" y="2255520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Managed; integrates with Azure OpenAI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9521952" y="1767840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9668256" y="1865376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68256" y="2255520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Extension for PostgreSQL; zero infra change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888480" y="3060192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034784" y="3157728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34784" y="3547872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Hosted; simple API; scales automatically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521952" y="3060192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668256" y="3157728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68256" y="3547872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OSS + cloud; .NET SDK; payload filtering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888480" y="4352544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034784" y="4450080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4784" y="4840224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OSS + cloud; built-in embedding modules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9521952" y="4352544"/>
            <a:ext cx="2438400" cy="10972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668256" y="4450080"/>
            <a:ext cx="214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SQLite-vec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8256" y="4840224"/>
            <a:ext cx="2145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Embedded; great for dev / local testing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70560" y="5791200"/>
            <a:ext cx="10972800" cy="67056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77824" y="5839968"/>
            <a:ext cx="1060704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Starting out?  Add the pgvector extension to your existing Postgres – no new infrastructure needed.</a:t>
            </a:r>
            <a:endParaRPr lang="en-US" sz="173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194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0560" y="548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Embeddings – Key Takeaways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0560" y="1731264"/>
            <a:ext cx="707136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Text → tokens → token IDs → vectors (embeddings).</a:t>
            </a:r>
            <a:endParaRPr lang="en-US" sz="2267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Vectors encode meaning numerically; similar meaning = close vectors.</a:t>
            </a:r>
            <a:endParaRPr lang="en-US" sz="2267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Cosine similarity measures semantic distance between vectors.</a:t>
            </a:r>
            <a:endParaRPr lang="en-US" sz="2267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Sentence-level embeddings are context-aware – same word, different meaning, different vector.</a:t>
            </a:r>
            <a:endParaRPr lang="en-US" sz="2267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One API call returns the embedding; everything else is vector math.</a:t>
            </a:r>
            <a:endParaRPr lang="en-US" sz="2267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267" dirty="0">
                <a:ea typeface="Arial" pitchFamily="34" charset="-122"/>
                <a:cs typeface="Arial" pitchFamily="34" charset="-120"/>
              </a:rPr>
              <a:t>Semantic search, RAG, and recommendations all build on this foundation.</a:t>
            </a:r>
            <a:endParaRPr lang="en-US" sz="2267" dirty="0"/>
          </a:p>
        </p:txBody>
      </p:sp>
      <p:sp>
        <p:nvSpPr>
          <p:cNvPr id="5" name="Shape 3"/>
          <p:cNvSpPr/>
          <p:nvPr/>
        </p:nvSpPr>
        <p:spPr>
          <a:xfrm>
            <a:off x="8168640" y="1731264"/>
            <a:ext cx="3657600" cy="4632960"/>
          </a:xfrm>
          <a:prstGeom prst="roundRect">
            <a:avLst>
              <a:gd name="adj" fmla="val 3333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351520" y="1889760"/>
            <a:ext cx="3291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kern="0" spc="267" dirty="0">
                <a:solidFill>
                  <a:srgbClr val="88888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8351520" y="2389632"/>
            <a:ext cx="32918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01-02</a:t>
            </a:r>
            <a:endParaRPr lang="en-US" sz="2933" dirty="0"/>
          </a:p>
          <a:p>
            <a:r>
              <a:rPr lang="en-US" sz="2933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Large Language</a:t>
            </a:r>
            <a:endParaRPr lang="en-US" sz="2933" dirty="0"/>
          </a:p>
          <a:p>
            <a:r>
              <a:rPr lang="en-US" sz="2933" b="1" dirty="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933" dirty="0"/>
          </a:p>
        </p:txBody>
      </p:sp>
      <p:sp>
        <p:nvSpPr>
          <p:cNvPr id="8" name="Shape 6"/>
          <p:cNvSpPr/>
          <p:nvPr/>
        </p:nvSpPr>
        <p:spPr>
          <a:xfrm>
            <a:off x="8351520" y="4120896"/>
            <a:ext cx="316992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351520" y="4242816"/>
            <a:ext cx="32918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AAAAA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Transformer architecture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AAAAA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Attention mechanisms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AAAAA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Context windows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AAAAA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Prompt anatomy</a:t>
            </a:r>
            <a:endParaRPr lang="en-US" sz="1733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911</TotalTime>
  <Words>3305</Words>
  <Application>Microsoft Office PowerPoint</Application>
  <PresentationFormat>Widescreen</PresentationFormat>
  <Paragraphs>478</Paragraphs>
  <Slides>39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Consolas</vt:lpstr>
      <vt:lpstr>Courier New</vt:lpstr>
      <vt:lpstr>Times New Roman</vt:lpstr>
      <vt:lpstr>Celestial</vt:lpstr>
      <vt:lpstr>01 – Embeddings</vt:lpstr>
      <vt:lpstr>Hello</vt:lpstr>
      <vt:lpstr>Course Motivation</vt:lpstr>
      <vt:lpstr>Today’s Agenda</vt:lpstr>
      <vt:lpstr>AI Hierarchy</vt:lpstr>
      <vt:lpstr>Where We Are Today</vt:lpstr>
      <vt:lpstr>Embeddings</vt:lpstr>
      <vt:lpstr>Embeddings - Motivation</vt:lpstr>
      <vt:lpstr>Embeddings - Tokenization</vt:lpstr>
      <vt:lpstr>Embeddings - Tokenization</vt:lpstr>
      <vt:lpstr>Embeddings - Tokenization</vt:lpstr>
      <vt:lpstr>Class Exercise 1</vt:lpstr>
      <vt:lpstr>Class Exercise 1</vt:lpstr>
      <vt:lpstr>Embeddings – Token Ids</vt:lpstr>
      <vt:lpstr>Embeddings - Vectorization</vt:lpstr>
      <vt:lpstr>PowerPoint Presentation</vt:lpstr>
      <vt:lpstr>PowerPoint Presentation</vt:lpstr>
      <vt:lpstr>Class Exercise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Exercise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Uri Goldstein</dc:creator>
  <cp:lastModifiedBy>Uri Goldstein</cp:lastModifiedBy>
  <cp:revision>72</cp:revision>
  <cp:lastPrinted>2026-06-30T17:12:25Z</cp:lastPrinted>
  <dcterms:created xsi:type="dcterms:W3CDTF">2026-06-22T06:19:00Z</dcterms:created>
  <dcterms:modified xsi:type="dcterms:W3CDTF">2026-06-30T21:50:54Z</dcterms:modified>
</cp:coreProperties>
</file>