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6"/>
  </p:notesMasterIdLst>
  <p:sldIdLst>
    <p:sldId id="600" r:id="rId5"/>
    <p:sldId id="616" r:id="rId6"/>
    <p:sldId id="617" r:id="rId7"/>
    <p:sldId id="801" r:id="rId8"/>
    <p:sldId id="802" r:id="rId9"/>
    <p:sldId id="803" r:id="rId10"/>
    <p:sldId id="804" r:id="rId11"/>
    <p:sldId id="538" r:id="rId12"/>
    <p:sldId id="536" r:id="rId13"/>
    <p:sldId id="618" r:id="rId14"/>
    <p:sldId id="531" r:id="rId15"/>
    <p:sldId id="547" r:id="rId16"/>
    <p:sldId id="548" r:id="rId17"/>
    <p:sldId id="601" r:id="rId18"/>
    <p:sldId id="602" r:id="rId19"/>
    <p:sldId id="609" r:id="rId20"/>
    <p:sldId id="610" r:id="rId21"/>
    <p:sldId id="604" r:id="rId22"/>
    <p:sldId id="605" r:id="rId23"/>
    <p:sldId id="607" r:id="rId24"/>
    <p:sldId id="606" r:id="rId25"/>
    <p:sldId id="608" r:id="rId26"/>
    <p:sldId id="256" r:id="rId27"/>
    <p:sldId id="623" r:id="rId28"/>
    <p:sldId id="257" r:id="rId29"/>
    <p:sldId id="258" r:id="rId30"/>
    <p:sldId id="259" r:id="rId31"/>
    <p:sldId id="260" r:id="rId32"/>
    <p:sldId id="261" r:id="rId33"/>
    <p:sldId id="624" r:id="rId34"/>
    <p:sldId id="263" r:id="rId35"/>
    <p:sldId id="264" r:id="rId36"/>
    <p:sldId id="265" r:id="rId37"/>
    <p:sldId id="266" r:id="rId38"/>
    <p:sldId id="267" r:id="rId39"/>
    <p:sldId id="268" r:id="rId40"/>
    <p:sldId id="901" r:id="rId41"/>
    <p:sldId id="902" r:id="rId42"/>
    <p:sldId id="903" r:id="rId43"/>
    <p:sldId id="904" r:id="rId44"/>
    <p:sldId id="905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9B86ED3-2B90-4B96-8F28-57CC6FE278D1}">
          <p14:sldIdLst>
            <p14:sldId id="600"/>
            <p14:sldId id="616"/>
            <p14:sldId id="617"/>
          </p14:sldIdLst>
        </p14:section>
        <p14:section name="Indexing" id="{A5494A21-359E-44BE-8AA9-C6E6C5DD357C}">
          <p14:sldIdLst>
            <p14:sldId id="801"/>
            <p14:sldId id="802"/>
            <p14:sldId id="803"/>
            <p14:sldId id="804"/>
          </p14:sldIdLst>
        </p14:section>
        <p14:section name="Hash commands (context)" id="{17D1CCAC-E72D-42D0-A6C0-14A6D4A4C7C6}">
          <p14:sldIdLst>
            <p14:sldId id="538"/>
            <p14:sldId id="536"/>
            <p14:sldId id="618"/>
          </p14:sldIdLst>
        </p14:section>
        <p14:section name="Slash Commands" id="{0BE9F9DF-6CDC-411C-B79E-9CFE52622E0D}">
          <p14:sldIdLst>
            <p14:sldId id="531"/>
            <p14:sldId id="547"/>
            <p14:sldId id="548"/>
          </p14:sldIdLst>
        </p14:section>
        <p14:section name="Prompt Files" id="{96989FE2-C4C9-4D04-9874-B1229AB569C1}">
          <p14:sldIdLst>
            <p14:sldId id="601"/>
            <p14:sldId id="602"/>
            <p14:sldId id="609"/>
            <p14:sldId id="610"/>
            <p14:sldId id="604"/>
            <p14:sldId id="605"/>
            <p14:sldId id="607"/>
            <p14:sldId id="606"/>
            <p14:sldId id="608"/>
          </p14:sldIdLst>
        </p14:section>
        <p14:section name="Sessions - Type, Agent and Model" id="{37EDA3AA-F751-4376-83CD-BCF8B19AFD60}">
          <p14:sldIdLst>
            <p14:sldId id="256"/>
            <p14:sldId id="623"/>
            <p14:sldId id="257"/>
            <p14:sldId id="258"/>
            <p14:sldId id="259"/>
            <p14:sldId id="260"/>
            <p14:sldId id="261"/>
            <p14:sldId id="624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Model Selection" id="{FCCF7281-19F6-4433-8FAC-45DF4621CC43}">
          <p14:sldIdLst>
            <p14:sldId id="901"/>
            <p14:sldId id="902"/>
            <p14:sldId id="903"/>
            <p14:sldId id="904"/>
            <p14:sldId id="9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22EE"/>
    <a:srgbClr val="F01688"/>
    <a:srgbClr val="2F21F3"/>
    <a:srgbClr val="FEB52B"/>
    <a:srgbClr val="F01689"/>
    <a:srgbClr val="6F22E3"/>
    <a:srgbClr val="E218A3"/>
    <a:srgbClr val="BA20DB"/>
    <a:srgbClr val="6A23F1"/>
    <a:srgbClr val="2F2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4" autoAdjust="0"/>
    <p:restoredTop sz="94422"/>
  </p:normalViewPr>
  <p:slideViewPr>
    <p:cSldViewPr snapToGrid="0">
      <p:cViewPr varScale="1">
        <p:scale>
          <a:sx n="108" d="100"/>
          <a:sy n="108" d="100"/>
        </p:scale>
        <p:origin x="8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3491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https://learn.microsoft.com/en-us/visualstudio/ide/copilot-chat-context?view=visualstudio</a:t>
            </a:r>
          </a:p>
          <a:p>
            <a:r>
              <a:rPr lang="en-US" dirty="0"/>
              <a:t>https://code.visualstudio.com/docs/agent-customization/prompt-files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32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https://docs.github.com/en/copilot/tutorials/customization-library/prompt-files/your-first-prompt-file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462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aya-tech-college/aspnetcore-realworld-example-app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naya-tech-college/angular-realworld-example-app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learn.microsoft.com/visualstudio/ide/copilot-chat-context" TargetMode="External"/><Relationship Id="rId2" Type="http://schemas.openxmlformats.org/officeDocument/2006/relationships/hyperlink" Target="code.visualstudio.com/docs/copilot/customization/prompt-files" TargetMode="Externa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05 – Copilot Chat In the 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329B1-2D04-0F3A-1081-C5117D8CE1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Copilot Chat features of Visual Studio and Visual Studio Code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775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1C097-B1EF-D99A-838F-26D97C2C1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3034A-6BA1-B123-BCC6-D97880CA3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1138809"/>
            <a:ext cx="7735824" cy="1069848"/>
          </a:xfrm>
        </p:spPr>
        <p:txBody>
          <a:bodyPr/>
          <a:lstStyle/>
          <a:p>
            <a:r>
              <a:rPr lang="en-US" dirty="0"/>
              <a:t>Same </a:t>
            </a:r>
            <a:r>
              <a:rPr lang="en-US" dirty="0" err="1"/>
              <a:t>same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but different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4C8E4D-E4FB-8D67-24D8-FFD23B1C37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UX for Copilot Chat in VS2026 and VS Code differs somewhat.</a:t>
            </a:r>
          </a:p>
          <a:p>
            <a:r>
              <a:rPr lang="en-US" dirty="0"/>
              <a:t>We’ll learn and practice both variations.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7CB5B7-463C-D0BF-3BDD-421EBEC1B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6031" y="0"/>
            <a:ext cx="234596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BE0A4F-AEA3-A8D4-F36D-ADC6919FA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7671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01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27BA2-C716-7E7E-4D47-6E895ADB0F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1161288"/>
            <a:ext cx="7735824" cy="1069848"/>
          </a:xfrm>
        </p:spPr>
        <p:txBody>
          <a:bodyPr/>
          <a:lstStyle/>
          <a:p>
            <a:r>
              <a:rPr lang="en-US" dirty="0"/>
              <a:t>Setting up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338FF9-2BF0-CC0E-65B8-01470326E8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2916937"/>
            <a:ext cx="7735824" cy="3002600"/>
          </a:xfrm>
        </p:spPr>
        <p:txBody>
          <a:bodyPr/>
          <a:lstStyle/>
          <a:p>
            <a:pPr algn="l"/>
            <a:r>
              <a:rPr lang="en-US" dirty="0"/>
              <a:t>Fork both these </a:t>
            </a:r>
            <a:r>
              <a:rPr lang="en-US" dirty="0" err="1"/>
              <a:t>Github</a:t>
            </a:r>
            <a:r>
              <a:rPr lang="en-US" dirty="0"/>
              <a:t> repos into your personal GH accounts:</a:t>
            </a:r>
          </a:p>
          <a:p>
            <a:pPr algn="l"/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err="1"/>
              <a:t>ASP.Net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https://github.com/naya-tech-college/aspnetcore-realworld-example-app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Angular: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https://github.com/naya-tech-college/angular-realworld-example-app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 algn="l"/>
            <a:endParaRPr lang="en-US" dirty="0"/>
          </a:p>
          <a:p>
            <a:pPr algn="l"/>
            <a:r>
              <a:rPr lang="en-US" dirty="0"/>
              <a:t>Then clone both repos into your computers.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855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E45E-D6A7-9780-F652-BAF86DFBC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COPILOT INDEXES YOUR CODE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577A64-4E94-69E1-3180-1E014BD0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605EE-24B6-95D8-DE5E-BEC2F03EC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you start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2F651-7ABC-015D-B5C4-622708A64C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Copilot automatically builds a semantic index of your workspace or solution</a:t>
            </a:r>
          </a:p>
          <a:p>
            <a:r>
              <a:rPr lang="en-US" dirty="0"/>
              <a:t>Indexing runs in the background and stays up to date as your code changes</a:t>
            </a:r>
          </a:p>
          <a:p>
            <a:r>
              <a:rPr lang="en-US" dirty="0"/>
              <a:t>It covers relevant text files and skips binaries, excluded, and ignored files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1E0F07-3291-4EE2-1286-04C97165BA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What the index enables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F22CC9-1295-2B21-05A9-68A44E669B8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Semantic search: finds code by meaning using vector embeddings, not just keywords</a:t>
            </a:r>
          </a:p>
          <a:p>
            <a:r>
              <a:rPr lang="en-US" dirty="0"/>
              <a:t>Copilot retrieves the most relevant files and adds them to your prompt</a:t>
            </a:r>
          </a:p>
          <a:p>
            <a:r>
              <a:rPr lang="en-US" dirty="0"/>
              <a:t>Scales from a handful of files to very large codebases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9F57080-19CA-8BBA-6050-8494551D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059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E73D4-535B-6DCC-2268-43A5E9E12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KINDS OF INDEX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9FCA3-0124-0FA6-220B-D72E8F803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0852F-3FB7-6D2E-F6AC-1F6B9CAD2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Remote</a:t>
            </a:r>
          </a:p>
          <a:p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135D3F1-0C33-3404-5D49-E70C9D100F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For repos on GitHub or Azure DevOps; GitHub builds and updates it</a:t>
            </a:r>
          </a:p>
          <a:p>
            <a:r>
              <a:rPr lang="en-US" dirty="0"/>
              <a:t>Fast even on huge codebases and often ready instantly</a:t>
            </a:r>
          </a:p>
          <a:p>
            <a:r>
              <a:rPr lang="en-US" dirty="0"/>
              <a:t>Built from the repository's default branch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5F7BD8-DA37-58AB-1F45-D0F045DF4B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Local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24F2AAC-B18D-1D49-15F1-2D69101664A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An advanced semantic index stored on your own machine</a:t>
            </a:r>
          </a:p>
          <a:p>
            <a:r>
              <a:rPr lang="en-US" dirty="0"/>
              <a:t>Used when there is no remote index; fast and accurate, up to ~2,500 files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E68EFF0-69C3-F9AE-1107-E08A22BCF9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Basic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D6980BD-0225-0DD6-3D62-B0B1E983AB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3068680" cy="2578608"/>
          </a:xfrm>
        </p:spPr>
        <p:txBody>
          <a:bodyPr/>
          <a:lstStyle/>
          <a:p>
            <a:r>
              <a:rPr lang="en-US" dirty="0"/>
              <a:t>Simpler local search for larger codebases when a local index is not available</a:t>
            </a:r>
          </a:p>
          <a:p>
            <a:r>
              <a:rPr lang="en-US" dirty="0"/>
              <a:t>Always works, but less accurate than semantic search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07ABA7-FC97-4D42-C4BC-897A88CF3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80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E45E-D6A7-9780-F652-BAF86DFBC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WHAT'S IN THE INDEX — AND WHAT ISN'T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577A64-4E94-69E1-3180-1E014BD0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605EE-24B6-95D8-DE5E-BEC2F03EC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index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2F651-7ABC-015D-B5C4-622708A64C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Committed code — the remote index reflects your default branch</a:t>
            </a:r>
          </a:p>
          <a:p>
            <a:r>
              <a:rPr lang="en-US" dirty="0"/>
              <a:t>Relevant text files across the whole project</a:t>
            </a:r>
          </a:p>
          <a:p>
            <a:r>
              <a:rPr lang="en-US" dirty="0"/>
              <a:t>Kept current in the background as you commit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1E0F07-3291-4EE2-1286-04C97165BA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Not in the index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F22CC9-1295-2B21-05A9-68A44E669B8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Unsaved edits and brand-new files, until you save or push</a:t>
            </a:r>
          </a:p>
          <a:p>
            <a:r>
              <a:rPr lang="en-US" dirty="0"/>
              <a:t>Feature branches are not separately indexed</a:t>
            </a:r>
          </a:p>
          <a:p>
            <a:r>
              <a:rPr lang="en-US" dirty="0"/>
              <a:t>Binary files, and anything you exclude or gitignore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9F57080-19CA-8BBA-6050-8494551D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969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E45E-D6A7-9780-F652-BAF86DFBC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YOU STILL NEED #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577A64-4E94-69E1-3180-1E014BD0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605EE-24B6-95D8-DE5E-BEC2F03EC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index finds; you focus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2F651-7ABC-015D-B5C4-622708A64C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Indexing feeds automatic retrieval — a best guess at what matters</a:t>
            </a:r>
          </a:p>
          <a:p>
            <a:r>
              <a:rPr lang="en-US" dirty="0"/>
              <a:t>The model only reasons over context actually attached to your prompt</a:t>
            </a:r>
          </a:p>
          <a:p>
            <a:r>
              <a:rPr lang="en-US" dirty="0"/>
              <a:t># pins exact files, symbols, or selections so Copilot does not guess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1E0F07-3291-4EE2-1286-04C97165BA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Reference it with #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F22CC9-1295-2B21-05A9-68A44E669B8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Visual Studio: #BasketService.cs, #MyMethod, #changes, #commit:</a:t>
            </a:r>
          </a:p>
          <a:p>
            <a:r>
              <a:rPr lang="en-US" dirty="0"/>
              <a:t>VS Code: #file, #codebase, #selection, #terminalSelection</a:t>
            </a:r>
          </a:p>
          <a:p>
            <a:r>
              <a:rPr lang="en-US" dirty="0"/>
              <a:t>Best for ambiguous prompts, new or unsaved files, or narrowing scope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9F57080-19CA-8BBA-6050-8494551D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277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E45E-D6A7-9780-F652-BAF86DFBC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REFERENCES ( # 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577A64-4E94-69E1-3180-1E014BD0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605EE-24B6-95D8-DE5E-BEC2F03EC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# does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2F651-7ABC-015D-B5C4-622708A64C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Type # in the chat box to attach specific context to your prompt</a:t>
            </a:r>
          </a:p>
          <a:p>
            <a:r>
              <a:rPr lang="en-US" dirty="0"/>
              <a:t>Reference files, symbols, and more by name — no copy-paste</a:t>
            </a:r>
          </a:p>
          <a:p>
            <a:r>
              <a:rPr lang="en-US" dirty="0"/>
              <a:t>A picker of available items appears as you type #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1E0F07-3291-4EE2-1286-04C97165BA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Why it helps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F22CC9-1295-2B21-05A9-68A44E669B8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Scopes Copilot to the exact code you mean</a:t>
            </a:r>
          </a:p>
          <a:p>
            <a:r>
              <a:rPr lang="en-US" dirty="0"/>
              <a:t>Produces sharper, more relevant answers</a:t>
            </a:r>
          </a:p>
          <a:p>
            <a:r>
              <a:rPr lang="en-US" dirty="0"/>
              <a:t>Same idea in Visual Studio and VS Code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9F57080-19CA-8BBA-6050-8494551D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GitHub Copilot Chat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741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0DEE9-2DBD-C997-C208-027230B5A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804" y="832104"/>
            <a:ext cx="9994392" cy="1069848"/>
          </a:xfrm>
        </p:spPr>
        <p:txBody>
          <a:bodyPr/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# REFERENCES IN VISUAL STUDIO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CF1F9-4847-1440-0352-6D1284A48D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9C20947-A133-32C2-D0F4-654D337A74E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24266" y="2212975"/>
          <a:ext cx="9543469" cy="371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34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Reference</a:t>
                      </a:r>
                    </a:p>
                  </a:txBody>
                  <a:tcPr marL="118872" anchor="ctr">
                    <a:lnL w="12700">
                      <a:solidFill>
                        <a:srgbClr val="26365A"/>
                      </a:solidFill>
                    </a:lnL>
                    <a:lnR w="12700">
                      <a:solidFill>
                        <a:srgbClr val="26365A"/>
                      </a:solidFill>
                    </a:lnR>
                    <a:lnT w="12700">
                      <a:solidFill>
                        <a:srgbClr val="26365A"/>
                      </a:solidFill>
                    </a:lnT>
                    <a:lnB w="12700">
                      <a:solidFill>
                        <a:srgbClr val="26365A"/>
                      </a:solidFill>
                    </a:lnB>
                    <a:solidFill>
                      <a:srgbClr val="8B84D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What it adds to your prompt</a:t>
                      </a:r>
                    </a:p>
                  </a:txBody>
                  <a:tcPr marL="118872" anchor="ctr">
                    <a:lnL w="12700">
                      <a:solidFill>
                        <a:srgbClr val="26365A"/>
                      </a:solidFill>
                    </a:lnL>
                    <a:lnR w="12700">
                      <a:solidFill>
                        <a:srgbClr val="26365A"/>
                      </a:solidFill>
                    </a:lnR>
                    <a:lnT w="12700">
                      <a:solidFill>
                        <a:srgbClr val="26365A"/>
                      </a:solidFill>
                    </a:lnT>
                    <a:lnB w="12700">
                      <a:solidFill>
                        <a:srgbClr val="26365A"/>
                      </a:solidFill>
                    </a:lnB>
                    <a:solidFill>
                      <a:srgbClr val="8B84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#&lt;file&gt;</a:t>
                      </a:r>
                    </a:p>
                  </a:txBody>
                  <a:tcPr marL="118872" anchor="ctr">
                    <a:lnL w="12700">
                      <a:solidFill>
                        <a:srgbClr val="26365A"/>
                      </a:solidFill>
                    </a:lnL>
                    <a:lnR w="12700">
                      <a:solidFill>
                        <a:srgbClr val="26365A"/>
                      </a:solidFill>
                    </a:lnR>
                    <a:lnT w="12700">
                      <a:solidFill>
                        <a:srgbClr val="26365A"/>
                      </a:solidFill>
                    </a:lnT>
                    <a:lnB w="12700">
                      <a:solidFill>
                        <a:srgbClr val="26365A"/>
                      </a:solidFill>
                    </a:lnB>
                    <a:solidFill>
                      <a:srgbClr val="3C4B7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EDEDF5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Contents of a specific file (e.g. #Program.cs)</a:t>
                      </a:r>
                    </a:p>
                  </a:txBody>
                  <a:tcPr marL="118872" anchor="ctr">
                    <a:lnL w="12700">
                      <a:solidFill>
                        <a:srgbClr val="26365A"/>
                      </a:solidFill>
                    </a:lnL>
                    <a:lnR w="12700">
                      <a:solidFill>
                        <a:srgbClr val="26365A"/>
                      </a:solidFill>
                    </a:lnR>
                    <a:lnT w="12700">
                      <a:solidFill>
                        <a:srgbClr val="26365A"/>
                      </a:solidFill>
                    </a:lnT>
                    <a:lnB w="12700">
                      <a:solidFill>
                        <a:srgbClr val="26365A"/>
                      </a:solidFill>
                    </a:lnB>
                    <a:solidFill>
                      <a:srgbClr val="3C4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#&lt;symbol&gt;</a:t>
                      </a:r>
                    </a:p>
                  </a:txBody>
                  <a:tcPr marL="118872" anchor="ctr">
                    <a:lnL w="12700">
                      <a:solidFill>
                        <a:srgbClr val="26365A"/>
                      </a:solidFill>
                    </a:lnL>
                    <a:lnR w="12700">
                      <a:solidFill>
                        <a:srgbClr val="26365A"/>
                      </a:solidFill>
                    </a:lnR>
                    <a:lnT w="12700">
                      <a:solidFill>
                        <a:srgbClr val="26365A"/>
                      </a:solidFill>
                    </a:lnT>
                    <a:lnB w="12700">
                      <a:solidFill>
                        <a:srgbClr val="26365A"/>
                      </a:solidFill>
                    </a:lnB>
                    <a:solidFill>
                      <a:srgbClr val="33426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EDEDF5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 method, class, or function by name</a:t>
                      </a:r>
                    </a:p>
                  </a:txBody>
                  <a:tcPr marL="118872" anchor="ctr">
                    <a:lnL w="12700">
                      <a:solidFill>
                        <a:srgbClr val="26365A"/>
                      </a:solidFill>
                    </a:lnL>
                    <a:lnR w="12700">
                      <a:solidFill>
                        <a:srgbClr val="26365A"/>
                      </a:solidFill>
                    </a:lnR>
                    <a:lnT w="12700">
                      <a:solidFill>
                        <a:srgbClr val="26365A"/>
                      </a:solidFill>
                    </a:lnT>
                    <a:lnB w="12700">
                      <a:solidFill>
                        <a:srgbClr val="26365A"/>
                      </a:solidFill>
                    </a:lnB>
                    <a:solidFill>
                      <a:srgbClr val="3342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#changes</a:t>
                      </a:r>
                    </a:p>
                  </a:txBody>
                  <a:tcPr marL="118872" anchor="ctr">
                    <a:lnL w="12700">
                      <a:solidFill>
                        <a:srgbClr val="26365A"/>
                      </a:solidFill>
                    </a:lnL>
                    <a:lnR w="12700">
                      <a:solidFill>
                        <a:srgbClr val="26365A"/>
                      </a:solidFill>
                    </a:lnR>
                    <a:lnT w="12700">
                      <a:solidFill>
                        <a:srgbClr val="26365A"/>
                      </a:solidFill>
                    </a:lnT>
                    <a:lnB w="12700">
                      <a:solidFill>
                        <a:srgbClr val="26365A"/>
                      </a:solidFill>
                    </a:lnB>
                    <a:solidFill>
                      <a:srgbClr val="3C4B7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EDEDF5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Your uncommitted Git changes</a:t>
                      </a:r>
                    </a:p>
                  </a:txBody>
                  <a:tcPr marL="118872" anchor="ctr">
                    <a:lnL w="12700">
                      <a:solidFill>
                        <a:srgbClr val="26365A"/>
                      </a:solidFill>
                    </a:lnL>
                    <a:lnR w="12700">
                      <a:solidFill>
                        <a:srgbClr val="26365A"/>
                      </a:solidFill>
                    </a:lnR>
                    <a:lnT w="12700">
                      <a:solidFill>
                        <a:srgbClr val="26365A"/>
                      </a:solidFill>
                    </a:lnT>
                    <a:lnB w="12700">
                      <a:solidFill>
                        <a:srgbClr val="26365A"/>
                      </a:solidFill>
                    </a:lnB>
                    <a:solidFill>
                      <a:srgbClr val="3C4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#commit:</a:t>
                      </a:r>
                    </a:p>
                  </a:txBody>
                  <a:tcPr marL="118872" anchor="ctr">
                    <a:lnL w="12700">
                      <a:solidFill>
                        <a:srgbClr val="26365A"/>
                      </a:solidFill>
                    </a:lnL>
                    <a:lnR w="12700">
                      <a:solidFill>
                        <a:srgbClr val="26365A"/>
                      </a:solidFill>
                    </a:lnR>
                    <a:lnT w="12700">
                      <a:solidFill>
                        <a:srgbClr val="26365A"/>
                      </a:solidFill>
                    </a:lnT>
                    <a:lnB w="12700">
                      <a:solidFill>
                        <a:srgbClr val="26365A"/>
                      </a:solidFill>
                    </a:lnB>
                    <a:solidFill>
                      <a:srgbClr val="33426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EDEDF5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 specific commit from your history</a:t>
                      </a:r>
                    </a:p>
                  </a:txBody>
                  <a:tcPr marL="118872" anchor="ctr">
                    <a:lnL w="12700">
                      <a:solidFill>
                        <a:srgbClr val="26365A"/>
                      </a:solidFill>
                    </a:lnL>
                    <a:lnR w="12700">
                      <a:solidFill>
                        <a:srgbClr val="26365A"/>
                      </a:solidFill>
                    </a:lnR>
                    <a:lnT w="12700">
                      <a:solidFill>
                        <a:srgbClr val="26365A"/>
                      </a:solidFill>
                    </a:lnT>
                    <a:lnB w="12700">
                      <a:solidFill>
                        <a:srgbClr val="26365A"/>
                      </a:solidFill>
                    </a:lnB>
                    <a:solidFill>
                      <a:srgbClr val="3342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#output</a:t>
                      </a:r>
                    </a:p>
                  </a:txBody>
                  <a:tcPr marL="118872" anchor="ctr">
                    <a:lnL w="12700">
                      <a:solidFill>
                        <a:srgbClr val="26365A"/>
                      </a:solidFill>
                    </a:lnL>
                    <a:lnR w="12700">
                      <a:solidFill>
                        <a:srgbClr val="26365A"/>
                      </a:solidFill>
                    </a:lnR>
                    <a:lnT w="12700">
                      <a:solidFill>
                        <a:srgbClr val="26365A"/>
                      </a:solidFill>
                    </a:lnT>
                    <a:lnB w="12700">
                      <a:solidFill>
                        <a:srgbClr val="26365A"/>
                      </a:solidFill>
                    </a:lnB>
                    <a:solidFill>
                      <a:srgbClr val="3C4B7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EDEDF5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Logs from the Output window (Build, Debug, Tests)</a:t>
                      </a:r>
                    </a:p>
                  </a:txBody>
                  <a:tcPr marL="118872" anchor="ctr">
                    <a:lnL w="12700">
                      <a:solidFill>
                        <a:srgbClr val="26365A"/>
                      </a:solidFill>
                    </a:lnL>
                    <a:lnR w="12700">
                      <a:solidFill>
                        <a:srgbClr val="26365A"/>
                      </a:solidFill>
                    </a:lnR>
                    <a:lnT w="12700">
                      <a:solidFill>
                        <a:srgbClr val="26365A"/>
                      </a:solidFill>
                    </a:lnT>
                    <a:lnB w="12700">
                      <a:solidFill>
                        <a:srgbClr val="26365A"/>
                      </a:solidFill>
                    </a:lnB>
                    <a:solidFill>
                      <a:srgbClr val="3C4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#prompt:</a:t>
                      </a:r>
                    </a:p>
                  </a:txBody>
                  <a:tcPr marL="118872" anchor="ctr">
                    <a:lnL w="12700">
                      <a:solidFill>
                        <a:srgbClr val="26365A"/>
                      </a:solidFill>
                    </a:lnL>
                    <a:lnR w="12700">
                      <a:solidFill>
                        <a:srgbClr val="26365A"/>
                      </a:solidFill>
                    </a:lnR>
                    <a:lnT w="12700">
                      <a:solidFill>
                        <a:srgbClr val="26365A"/>
                      </a:solidFill>
                    </a:lnT>
                    <a:lnB w="12700">
                      <a:solidFill>
                        <a:srgbClr val="26365A"/>
                      </a:solidFill>
                    </a:lnB>
                    <a:solidFill>
                      <a:srgbClr val="33426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EDEDF5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 reusable prompt file from .github/prompts</a:t>
                      </a:r>
                    </a:p>
                  </a:txBody>
                  <a:tcPr marL="118872" anchor="ctr">
                    <a:lnL w="12700">
                      <a:solidFill>
                        <a:srgbClr val="26365A"/>
                      </a:solidFill>
                    </a:lnL>
                    <a:lnR w="12700">
                      <a:solidFill>
                        <a:srgbClr val="26365A"/>
                      </a:solidFill>
                    </a:lnR>
                    <a:lnT w="12700">
                      <a:solidFill>
                        <a:srgbClr val="26365A"/>
                      </a:solidFill>
                    </a:lnT>
                    <a:lnB w="12700">
                      <a:solidFill>
                        <a:srgbClr val="26365A"/>
                      </a:solidFill>
                    </a:lnB>
                    <a:solidFill>
                      <a:srgbClr val="3342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34491D-AF3A-C879-49E6-F11A17AC30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GitHub Copilot Chat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724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0DEE9-2DBD-C997-C208-027230B5A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804" y="832104"/>
            <a:ext cx="9994392" cy="1069848"/>
          </a:xfrm>
        </p:spPr>
        <p:txBody>
          <a:bodyPr/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# MENTIONS IN VS CODE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CF1F9-4847-1440-0352-6D1284A48D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9C20947-A133-32C2-D0F4-654D337A74E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24266" y="2212975"/>
          <a:ext cx="9543469" cy="371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34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#-mention</a:t>
                      </a:r>
                    </a:p>
                  </a:txBody>
                  <a:tcPr marL="118872" anchor="ctr">
                    <a:lnL w="12700">
                      <a:solidFill>
                        <a:srgbClr val="26365A"/>
                      </a:solidFill>
                    </a:lnL>
                    <a:lnR w="12700">
                      <a:solidFill>
                        <a:srgbClr val="26365A"/>
                      </a:solidFill>
                    </a:lnR>
                    <a:lnT w="12700">
                      <a:solidFill>
                        <a:srgbClr val="26365A"/>
                      </a:solidFill>
                    </a:lnT>
                    <a:lnB w="12700">
                      <a:solidFill>
                        <a:srgbClr val="26365A"/>
                      </a:solidFill>
                    </a:lnB>
                    <a:solidFill>
                      <a:srgbClr val="8B84D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What it adds to your prompt</a:t>
                      </a:r>
                    </a:p>
                  </a:txBody>
                  <a:tcPr marL="118872" anchor="ctr">
                    <a:lnL w="12700">
                      <a:solidFill>
                        <a:srgbClr val="26365A"/>
                      </a:solidFill>
                    </a:lnL>
                    <a:lnR w="12700">
                      <a:solidFill>
                        <a:srgbClr val="26365A"/>
                      </a:solidFill>
                    </a:lnR>
                    <a:lnT w="12700">
                      <a:solidFill>
                        <a:srgbClr val="26365A"/>
                      </a:solidFill>
                    </a:lnT>
                    <a:lnB w="12700">
                      <a:solidFill>
                        <a:srgbClr val="26365A"/>
                      </a:solidFill>
                    </a:lnB>
                    <a:solidFill>
                      <a:srgbClr val="8B84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#&lt;file&gt;</a:t>
                      </a:r>
                    </a:p>
                  </a:txBody>
                  <a:tcPr marL="118872" anchor="ctr">
                    <a:lnL w="12700">
                      <a:solidFill>
                        <a:srgbClr val="26365A"/>
                      </a:solidFill>
                    </a:lnL>
                    <a:lnR w="12700">
                      <a:solidFill>
                        <a:srgbClr val="26365A"/>
                      </a:solidFill>
                    </a:lnR>
                    <a:lnT w="12700">
                      <a:solidFill>
                        <a:srgbClr val="26365A"/>
                      </a:solidFill>
                    </a:lnT>
                    <a:lnB w="12700">
                      <a:solidFill>
                        <a:srgbClr val="26365A"/>
                      </a:solidFill>
                    </a:lnB>
                    <a:solidFill>
                      <a:srgbClr val="3C4B7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EDEDF5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Attach a specific file by name</a:t>
                      </a:r>
                    </a:p>
                  </a:txBody>
                  <a:tcPr marL="118872" anchor="ctr">
                    <a:lnL w="12700">
                      <a:solidFill>
                        <a:srgbClr val="26365A"/>
                      </a:solidFill>
                    </a:lnL>
                    <a:lnR w="12700">
                      <a:solidFill>
                        <a:srgbClr val="26365A"/>
                      </a:solidFill>
                    </a:lnR>
                    <a:lnT w="12700">
                      <a:solidFill>
                        <a:srgbClr val="26365A"/>
                      </a:solidFill>
                    </a:lnT>
                    <a:lnB w="12700">
                      <a:solidFill>
                        <a:srgbClr val="26365A"/>
                      </a:solidFill>
                    </a:lnB>
                    <a:solidFill>
                      <a:srgbClr val="3C4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#&lt;folder&gt;</a:t>
                      </a:r>
                    </a:p>
                  </a:txBody>
                  <a:tcPr marL="118872" anchor="ctr">
                    <a:lnL w="12700">
                      <a:solidFill>
                        <a:srgbClr val="26365A"/>
                      </a:solidFill>
                    </a:lnL>
                    <a:lnR w="12700">
                      <a:solidFill>
                        <a:srgbClr val="26365A"/>
                      </a:solidFill>
                    </a:lnR>
                    <a:lnT w="12700">
                      <a:solidFill>
                        <a:srgbClr val="26365A"/>
                      </a:solidFill>
                    </a:lnT>
                    <a:lnB w="12700">
                      <a:solidFill>
                        <a:srgbClr val="26365A"/>
                      </a:solidFill>
                    </a:lnB>
                    <a:solidFill>
                      <a:srgbClr val="33426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EDEDF5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Attach every file in a folder</a:t>
                      </a:r>
                    </a:p>
                  </a:txBody>
                  <a:tcPr marL="118872" anchor="ctr">
                    <a:lnL w="12700">
                      <a:solidFill>
                        <a:srgbClr val="26365A"/>
                      </a:solidFill>
                    </a:lnL>
                    <a:lnR w="12700">
                      <a:solidFill>
                        <a:srgbClr val="26365A"/>
                      </a:solidFill>
                    </a:lnR>
                    <a:lnT w="12700">
                      <a:solidFill>
                        <a:srgbClr val="26365A"/>
                      </a:solidFill>
                    </a:lnT>
                    <a:lnB w="12700">
                      <a:solidFill>
                        <a:srgbClr val="26365A"/>
                      </a:solidFill>
                    </a:lnB>
                    <a:solidFill>
                      <a:srgbClr val="3342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#&lt;symbol&gt;</a:t>
                      </a:r>
                    </a:p>
                  </a:txBody>
                  <a:tcPr marL="118872" anchor="ctr">
                    <a:lnL w="12700">
                      <a:solidFill>
                        <a:srgbClr val="26365A"/>
                      </a:solidFill>
                    </a:lnL>
                    <a:lnR w="12700">
                      <a:solidFill>
                        <a:srgbClr val="26365A"/>
                      </a:solidFill>
                    </a:lnR>
                    <a:lnT w="12700">
                      <a:solidFill>
                        <a:srgbClr val="26365A"/>
                      </a:solidFill>
                    </a:lnT>
                    <a:lnB w="12700">
                      <a:solidFill>
                        <a:srgbClr val="26365A"/>
                      </a:solidFill>
                    </a:lnB>
                    <a:solidFill>
                      <a:srgbClr val="3C4B7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EDEDF5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 class or function from an open file</a:t>
                      </a:r>
                    </a:p>
                  </a:txBody>
                  <a:tcPr marL="118872" anchor="ctr">
                    <a:lnL w="12700">
                      <a:solidFill>
                        <a:srgbClr val="26365A"/>
                      </a:solidFill>
                    </a:lnL>
                    <a:lnR w="12700">
                      <a:solidFill>
                        <a:srgbClr val="26365A"/>
                      </a:solidFill>
                    </a:lnR>
                    <a:lnT w="12700">
                      <a:solidFill>
                        <a:srgbClr val="26365A"/>
                      </a:solidFill>
                    </a:lnT>
                    <a:lnB w="12700">
                      <a:solidFill>
                        <a:srgbClr val="26365A"/>
                      </a:solidFill>
                    </a:lnB>
                    <a:solidFill>
                      <a:srgbClr val="3C4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#codebase</a:t>
                      </a:r>
                    </a:p>
                  </a:txBody>
                  <a:tcPr marL="118872" anchor="ctr">
                    <a:lnL w="12700">
                      <a:solidFill>
                        <a:srgbClr val="26365A"/>
                      </a:solidFill>
                    </a:lnL>
                    <a:lnR w="12700">
                      <a:solidFill>
                        <a:srgbClr val="26365A"/>
                      </a:solidFill>
                    </a:lnR>
                    <a:lnT w="12700">
                      <a:solidFill>
                        <a:srgbClr val="26365A"/>
                      </a:solidFill>
                    </a:lnT>
                    <a:lnB w="12700">
                      <a:solidFill>
                        <a:srgbClr val="26365A"/>
                      </a:solidFill>
                    </a:lnB>
                    <a:solidFill>
                      <a:srgbClr val="33426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EDEDF5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Search the whole indexed workspace</a:t>
                      </a:r>
                    </a:p>
                  </a:txBody>
                  <a:tcPr marL="118872" anchor="ctr">
                    <a:lnL w="12700">
                      <a:solidFill>
                        <a:srgbClr val="26365A"/>
                      </a:solidFill>
                    </a:lnL>
                    <a:lnR w="12700">
                      <a:solidFill>
                        <a:srgbClr val="26365A"/>
                      </a:solidFill>
                    </a:lnR>
                    <a:lnT w="12700">
                      <a:solidFill>
                        <a:srgbClr val="26365A"/>
                      </a:solidFill>
                    </a:lnT>
                    <a:lnB w="12700">
                      <a:solidFill>
                        <a:srgbClr val="26365A"/>
                      </a:solidFill>
                    </a:lnB>
                    <a:solidFill>
                      <a:srgbClr val="3342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#fetch</a:t>
                      </a:r>
                    </a:p>
                  </a:txBody>
                  <a:tcPr marL="118872" anchor="ctr">
                    <a:lnL w="12700">
                      <a:solidFill>
                        <a:srgbClr val="26365A"/>
                      </a:solidFill>
                    </a:lnL>
                    <a:lnR w="12700">
                      <a:solidFill>
                        <a:srgbClr val="26365A"/>
                      </a:solidFill>
                    </a:lnR>
                    <a:lnT w="12700">
                      <a:solidFill>
                        <a:srgbClr val="26365A"/>
                      </a:solidFill>
                    </a:lnT>
                    <a:lnB w="12700">
                      <a:solidFill>
                        <a:srgbClr val="26365A"/>
                      </a:solidFill>
                    </a:lnB>
                    <a:solidFill>
                      <a:srgbClr val="3C4B7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EDEDF5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Pull content from a web page or URL</a:t>
                      </a:r>
                    </a:p>
                  </a:txBody>
                  <a:tcPr marL="118872" anchor="ctr">
                    <a:lnL w="12700">
                      <a:solidFill>
                        <a:srgbClr val="26365A"/>
                      </a:solidFill>
                    </a:lnL>
                    <a:lnR w="12700">
                      <a:solidFill>
                        <a:srgbClr val="26365A"/>
                      </a:solidFill>
                    </a:lnR>
                    <a:lnT w="12700">
                      <a:solidFill>
                        <a:srgbClr val="26365A"/>
                      </a:solidFill>
                    </a:lnT>
                    <a:lnB w="12700">
                      <a:solidFill>
                        <a:srgbClr val="26365A"/>
                      </a:solidFill>
                    </a:lnB>
                    <a:solidFill>
                      <a:srgbClr val="3C4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#terminalSelection</a:t>
                      </a:r>
                    </a:p>
                  </a:txBody>
                  <a:tcPr marL="118872" anchor="ctr">
                    <a:lnL w="12700">
                      <a:solidFill>
                        <a:srgbClr val="26365A"/>
                      </a:solidFill>
                    </a:lnL>
                    <a:lnR w="12700">
                      <a:solidFill>
                        <a:srgbClr val="26365A"/>
                      </a:solidFill>
                    </a:lnR>
                    <a:lnT w="12700">
                      <a:solidFill>
                        <a:srgbClr val="26365A"/>
                      </a:solidFill>
                    </a:lnT>
                    <a:lnB w="12700">
                      <a:solidFill>
                        <a:srgbClr val="26365A"/>
                      </a:solidFill>
                    </a:lnB>
                    <a:solidFill>
                      <a:srgbClr val="33426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EDEDF5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The selected terminal output</a:t>
                      </a:r>
                    </a:p>
                  </a:txBody>
                  <a:tcPr marL="118872" anchor="ctr">
                    <a:lnL w="12700">
                      <a:solidFill>
                        <a:srgbClr val="26365A"/>
                      </a:solidFill>
                    </a:lnL>
                    <a:lnR w="12700">
                      <a:solidFill>
                        <a:srgbClr val="26365A"/>
                      </a:solidFill>
                    </a:lnR>
                    <a:lnT w="12700">
                      <a:solidFill>
                        <a:srgbClr val="26365A"/>
                      </a:solidFill>
                    </a:lnT>
                    <a:lnB w="12700">
                      <a:solidFill>
                        <a:srgbClr val="26365A"/>
                      </a:solidFill>
                    </a:lnB>
                    <a:solidFill>
                      <a:srgbClr val="3342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34491D-AF3A-C879-49E6-F11A17AC30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GitHub Copilot Chat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665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F7E09-6A9E-9FCC-7867-895F21ABE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b="1" spc="3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SLASH COMMANDS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7728F-9EA1-A705-8E4D-B7823E4F4C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158D4-7B61-0A48-E33F-792278D05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chemeClr val="accent3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Shortcuts that set your intent fast — type  /  in Copilot Chat.</a:t>
            </a:r>
          </a:p>
          <a:p>
            <a:pPr marL="342900" indent="-342900" algn="l">
              <a:lnSpc>
                <a:spcPct val="12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Skip long prompts for routine tasks: explain, fix, generate tests.</a:t>
            </a:r>
          </a:p>
          <a:p>
            <a:pPr marL="342900" indent="-342900" algn="l">
              <a:lnSpc>
                <a:spcPct val="12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Work in the Chat pane; edit commands also work in inline chat.</a:t>
            </a:r>
          </a:p>
          <a:p>
            <a:pPr marL="342900" indent="-342900" algn="l">
              <a:lnSpc>
                <a:spcPct val="12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Available commands vary by IDE, context, and installed extensions.</a:t>
            </a:r>
          </a:p>
          <a:p>
            <a:pPr marL="342900" indent="-342900" algn="l">
              <a:lnSpc>
                <a:spcPct val="12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 core set is nearly identical in Visual Studio 2026 and VS Code.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150" i="1" dirty="0">
                <a:solidFill>
                  <a:schemeClr val="accent3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Source: GitHub Copilot Chat cheat sheet — docs.github.com/en/copilot/reference/chat-cheat-sheet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D0AE42-75AF-229C-2692-C10ADA4FFA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GitHub Copilot  ·  Day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027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F7E09-6A9E-9FCC-7867-895F21ABE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b="1" spc="3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VISUAL STUDIO 2026 — COMMANDS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7728F-9EA1-A705-8E4D-B7823E4F4C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158D4-7B61-0A48-E33F-792278D05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chemeClr val="accent3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Built-in slash commands (type  /  in Copilot Chat):</a:t>
            </a:r>
          </a:p>
          <a:p>
            <a:pPr marL="342900" indent="-342900" algn="l">
              <a:lnSpc>
                <a:spcPct val="12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rgbClr val="64DFED"/>
                </a:solidFill>
                <a:latin typeface="Consolas" pitchFamily="49" charset="0"/>
                <a:cs typeface="Consolas" pitchFamily="49" charset="0"/>
              </a:rPr>
              <a:t>/doc</a:t>
            </a:r>
            <a:r>
              <a:rPr lang="en-US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 — add a documentation comment</a:t>
            </a:r>
          </a:p>
          <a:p>
            <a:pPr marL="342900" indent="-342900" algn="l">
              <a:lnSpc>
                <a:spcPct val="12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rgbClr val="64DFED"/>
                </a:solidFill>
                <a:latin typeface="Consolas" pitchFamily="49" charset="0"/>
                <a:cs typeface="Consolas" pitchFamily="49" charset="0"/>
              </a:rPr>
              <a:t>/explain</a:t>
            </a:r>
            <a:r>
              <a:rPr lang="en-US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 — explain the selected code</a:t>
            </a:r>
          </a:p>
          <a:p>
            <a:pPr marL="342900" indent="-342900" algn="l">
              <a:lnSpc>
                <a:spcPct val="12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rgbClr val="64DFED"/>
                </a:solidFill>
                <a:latin typeface="Consolas" pitchFamily="49" charset="0"/>
                <a:cs typeface="Consolas" pitchFamily="49" charset="0"/>
              </a:rPr>
              <a:t>/fix</a:t>
            </a:r>
            <a:r>
              <a:rPr lang="en-US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 — propose a fix for problems in the selection</a:t>
            </a:r>
          </a:p>
          <a:p>
            <a:pPr marL="342900" indent="-342900" algn="l">
              <a:lnSpc>
                <a:spcPct val="12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rgbClr val="64DFED"/>
                </a:solidFill>
                <a:latin typeface="Consolas" pitchFamily="49" charset="0"/>
                <a:cs typeface="Consolas" pitchFamily="49" charset="0"/>
              </a:rPr>
              <a:t>/optimize</a:t>
            </a:r>
            <a:r>
              <a:rPr lang="en-US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 — improve performance of the selected code</a:t>
            </a:r>
          </a:p>
          <a:p>
            <a:pPr marL="342900" indent="-342900" algn="l">
              <a:lnSpc>
                <a:spcPct val="12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rgbClr val="64DFED"/>
                </a:solidFill>
                <a:latin typeface="Consolas" pitchFamily="49" charset="0"/>
                <a:cs typeface="Consolas" pitchFamily="49" charset="0"/>
              </a:rPr>
              <a:t>/tests</a:t>
            </a:r>
            <a:r>
              <a:rPr lang="en-US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 — generate unit tests for the selection</a:t>
            </a:r>
          </a:p>
          <a:p>
            <a:pPr marL="342900" indent="-342900" algn="l">
              <a:lnSpc>
                <a:spcPct val="12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rgbClr val="64DFED"/>
                </a:solidFill>
                <a:latin typeface="Consolas" pitchFamily="49" charset="0"/>
                <a:cs typeface="Consolas" pitchFamily="49" charset="0"/>
              </a:rPr>
              <a:t>/help</a:t>
            </a:r>
            <a:r>
              <a:rPr lang="en-US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 — quick help on using Copilot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Also available in inline chat (Alt + /).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150" i="1" dirty="0">
                <a:solidFill>
                  <a:schemeClr val="accent3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Source: Visual Studio docs — learn.microsoft.com/visualstudio/ide/copilot-chat-context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D0AE42-75AF-229C-2692-C10ADA4FFA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GitHub Copilot  ·  Day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004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F7E09-6A9E-9FCC-7867-895F21ABE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b="1" spc="3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VS CODE — COMMANDS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7728F-9EA1-A705-8E4D-B7823E4F4C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158D4-7B61-0A48-E33F-792278D05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chemeClr val="accent3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Built-in slash commands (type  /  in Copilot Chat):</a:t>
            </a:r>
          </a:p>
          <a:p>
            <a:pPr marL="342900" indent="-342900" algn="l">
              <a:lnSpc>
                <a:spcPct val="12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rgbClr val="64DFED"/>
                </a:solidFill>
                <a:latin typeface="Consolas" pitchFamily="49" charset="0"/>
                <a:cs typeface="Consolas" pitchFamily="49" charset="0"/>
              </a:rPr>
              <a:t>/explain</a:t>
            </a:r>
            <a:r>
              <a:rPr lang="en-US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 — explain the selected code</a:t>
            </a:r>
          </a:p>
          <a:p>
            <a:pPr marL="342900" indent="-342900" algn="l">
              <a:lnSpc>
                <a:spcPct val="12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rgbClr val="64DFED"/>
                </a:solidFill>
                <a:latin typeface="Consolas" pitchFamily="49" charset="0"/>
                <a:cs typeface="Consolas" pitchFamily="49" charset="0"/>
              </a:rPr>
              <a:t>/fix</a:t>
            </a:r>
            <a:r>
              <a:rPr lang="en-US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 — propose a fix for problems in the selection</a:t>
            </a:r>
          </a:p>
          <a:p>
            <a:pPr marL="342900" indent="-342900" algn="l">
              <a:lnSpc>
                <a:spcPct val="12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rgbClr val="64DFED"/>
                </a:solidFill>
                <a:latin typeface="Consolas" pitchFamily="49" charset="0"/>
                <a:cs typeface="Consolas" pitchFamily="49" charset="0"/>
              </a:rPr>
              <a:t>/tests</a:t>
            </a:r>
            <a:r>
              <a:rPr lang="en-US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 — generate unit tests for the selection</a:t>
            </a:r>
          </a:p>
          <a:p>
            <a:pPr marL="342900" indent="-342900" algn="l">
              <a:lnSpc>
                <a:spcPct val="12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rgbClr val="64DFED"/>
                </a:solidFill>
                <a:latin typeface="Consolas" pitchFamily="49" charset="0"/>
                <a:cs typeface="Consolas" pitchFamily="49" charset="0"/>
              </a:rPr>
              <a:t>/fixTestFailure</a:t>
            </a:r>
            <a:r>
              <a:rPr lang="en-US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 — find and fix a failing test</a:t>
            </a:r>
          </a:p>
          <a:p>
            <a:pPr marL="342900" indent="-342900" algn="l">
              <a:lnSpc>
                <a:spcPct val="12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rgbClr val="64DFED"/>
                </a:solidFill>
                <a:latin typeface="Consolas" pitchFamily="49" charset="0"/>
                <a:cs typeface="Consolas" pitchFamily="49" charset="0"/>
              </a:rPr>
              <a:t>/new</a:t>
            </a:r>
            <a:r>
              <a:rPr lang="en-US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 — scaffold a new project or file</a:t>
            </a:r>
          </a:p>
          <a:p>
            <a:pPr marL="342900" indent="-342900" algn="l">
              <a:lnSpc>
                <a:spcPct val="12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rgbClr val="64DFED"/>
                </a:solidFill>
                <a:latin typeface="Consolas" pitchFamily="49" charset="0"/>
                <a:cs typeface="Consolas" pitchFamily="49" charset="0"/>
              </a:rPr>
              <a:t>/clear</a:t>
            </a:r>
            <a:r>
              <a:rPr lang="en-US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 — start a new chat session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Prompt files and agent skills also appear here as  /  commands.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150" i="1" dirty="0">
                <a:solidFill>
                  <a:schemeClr val="accent3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Source: VS Code docs — code.visualstudio.com/docs/copilot/customization/prompt-files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D0AE42-75AF-229C-2692-C10ADA4FFA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GitHub Copilot  ·  Day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51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PROMPT FILES</a:t>
            </a:r>
            <a:br>
              <a:rPr lang="en-US" dirty="0"/>
            </a:br>
            <a:r>
              <a:rPr lang="en-US" dirty="0"/>
              <a:t>REUSABLE PROMPTS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329B1-2D04-0F3A-1081-C5117D8CE1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GitHub Copilot · In-IDE · Day 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0E99-07CC-9576-AFD7-C52151AD0E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IS A PROMPT FILE?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2A8B0-333F-633E-3FA7-D38DBFB109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A prompt file is a reusable prompt that you write once and use many times as a custom slash (/) command.</a:t>
            </a:r>
          </a:p>
        </p:txBody>
      </p:sp>
    </p:spTree>
    <p:extLst>
      <p:ext uri="{BB962C8B-B14F-4D97-AF65-F5344CB8AC3E}">
        <p14:creationId xmlns:p14="http://schemas.microsoft.com/office/powerpoint/2010/main" val="3380759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C9834-F8CE-1553-CD96-37723E5F7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08A21-EA07-6DA0-845E-D553FFE21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240594"/>
            <a:ext cx="9921240" cy="758952"/>
          </a:xfrm>
        </p:spPr>
        <p:txBody>
          <a:bodyPr/>
          <a:lstStyle/>
          <a:p>
            <a:r>
              <a:rPr lang="en-US" dirty="0"/>
              <a:t>ANATOMY OF A PROMPT FILE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8790CE4-E8E1-49D2-554D-042E82B33EBC}"/>
              </a:ext>
            </a:extLst>
          </p:cNvPr>
          <p:cNvSpPr txBox="1">
            <a:spLocks/>
          </p:cNvSpPr>
          <p:nvPr/>
        </p:nvSpPr>
        <p:spPr>
          <a:xfrm>
            <a:off x="1239309" y="1033034"/>
            <a:ext cx="7579545" cy="4937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The file: </a:t>
            </a:r>
            <a:r>
              <a:rPr lang="en-US" dirty="0">
                <a:latin typeface="Consolas" panose="020B0609020204030204" pitchFamily="49" charset="0"/>
              </a:rPr>
              <a:t>explain-code.prompt.md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C71183B-2FB8-C22A-C806-91632B7BBFBC}"/>
              </a:ext>
            </a:extLst>
          </p:cNvPr>
          <p:cNvSpPr txBox="1">
            <a:spLocks/>
          </p:cNvSpPr>
          <p:nvPr/>
        </p:nvSpPr>
        <p:spPr>
          <a:xfrm>
            <a:off x="1239309" y="1560298"/>
            <a:ext cx="7061543" cy="520863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228600" indent="-347472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None/>
            </a:pPr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Consolas"/>
                <a:cs typeface="Consolas"/>
              </a:rPr>
              <a:t>---</a:t>
            </a:r>
          </a:p>
          <a:p>
            <a:pPr>
              <a:buFont typeface="Courier New" panose="02070309020205020404" pitchFamily="49" charset="0"/>
              <a:buNone/>
            </a:pPr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Consolas"/>
                <a:cs typeface="Consolas"/>
              </a:rPr>
              <a:t>agent: 'agent'</a:t>
            </a:r>
          </a:p>
          <a:p>
            <a:pPr>
              <a:buFont typeface="Courier New" panose="02070309020205020404" pitchFamily="49" charset="0"/>
              <a:buNone/>
            </a:pPr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Consolas"/>
                <a:cs typeface="Consolas"/>
              </a:rPr>
              <a:t>description: 'Generate a clear code explanation with examples'</a:t>
            </a:r>
          </a:p>
          <a:p>
            <a:pPr>
              <a:buFont typeface="Courier New" panose="02070309020205020404" pitchFamily="49" charset="0"/>
              <a:buNone/>
            </a:pPr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Consolas"/>
                <a:cs typeface="Consolas"/>
              </a:rPr>
              <a:t>---</a:t>
            </a:r>
          </a:p>
          <a:p>
            <a:pPr>
              <a:buFont typeface="Courier New" panose="02070309020205020404" pitchFamily="49" charset="0"/>
              <a:buNone/>
            </a:pPr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Consolas"/>
                <a:cs typeface="Consolas"/>
              </a:rPr>
              <a:t>Explain the following code in a clear, beginner-friendly way:</a:t>
            </a:r>
          </a:p>
          <a:p>
            <a:pPr>
              <a:buFont typeface="Courier New" panose="02070309020205020404" pitchFamily="49" charset="0"/>
              <a:buNone/>
            </a:pPr>
            <a:endParaRPr lang="en-US" sz="1200" dirty="0">
              <a:solidFill>
                <a:schemeClr val="accent5">
                  <a:lumMod val="50000"/>
                </a:schemeClr>
              </a:solidFill>
              <a:latin typeface="Consolas"/>
              <a:cs typeface="Consolas"/>
            </a:endParaRPr>
          </a:p>
          <a:p>
            <a:pPr>
              <a:buFont typeface="Courier New" panose="02070309020205020404" pitchFamily="49" charset="0"/>
              <a:buNone/>
            </a:pPr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Consolas"/>
                <a:cs typeface="Consolas"/>
              </a:rPr>
              <a:t>Code to explain: ${</a:t>
            </a:r>
            <a:r>
              <a:rPr lang="en-US" sz="1200" dirty="0" err="1">
                <a:solidFill>
                  <a:schemeClr val="accent5">
                    <a:lumMod val="50000"/>
                  </a:schemeClr>
                </a:solidFill>
                <a:latin typeface="Consolas"/>
                <a:cs typeface="Consolas"/>
              </a:rPr>
              <a:t>input:code:Paste</a:t>
            </a:r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Consolas"/>
                <a:cs typeface="Consolas"/>
              </a:rPr>
              <a:t> your code here}</a:t>
            </a:r>
          </a:p>
          <a:p>
            <a:pPr>
              <a:buFont typeface="Courier New" panose="02070309020205020404" pitchFamily="49" charset="0"/>
              <a:buNone/>
            </a:pPr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Consolas"/>
                <a:cs typeface="Consolas"/>
              </a:rPr>
              <a:t>Target audience: ${</a:t>
            </a:r>
            <a:r>
              <a:rPr lang="en-US" sz="1200" dirty="0" err="1">
                <a:solidFill>
                  <a:schemeClr val="accent5">
                    <a:lumMod val="50000"/>
                  </a:schemeClr>
                </a:solidFill>
                <a:latin typeface="Consolas"/>
                <a:cs typeface="Consolas"/>
              </a:rPr>
              <a:t>input:audience:Who</a:t>
            </a:r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Consolas"/>
                <a:cs typeface="Consolas"/>
              </a:rPr>
              <a:t> is this explanation for? (e.g., beginners, intermediate developers, etc.)}</a:t>
            </a:r>
          </a:p>
          <a:p>
            <a:pPr>
              <a:buFont typeface="Courier New" panose="02070309020205020404" pitchFamily="49" charset="0"/>
              <a:buNone/>
            </a:pPr>
            <a:endParaRPr lang="en-US" sz="1200" dirty="0">
              <a:solidFill>
                <a:schemeClr val="accent5">
                  <a:lumMod val="50000"/>
                </a:schemeClr>
              </a:solidFill>
              <a:latin typeface="Consolas"/>
              <a:cs typeface="Consolas"/>
            </a:endParaRPr>
          </a:p>
          <a:p>
            <a:pPr>
              <a:buFont typeface="Courier New" panose="02070309020205020404" pitchFamily="49" charset="0"/>
              <a:buNone/>
            </a:pPr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Consolas"/>
                <a:cs typeface="Consolas"/>
              </a:rPr>
              <a:t>Please provide:</a:t>
            </a:r>
          </a:p>
          <a:p>
            <a:pPr>
              <a:buFont typeface="Courier New" panose="02070309020205020404" pitchFamily="49" charset="0"/>
              <a:buNone/>
            </a:pPr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Consolas"/>
                <a:cs typeface="Consolas"/>
              </a:rPr>
              <a:t>* A brief overview of what the code does</a:t>
            </a:r>
          </a:p>
          <a:p>
            <a:pPr>
              <a:buFont typeface="Courier New" panose="02070309020205020404" pitchFamily="49" charset="0"/>
              <a:buNone/>
            </a:pPr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Consolas"/>
                <a:cs typeface="Consolas"/>
              </a:rPr>
              <a:t>* A step-by-step breakdown of the main parts</a:t>
            </a:r>
          </a:p>
          <a:p>
            <a:pPr>
              <a:buFont typeface="Courier New" panose="02070309020205020404" pitchFamily="49" charset="0"/>
              <a:buNone/>
            </a:pPr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Consolas"/>
                <a:cs typeface="Consolas"/>
              </a:rPr>
              <a:t>* Explanation of any key concepts or terminology</a:t>
            </a:r>
          </a:p>
          <a:p>
            <a:pPr>
              <a:buFont typeface="Courier New" panose="02070309020205020404" pitchFamily="49" charset="0"/>
              <a:buNone/>
            </a:pPr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Consolas"/>
                <a:cs typeface="Consolas"/>
              </a:rPr>
              <a:t>* A simple example showing how it works</a:t>
            </a:r>
          </a:p>
          <a:p>
            <a:pPr>
              <a:buFont typeface="Courier New" panose="02070309020205020404" pitchFamily="49" charset="0"/>
              <a:buNone/>
            </a:pPr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Consolas"/>
                <a:cs typeface="Consolas"/>
              </a:rPr>
              <a:t>* Common use cases or when you might use this approach</a:t>
            </a:r>
          </a:p>
          <a:p>
            <a:pPr>
              <a:buFont typeface="Courier New" panose="02070309020205020404" pitchFamily="49" charset="0"/>
              <a:buNone/>
            </a:pPr>
            <a:endParaRPr lang="en-US" sz="1200" dirty="0">
              <a:solidFill>
                <a:schemeClr val="accent5">
                  <a:lumMod val="50000"/>
                </a:schemeClr>
              </a:solidFill>
              <a:latin typeface="Consolas"/>
              <a:cs typeface="Consolas"/>
            </a:endParaRPr>
          </a:p>
          <a:p>
            <a:pPr>
              <a:buFont typeface="Courier New" panose="02070309020205020404" pitchFamily="49" charset="0"/>
              <a:buNone/>
            </a:pPr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Consolas"/>
                <a:cs typeface="Consolas"/>
              </a:rPr>
              <a:t>Use clear, simple language and avoid unnecessary jargon.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9230BF6-36A2-5B93-3E4F-D50B980E393E}"/>
              </a:ext>
            </a:extLst>
          </p:cNvPr>
          <p:cNvSpPr/>
          <p:nvPr/>
        </p:nvSpPr>
        <p:spPr>
          <a:xfrm>
            <a:off x="1239309" y="1560298"/>
            <a:ext cx="9543486" cy="1147276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/>
              <a:t>Front Matter (YAML)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C1132FC-23BB-1368-DAFF-603DEEB4E537}"/>
              </a:ext>
            </a:extLst>
          </p:cNvPr>
          <p:cNvSpPr/>
          <p:nvPr/>
        </p:nvSpPr>
        <p:spPr>
          <a:xfrm>
            <a:off x="1239309" y="2741062"/>
            <a:ext cx="9543486" cy="4027873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/>
              <a:t>Body (Markdown)</a:t>
            </a:r>
          </a:p>
        </p:txBody>
      </p:sp>
    </p:spTree>
    <p:extLst>
      <p:ext uri="{BB962C8B-B14F-4D97-AF65-F5344CB8AC3E}">
        <p14:creationId xmlns:p14="http://schemas.microsoft.com/office/powerpoint/2010/main" val="336953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07823-2B31-D532-E6F2-3AFB1B6F4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19B6A-1F43-9882-70CA-8FBC8EEEC8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240594"/>
            <a:ext cx="9921240" cy="758952"/>
          </a:xfrm>
        </p:spPr>
        <p:txBody>
          <a:bodyPr/>
          <a:lstStyle/>
          <a:p>
            <a:r>
              <a:rPr lang="en-US" dirty="0"/>
              <a:t>ANATOMY OF A PROMPT FILE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899B647-AAA0-621A-8815-BC5ED4085F02}"/>
              </a:ext>
            </a:extLst>
          </p:cNvPr>
          <p:cNvSpPr txBox="1">
            <a:spLocks/>
          </p:cNvSpPr>
          <p:nvPr/>
        </p:nvSpPr>
        <p:spPr>
          <a:xfrm>
            <a:off x="1239309" y="1033034"/>
            <a:ext cx="7579545" cy="4937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The file: </a:t>
            </a:r>
            <a:r>
              <a:rPr lang="en-US" dirty="0">
                <a:latin typeface="Consolas" panose="020B0609020204030204" pitchFamily="49" charset="0"/>
              </a:rPr>
              <a:t>explain-code.prompt.md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5B3A50DC-BC71-B076-0B92-90CCCB32010C}"/>
              </a:ext>
            </a:extLst>
          </p:cNvPr>
          <p:cNvSpPr txBox="1">
            <a:spLocks/>
          </p:cNvSpPr>
          <p:nvPr/>
        </p:nvSpPr>
        <p:spPr>
          <a:xfrm>
            <a:off x="1239309" y="1560298"/>
            <a:ext cx="7061543" cy="520863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228600" indent="-347472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None/>
            </a:pPr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Consolas"/>
                <a:cs typeface="Consolas"/>
              </a:rPr>
              <a:t>---</a:t>
            </a:r>
          </a:p>
          <a:p>
            <a:pPr>
              <a:buFont typeface="Courier New" panose="02070309020205020404" pitchFamily="49" charset="0"/>
              <a:buNone/>
            </a:pPr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Consolas"/>
                <a:cs typeface="Consolas"/>
              </a:rPr>
              <a:t>agent: 'agent'</a:t>
            </a:r>
          </a:p>
          <a:p>
            <a:pPr>
              <a:buFont typeface="Courier New" panose="02070309020205020404" pitchFamily="49" charset="0"/>
              <a:buNone/>
            </a:pPr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Consolas"/>
                <a:cs typeface="Consolas"/>
              </a:rPr>
              <a:t>description: 'Generate a clear code explanation with examples'</a:t>
            </a:r>
          </a:p>
          <a:p>
            <a:pPr>
              <a:buFont typeface="Courier New" panose="02070309020205020404" pitchFamily="49" charset="0"/>
              <a:buNone/>
            </a:pPr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Consolas"/>
                <a:cs typeface="Consolas"/>
              </a:rPr>
              <a:t>---</a:t>
            </a:r>
          </a:p>
          <a:p>
            <a:pPr>
              <a:buFont typeface="Courier New" panose="02070309020205020404" pitchFamily="49" charset="0"/>
              <a:buNone/>
            </a:pPr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Consolas"/>
                <a:cs typeface="Consolas"/>
              </a:rPr>
              <a:t>Explain the following code in a clear, beginner-friendly way:</a:t>
            </a:r>
          </a:p>
          <a:p>
            <a:pPr>
              <a:buFont typeface="Courier New" panose="02070309020205020404" pitchFamily="49" charset="0"/>
              <a:buNone/>
            </a:pPr>
            <a:endParaRPr lang="en-US" sz="1200" dirty="0">
              <a:solidFill>
                <a:schemeClr val="accent5">
                  <a:lumMod val="50000"/>
                </a:schemeClr>
              </a:solidFill>
              <a:latin typeface="Consolas"/>
              <a:cs typeface="Consolas"/>
            </a:endParaRPr>
          </a:p>
          <a:p>
            <a:pPr>
              <a:buFont typeface="Courier New" panose="02070309020205020404" pitchFamily="49" charset="0"/>
              <a:buNone/>
            </a:pPr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Consolas"/>
                <a:cs typeface="Consolas"/>
              </a:rPr>
              <a:t>Code to explain: ${</a:t>
            </a:r>
            <a:r>
              <a:rPr lang="en-US" sz="1200" dirty="0" err="1">
                <a:solidFill>
                  <a:schemeClr val="accent5">
                    <a:lumMod val="50000"/>
                  </a:schemeClr>
                </a:solidFill>
                <a:latin typeface="Consolas"/>
                <a:cs typeface="Consolas"/>
              </a:rPr>
              <a:t>input:code:Paste</a:t>
            </a:r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Consolas"/>
                <a:cs typeface="Consolas"/>
              </a:rPr>
              <a:t> your code here}</a:t>
            </a:r>
          </a:p>
          <a:p>
            <a:pPr>
              <a:buFont typeface="Courier New" panose="02070309020205020404" pitchFamily="49" charset="0"/>
              <a:buNone/>
            </a:pPr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Consolas"/>
                <a:cs typeface="Consolas"/>
              </a:rPr>
              <a:t>Target audience: ${</a:t>
            </a:r>
            <a:r>
              <a:rPr lang="en-US" sz="1200" dirty="0" err="1">
                <a:solidFill>
                  <a:schemeClr val="accent5">
                    <a:lumMod val="50000"/>
                  </a:schemeClr>
                </a:solidFill>
                <a:latin typeface="Consolas"/>
                <a:cs typeface="Consolas"/>
              </a:rPr>
              <a:t>input:audience:Who</a:t>
            </a:r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Consolas"/>
                <a:cs typeface="Consolas"/>
              </a:rPr>
              <a:t> is this explanation for? (e.g., beginners, intermediate developers, etc.)}</a:t>
            </a:r>
          </a:p>
          <a:p>
            <a:pPr>
              <a:buFont typeface="Courier New" panose="02070309020205020404" pitchFamily="49" charset="0"/>
              <a:buNone/>
            </a:pPr>
            <a:endParaRPr lang="en-US" sz="1200" dirty="0">
              <a:solidFill>
                <a:schemeClr val="accent5">
                  <a:lumMod val="50000"/>
                </a:schemeClr>
              </a:solidFill>
              <a:latin typeface="Consolas"/>
              <a:cs typeface="Consolas"/>
            </a:endParaRPr>
          </a:p>
          <a:p>
            <a:pPr>
              <a:buFont typeface="Courier New" panose="02070309020205020404" pitchFamily="49" charset="0"/>
              <a:buNone/>
            </a:pPr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Consolas"/>
                <a:cs typeface="Consolas"/>
              </a:rPr>
              <a:t>Please provide:</a:t>
            </a:r>
          </a:p>
          <a:p>
            <a:pPr>
              <a:buFont typeface="Courier New" panose="02070309020205020404" pitchFamily="49" charset="0"/>
              <a:buNone/>
            </a:pPr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Consolas"/>
                <a:cs typeface="Consolas"/>
              </a:rPr>
              <a:t>* A brief overview of what the code does</a:t>
            </a:r>
          </a:p>
          <a:p>
            <a:pPr>
              <a:buFont typeface="Courier New" panose="02070309020205020404" pitchFamily="49" charset="0"/>
              <a:buNone/>
            </a:pPr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Consolas"/>
                <a:cs typeface="Consolas"/>
              </a:rPr>
              <a:t>* A step-by-step breakdown of the main parts</a:t>
            </a:r>
          </a:p>
          <a:p>
            <a:pPr>
              <a:buFont typeface="Courier New" panose="02070309020205020404" pitchFamily="49" charset="0"/>
              <a:buNone/>
            </a:pPr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Consolas"/>
                <a:cs typeface="Consolas"/>
              </a:rPr>
              <a:t>* Explanation of any key concepts or terminology</a:t>
            </a:r>
          </a:p>
          <a:p>
            <a:pPr>
              <a:buFont typeface="Courier New" panose="02070309020205020404" pitchFamily="49" charset="0"/>
              <a:buNone/>
            </a:pPr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Consolas"/>
                <a:cs typeface="Consolas"/>
              </a:rPr>
              <a:t>* A simple example showing how it works</a:t>
            </a:r>
          </a:p>
          <a:p>
            <a:pPr>
              <a:buFont typeface="Courier New" panose="02070309020205020404" pitchFamily="49" charset="0"/>
              <a:buNone/>
            </a:pPr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Consolas"/>
                <a:cs typeface="Consolas"/>
              </a:rPr>
              <a:t>* Common use cases or when you might use this approach</a:t>
            </a:r>
          </a:p>
          <a:p>
            <a:pPr>
              <a:buFont typeface="Courier New" panose="02070309020205020404" pitchFamily="49" charset="0"/>
              <a:buNone/>
            </a:pPr>
            <a:endParaRPr lang="en-US" sz="1200" dirty="0">
              <a:solidFill>
                <a:schemeClr val="accent5">
                  <a:lumMod val="50000"/>
                </a:schemeClr>
              </a:solidFill>
              <a:latin typeface="Consolas"/>
              <a:cs typeface="Consolas"/>
            </a:endParaRPr>
          </a:p>
          <a:p>
            <a:pPr>
              <a:buFont typeface="Courier New" panose="02070309020205020404" pitchFamily="49" charset="0"/>
              <a:buNone/>
            </a:pPr>
            <a:r>
              <a:rPr lang="en-US" sz="1200" dirty="0">
                <a:solidFill>
                  <a:schemeClr val="accent5">
                    <a:lumMod val="50000"/>
                  </a:schemeClr>
                </a:solidFill>
                <a:latin typeface="Consolas"/>
                <a:cs typeface="Consolas"/>
              </a:rPr>
              <a:t>Use clear, simple language and avoid unnecessary jargon.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C5CD455-C528-3814-8FD5-EB08CE7645CE}"/>
              </a:ext>
            </a:extLst>
          </p:cNvPr>
          <p:cNvSpPr/>
          <p:nvPr/>
        </p:nvSpPr>
        <p:spPr>
          <a:xfrm>
            <a:off x="2636322" y="3158836"/>
            <a:ext cx="8146473" cy="475013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/>
              <a:t>Human Input Tags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C3A42BA-1A72-3FB5-F0FD-3201555B9064}"/>
              </a:ext>
            </a:extLst>
          </p:cNvPr>
          <p:cNvSpPr/>
          <p:nvPr/>
        </p:nvSpPr>
        <p:spPr>
          <a:xfrm>
            <a:off x="1239309" y="1707077"/>
            <a:ext cx="9543486" cy="475013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/>
              <a:t>Choice of Agent</a:t>
            </a:r>
          </a:p>
        </p:txBody>
      </p:sp>
    </p:spTree>
    <p:extLst>
      <p:ext uri="{BB962C8B-B14F-4D97-AF65-F5344CB8AC3E}">
        <p14:creationId xmlns:p14="http://schemas.microsoft.com/office/powerpoint/2010/main" val="2245459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E45E-D6A7-9780-F652-BAF86DFBC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OR OPEN A PROMPT FILE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577A64-4E94-69E1-3180-1E014BD0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605EE-24B6-95D8-DE5E-BEC2F03EC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Studio Code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2F651-7ABC-015D-B5C4-622708A64C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Chat view → Configure Chat (gear) → Prompts → New Prompt</a:t>
            </a:r>
          </a:p>
          <a:p>
            <a:r>
              <a:rPr lang="en-US" dirty="0"/>
              <a:t>Or Command Palette: “Chat: New Prompt File”</a:t>
            </a:r>
          </a:p>
          <a:p>
            <a:r>
              <a:rPr lang="en-US" dirty="0"/>
              <a:t>Stored in .github/prompts as *.prompt.md</a:t>
            </a:r>
          </a:p>
          <a:p>
            <a:pPr>
              <a:buNone/>
            </a:pPr>
            <a:r>
              <a:rPr lang="en-US" sz="1100" i="1" dirty="0"/>
              <a:t>[ screenshot: Agent Customizations → Prompts ]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1E0F07-3291-4EE2-1286-04C97165BA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Visual Studio 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F22CC9-1295-2B21-05A9-68A44E669B8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In the solution root, add a .github\prompts folder</a:t>
            </a:r>
          </a:p>
          <a:p>
            <a:r>
              <a:rPr lang="en-US" dirty="0"/>
              <a:t>Add a file named DescriptiveName.prompt.md</a:t>
            </a:r>
          </a:p>
          <a:p>
            <a:r>
              <a:rPr lang="en-US" dirty="0"/>
              <a:t>In Chat, click ➕ → Prompts, or type / to invoke</a:t>
            </a:r>
          </a:p>
          <a:p>
            <a:pPr>
              <a:buNone/>
            </a:pPr>
            <a:r>
              <a:rPr lang="en-US" sz="1100" i="1" dirty="0"/>
              <a:t>[ screenshot: Copilot Chat prompt list 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9F57080-19CA-8BBA-6050-8494551D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GitHub Copilot · Day 2</a:t>
            </a:r>
          </a:p>
        </p:txBody>
      </p:sp>
    </p:spTree>
    <p:extLst>
      <p:ext uri="{BB962C8B-B14F-4D97-AF65-F5344CB8AC3E}">
        <p14:creationId xmlns:p14="http://schemas.microsoft.com/office/powerpoint/2010/main" val="7652109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E45E-D6A7-9780-F652-BAF86DFBC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— YOUR FIRST PROMPT FILE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577A64-4E94-69E1-3180-1E014BD0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19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F22CC9-1295-2B21-05A9-68A44E669B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636295" y="2286000"/>
            <a:ext cx="7525993" cy="3035808"/>
          </a:xfrm>
        </p:spPr>
        <p:txBody>
          <a:bodyPr/>
          <a:lstStyle/>
          <a:p>
            <a:r>
              <a:rPr lang="en-US" dirty="0"/>
              <a:t>Copy the code into a new file.</a:t>
            </a:r>
          </a:p>
          <a:p>
            <a:r>
              <a:rPr lang="en-US" dirty="0"/>
              <a:t>Save as </a:t>
            </a:r>
            <a:r>
              <a:rPr lang="en-US" dirty="0">
                <a:latin typeface="Consolas" panose="020B0609020204030204" pitchFamily="49" charset="0"/>
              </a:rPr>
              <a:t>explain-code.prompt.md</a:t>
            </a:r>
          </a:p>
          <a:p>
            <a:r>
              <a:rPr lang="en-US" dirty="0"/>
              <a:t>Place it in </a:t>
            </a:r>
            <a:r>
              <a:rPr lang="en-US" dirty="0">
                <a:latin typeface="Consolas" panose="020B0609020204030204" pitchFamily="49" charset="0"/>
              </a:rPr>
              <a:t>.github/prompts</a:t>
            </a:r>
            <a:r>
              <a:rPr lang="en-US" dirty="0"/>
              <a:t> at the repo root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9F57080-19CA-8BBA-6050-8494551D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GitHub Copilot · Day 2</a:t>
            </a:r>
          </a:p>
        </p:txBody>
      </p:sp>
    </p:spTree>
    <p:extLst>
      <p:ext uri="{BB962C8B-B14F-4D97-AF65-F5344CB8AC3E}">
        <p14:creationId xmlns:p14="http://schemas.microsoft.com/office/powerpoint/2010/main" val="765210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E45E-D6A7-9780-F652-BAF86DFBC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— TRY IT ON OUR REPO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577A64-4E94-69E1-3180-1E014BD0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605EE-24B6-95D8-DE5E-BEC2F03EC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.NET · Visual Studio 2026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2F651-7ABC-015D-B5C4-622708A64C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Repo: aspnetcore-realworld-example-app</a:t>
            </a:r>
          </a:p>
          <a:p>
            <a:r>
              <a:rPr lang="en-US" dirty="0"/>
              <a:t>Open a controller, e.g. ArticlesController</a:t>
            </a:r>
          </a:p>
          <a:p>
            <a:r>
              <a:rPr lang="en-US" dirty="0"/>
              <a:t>Run /explain-code and paste the class</a:t>
            </a:r>
          </a:p>
          <a:p>
            <a:r>
              <a:rPr lang="en-US" dirty="0"/>
              <a:t>Audience: a new team member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1E0F07-3291-4EE2-1286-04C97165BA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Angular · VS Code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F22CC9-1295-2B21-05A9-68A44E669B8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Repo: angular-realworld-example-app</a:t>
            </a:r>
          </a:p>
          <a:p>
            <a:r>
              <a:rPr lang="en-US" dirty="0"/>
              <a:t>Open a service, e.g. articles.service.ts</a:t>
            </a:r>
          </a:p>
          <a:p>
            <a:r>
              <a:rPr lang="en-US" dirty="0"/>
              <a:t>Run /explain-code and paste the service</a:t>
            </a:r>
          </a:p>
          <a:p>
            <a:r>
              <a:rPr lang="en-US" dirty="0"/>
              <a:t>Audience: a junior Angular dev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9F57080-19CA-8BBA-6050-8494551D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GitHub Copilot · Day 2</a:t>
            </a:r>
          </a:p>
        </p:txBody>
      </p:sp>
    </p:spTree>
    <p:extLst>
      <p:ext uri="{BB962C8B-B14F-4D97-AF65-F5344CB8AC3E}">
        <p14:creationId xmlns:p14="http://schemas.microsoft.com/office/powerpoint/2010/main" val="7652109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E45E-D6A7-9780-F652-BAF86DFBC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— RUN /explain-code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577A64-4E94-69E1-3180-1E014BD0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21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605EE-24B6-95D8-DE5E-BEC2F03EC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Studio Code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2F651-7ABC-015D-B5C4-622708A64C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Open the Copilot Chat view</a:t>
            </a:r>
          </a:p>
          <a:p>
            <a:r>
              <a:rPr lang="en-US" dirty="0"/>
              <a:t>Type </a:t>
            </a:r>
            <a:r>
              <a:rPr lang="en-US" dirty="0">
                <a:latin typeface="Consolas" panose="020B0609020204030204" pitchFamily="49" charset="0"/>
              </a:rPr>
              <a:t>/explain-code</a:t>
            </a:r>
            <a:r>
              <a:rPr lang="en-US" dirty="0"/>
              <a:t> and press Enter</a:t>
            </a:r>
          </a:p>
          <a:p>
            <a:r>
              <a:rPr lang="en-US" dirty="0"/>
              <a:t>Copilot switches to agent mode and asks for the inputs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1E0F07-3291-4EE2-1286-04C97165BA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Visual Studio 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F22CC9-1295-2B21-05A9-68A44E669B8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Open Copilot Chat (Ctrl+\, C)</a:t>
            </a:r>
          </a:p>
          <a:p>
            <a:r>
              <a:rPr lang="en-US" dirty="0"/>
              <a:t>Type / and pick explain-code (bookmark icon)</a:t>
            </a:r>
          </a:p>
          <a:p>
            <a:r>
              <a:rPr lang="en-US" dirty="0"/>
              <a:t>Enter the code and audience when prompted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9F57080-19CA-8BBA-6050-8494551D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GitHub Copilot · Day 2</a:t>
            </a:r>
          </a:p>
        </p:txBody>
      </p:sp>
    </p:spTree>
    <p:extLst>
      <p:ext uri="{BB962C8B-B14F-4D97-AF65-F5344CB8AC3E}">
        <p14:creationId xmlns:p14="http://schemas.microsoft.com/office/powerpoint/2010/main" val="7652109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5BC92-868A-26B2-CBC0-C9D94E65F1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  <a:ea typeface="Verdana" panose="020B0604030504040204" pitchFamily="34" charset="0"/>
                <a:cs typeface="Verdana" panose="020B0604030504040204" pitchFamily="34" charset="0"/>
              </a:rPr>
              <a:t>FURTHER READING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9C1627-7A56-025E-482D-E2AB014EDF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VS Code: </a:t>
            </a: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  <a:hlinkClick r:id="rId2" action="ppaction://hlinkfile"/>
              </a:rPr>
              <a:t>code.visualstudio.com/docs/copilot/customization/prompt-files</a:t>
            </a: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  ·  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</a:rPr>
              <a:t>Visual Studio: </a:t>
            </a: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ea typeface="+mn-lt"/>
                <a:cs typeface="Segoe UI Light" panose="020B0502040204020203" pitchFamily="34" charset="0"/>
                <a:hlinkClick r:id="rId3" action="ppaction://hlinkfile"/>
              </a:rPr>
              <a:t>learn.microsoft.com/visualstudio/ide/copilot-chat-context</a:t>
            </a:r>
            <a:endParaRPr lang="en-US" sz="1800" dirty="0">
              <a:solidFill>
                <a:schemeClr val="bg1"/>
              </a:solidFill>
              <a:latin typeface="Segoe UI Light" panose="020B0502040204020203" pitchFamily="34" charset="0"/>
              <a:ea typeface="+mn-lt"/>
              <a:cs typeface="Segoe UI Light" panose="020B0502040204020203" pitchFamily="34" charset="0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7596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Copilot Chat Sessions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b="0" dirty="0"/>
              <a:t>A session </a:t>
            </a:r>
            <a:r>
              <a:rPr lang="en-US" b="0" dirty="0"/>
              <a:t>in Copilot </a:t>
            </a:r>
            <a:r>
              <a:rPr b="0" dirty="0"/>
              <a:t>is one conversation between you and </a:t>
            </a:r>
            <a:r>
              <a:rPr lang="en-US" b="0" dirty="0"/>
              <a:t>it</a:t>
            </a:r>
          </a:p>
          <a:p>
            <a:r>
              <a:rPr b="0" dirty="0"/>
              <a:t>You can run several sessions in parallel, each on a different task</a:t>
            </a:r>
            <a:r>
              <a:rPr lang="en-US" b="0" dirty="0"/>
              <a:t>, and switch between them.</a:t>
            </a:r>
            <a:endParaRPr b="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352D150-4A2D-8BBE-320E-05B1372A8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0448" y="1242822"/>
            <a:ext cx="7735824" cy="1069848"/>
          </a:xfrm>
        </p:spPr>
        <p:txBody>
          <a:bodyPr/>
          <a:lstStyle/>
          <a:p>
            <a:r>
              <a:rPr lang="en-US" dirty="0"/>
              <a:t>Session settings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2481F65-D945-2285-9DB6-D7276B3ADB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2880360"/>
            <a:ext cx="7735824" cy="1938528"/>
          </a:xfrm>
        </p:spPr>
        <p:txBody>
          <a:bodyPr/>
          <a:lstStyle/>
          <a:p>
            <a:pPr algn="l"/>
            <a:r>
              <a:rPr lang="en-US" b="1" dirty="0"/>
              <a:t>A session is configured by three selections:</a:t>
            </a:r>
          </a:p>
          <a:p>
            <a:pPr algn="l"/>
            <a:endParaRPr lang="en-US" b="1" dirty="0"/>
          </a:p>
          <a:p>
            <a:pPr lvl="1" algn="l"/>
            <a:r>
              <a:rPr lang="en-US" b="1" dirty="0"/>
              <a:t>Session type </a:t>
            </a:r>
            <a:r>
              <a:rPr lang="en-US" dirty="0"/>
              <a:t>— where it runs (Local / CLI / Cloud)</a:t>
            </a:r>
          </a:p>
          <a:p>
            <a:pPr lvl="1" algn="l"/>
            <a:endParaRPr lang="en-US" dirty="0"/>
          </a:p>
          <a:p>
            <a:pPr lvl="1" algn="l"/>
            <a:r>
              <a:rPr lang="en-US" b="1" dirty="0"/>
              <a:t>Agent </a:t>
            </a:r>
            <a:r>
              <a:rPr lang="en-US" dirty="0"/>
              <a:t>— the role Copilot adopts (Ask, Plan, Agent, custom…)</a:t>
            </a:r>
          </a:p>
          <a:p>
            <a:pPr lvl="1" algn="l"/>
            <a:endParaRPr lang="en-US" dirty="0"/>
          </a:p>
          <a:p>
            <a:pPr lvl="1" algn="l"/>
            <a:r>
              <a:rPr lang="en-US" b="1" dirty="0"/>
              <a:t>Model </a:t>
            </a:r>
            <a:r>
              <a:rPr lang="en-US" dirty="0"/>
              <a:t>— which AI model powers the conversation</a:t>
            </a:r>
          </a:p>
          <a:p>
            <a:pPr algn="l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8E2AE0-E8AD-54B4-146D-E615A490339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411163"/>
            <a:ext cx="522288" cy="311150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4EDC5A-D73F-975F-D8AD-8DA8338F412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191250"/>
            <a:ext cx="2332038" cy="273050"/>
          </a:xfrm>
        </p:spPr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8233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Types: Where Does It Run?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Local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wrap="square"/>
          <a:lstStyle/>
          <a:p>
            <a:r>
              <a:rPr b="0" dirty="0"/>
              <a:t>Runs inside your IDE on the open workspace files.</a:t>
            </a:r>
          </a:p>
          <a:p>
            <a:r>
              <a:rPr b="0" dirty="0"/>
              <a:t>Edits stream into the editor; you approve tools interactively.</a:t>
            </a:r>
          </a:p>
          <a:p>
            <a:r>
              <a:rPr b="0" dirty="0"/>
              <a:t>Best for hands-on, iterative work.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CLI (background)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 wrap="square"/>
          <a:lstStyle/>
          <a:p>
            <a:r>
              <a:rPr b="0"/>
              <a:t>Runs Copilot CLI as a background process, usually in an isolated Git worktree.</a:t>
            </a:r>
          </a:p>
          <a:p>
            <a:r>
              <a:rPr b="0"/>
              <a:t>Your working files stay untouched while it runs.</a:t>
            </a:r>
          </a:p>
          <a:p>
            <a:r>
              <a:rPr b="0"/>
              <a:t>Monitor from the sessions list.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Cloud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/>
        <p:txBody>
          <a:bodyPr wrap="square"/>
          <a:lstStyle/>
          <a:p>
            <a:r>
              <a:rPr b="0"/>
              <a:t>Runs on GitHub's infrastructure against a repository.</a:t>
            </a:r>
          </a:p>
          <a:p>
            <a:r>
              <a:rPr b="0"/>
              <a:t>Works autonomously, even with your machine off.</a:t>
            </a:r>
          </a:p>
          <a:p>
            <a:r>
              <a:rPr b="0"/>
              <a:t>Delivers results as issues and pull requests.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an </a:t>
            </a:r>
            <a:r>
              <a:rPr lang="en-US" dirty="0"/>
              <a:t>"</a:t>
            </a:r>
            <a:r>
              <a:rPr dirty="0"/>
              <a:t>Agent</a:t>
            </a:r>
            <a:r>
              <a:rPr lang="en-US" dirty="0"/>
              <a:t>"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753612"/>
          </a:xfrm>
        </p:spPr>
        <p:txBody>
          <a:bodyPr wrap="square"/>
          <a:lstStyle/>
          <a:p>
            <a:pPr marL="0" indent="0">
              <a:buNone/>
            </a:pPr>
            <a:r>
              <a:rPr sz="1800" b="0" dirty="0"/>
              <a:t>An agent is </a:t>
            </a:r>
            <a:r>
              <a:rPr lang="en-US" sz="1800" b="0" dirty="0"/>
              <a:t>a </a:t>
            </a:r>
            <a:r>
              <a:rPr sz="1800" b="0" dirty="0"/>
              <a:t>persona and configuration </a:t>
            </a:r>
            <a:r>
              <a:rPr lang="en-US" sz="1800" b="0" dirty="0"/>
              <a:t>for </a:t>
            </a:r>
            <a:r>
              <a:rPr sz="1800" b="0" dirty="0"/>
              <a:t>Copilot </a:t>
            </a:r>
            <a:r>
              <a:rPr lang="en-US" sz="1800" b="0" dirty="0"/>
              <a:t>behavior.</a:t>
            </a:r>
          </a:p>
          <a:p>
            <a:endParaRPr sz="1800" b="0" dirty="0"/>
          </a:p>
          <a:p>
            <a:pPr>
              <a:buNone/>
            </a:pPr>
            <a:r>
              <a:rPr sz="1800" b="1" dirty="0"/>
              <a:t>An agent is made of:</a:t>
            </a:r>
            <a:endParaRPr lang="en-US" sz="1800" b="1" dirty="0"/>
          </a:p>
          <a:p>
            <a:pPr>
              <a:buNone/>
            </a:pPr>
            <a:endParaRPr sz="1800" b="1" dirty="0"/>
          </a:p>
          <a:p>
            <a:pPr lvl="1"/>
            <a:r>
              <a:rPr sz="1600" b="1" dirty="0"/>
              <a:t>Instructions </a:t>
            </a:r>
            <a:r>
              <a:rPr sz="1600" b="0" dirty="0"/>
              <a:t>— a prompt describing the role, rules, and workflow</a:t>
            </a:r>
          </a:p>
          <a:p>
            <a:pPr lvl="1"/>
            <a:r>
              <a:rPr sz="1600" b="1" dirty="0"/>
              <a:t>Tools </a:t>
            </a:r>
            <a:r>
              <a:rPr sz="1600" b="0" dirty="0"/>
              <a:t>— the capabilities it may use (read, edit, terminal, MCP…)</a:t>
            </a:r>
          </a:p>
          <a:p>
            <a:pPr lvl="1"/>
            <a:r>
              <a:rPr sz="1600" b="1" dirty="0"/>
              <a:t>Model </a:t>
            </a:r>
            <a:r>
              <a:rPr sz="1600" b="0" dirty="0"/>
              <a:t>(optional) — a preferred model; otherwise the picker selection</a:t>
            </a:r>
          </a:p>
          <a:p>
            <a:pPr lvl="1"/>
            <a:r>
              <a:rPr sz="1600" b="1" dirty="0"/>
              <a:t>Extras </a:t>
            </a:r>
            <a:r>
              <a:rPr sz="1600" b="0" dirty="0"/>
              <a:t>— handoffs to other agents, subagents, hooks (VS Code)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 b="0" dirty="0"/>
              <a:t>Question &amp; answer mode: ask coding questions in natural language, grounded in your development context.</a:t>
            </a:r>
            <a:endParaRPr lang="en-US" sz="1800" b="0" dirty="0"/>
          </a:p>
          <a:p>
            <a:endParaRPr sz="1800" b="0" dirty="0"/>
          </a:p>
          <a:p>
            <a:r>
              <a:rPr sz="1800" b="0" dirty="0"/>
              <a:t>Never edits code on its own — changes apply only via Copy, Insert in new file, or Apply/Preview (shown as a diff).</a:t>
            </a:r>
            <a:endParaRPr lang="en-US" sz="1800" b="0" dirty="0"/>
          </a:p>
          <a:p>
            <a:endParaRPr sz="1800" b="0" dirty="0"/>
          </a:p>
          <a:p>
            <a:r>
              <a:rPr sz="1800" b="0" dirty="0"/>
              <a:t>Great for explaining code, syntax and concept questions, exploring options, and generating snippets to review first.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BCBD97-495C-FA04-A577-8FF8BF6D7710}"/>
              </a:ext>
            </a:extLst>
          </p:cNvPr>
          <p:cNvSpPr txBox="1">
            <a:spLocks/>
          </p:cNvSpPr>
          <p:nvPr/>
        </p:nvSpPr>
        <p:spPr>
          <a:xfrm>
            <a:off x="8806688" y="1901952"/>
            <a:ext cx="2456688" cy="2549652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vert="horz" wrap="square" lIns="91440" tIns="45720" rIns="91440" bIns="45720" rtlCol="0">
            <a:noAutofit/>
          </a:bodyPr>
          <a:lstStyle>
            <a:lvl1pPr marL="347472" indent="-347472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Use Ask to research new codebases and when you want full manual control over every change.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Plan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 b="0" dirty="0"/>
              <a:t>Creates and refines an implementation plan before any code changes.</a:t>
            </a:r>
          </a:p>
          <a:p>
            <a:r>
              <a:rPr sz="1800" b="0" dirty="0"/>
              <a:t>Explores the codebase with read-only tools and asks clarifying questions.</a:t>
            </a:r>
          </a:p>
          <a:p>
            <a:r>
              <a:rPr sz="1800" b="1" dirty="0"/>
              <a:t>The plan is saved as Markdown (.copilot/plans/) — refine it in chat or edit the file.</a:t>
            </a:r>
          </a:p>
          <a:p>
            <a:r>
              <a:rPr sz="1800" b="0" dirty="0"/>
              <a:t>When </a:t>
            </a:r>
            <a:r>
              <a:rPr lang="en-US" sz="1800" b="0" dirty="0"/>
              <a:t>satisfied</a:t>
            </a:r>
            <a:r>
              <a:rPr sz="1800" b="0" dirty="0"/>
              <a:t>, select </a:t>
            </a:r>
            <a:r>
              <a:rPr lang="en-US" sz="1800" b="0" dirty="0"/>
              <a:t>"</a:t>
            </a:r>
            <a:r>
              <a:rPr sz="1800" b="0" dirty="0"/>
              <a:t>Implement plan</a:t>
            </a:r>
            <a:r>
              <a:rPr lang="en-US" sz="1800" b="0" dirty="0"/>
              <a:t>"</a:t>
            </a:r>
            <a:r>
              <a:rPr sz="1800" b="0" dirty="0"/>
              <a:t> to hand off to the Agent.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67D2F0D-9564-0B38-1CDB-4D0841FF74BB}"/>
              </a:ext>
            </a:extLst>
          </p:cNvPr>
          <p:cNvSpPr txBox="1">
            <a:spLocks/>
          </p:cNvSpPr>
          <p:nvPr/>
        </p:nvSpPr>
        <p:spPr>
          <a:xfrm>
            <a:off x="8806688" y="1901952"/>
            <a:ext cx="2456688" cy="2549652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vert="horz" wrap="square" lIns="91440" tIns="45720" rIns="91440" bIns="45720" rtlCol="0">
            <a:noAutofit/>
          </a:bodyPr>
          <a:lstStyle>
            <a:lvl1pPr marL="347472" indent="-347472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Use Plan for big features, or </a:t>
            </a:r>
            <a:r>
              <a:rPr lang="en-US" sz="1800" b="1" dirty="0" err="1"/>
              <a:t>refactorings</a:t>
            </a:r>
            <a:r>
              <a:rPr lang="en-US" sz="1800" b="1" dirty="0"/>
              <a:t> and unfamiliar codebases.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Agent (Agent Mode)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 b="0" dirty="0"/>
              <a:t>Give a high-level task; the agent plans the steps, edits files, runs terminal commands, and invokes tools.</a:t>
            </a:r>
          </a:p>
          <a:p>
            <a:r>
              <a:rPr sz="1800" b="0" dirty="0"/>
              <a:t>Monitors outcomes — builds, failing tests, tool output — and iterates until done or it needs input.</a:t>
            </a:r>
          </a:p>
          <a:p>
            <a:r>
              <a:rPr sz="1800" b="0" dirty="0"/>
              <a:t>Tools include built-in tools, MCP servers, and skills. You approve terminal commands and non-built-in tools.</a:t>
            </a:r>
          </a:p>
          <a:p>
            <a:r>
              <a:rPr sz="1800" b="0" dirty="0"/>
              <a:t>Stay in control: review diffs per file, Keep/Undo changes, or Restore to a checkpoint.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3A43FAE-CB5F-E74B-6166-A9D2AFFEAC9B}"/>
              </a:ext>
            </a:extLst>
          </p:cNvPr>
          <p:cNvSpPr txBox="1">
            <a:spLocks/>
          </p:cNvSpPr>
          <p:nvPr/>
        </p:nvSpPr>
        <p:spPr>
          <a:xfrm>
            <a:off x="8804148" y="2212848"/>
            <a:ext cx="2456688" cy="2549652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vert="horz" wrap="square" lIns="91440" tIns="45720" rIns="91440" bIns="45720" rtlCol="0">
            <a:noAutofit/>
          </a:bodyPr>
          <a:lstStyle>
            <a:lvl1pPr marL="347472" indent="-347472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Use Agent after you’ve implemented the techniques we’ll learn in the course.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96BCD-D2DB-16D4-C733-6AC8040BA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AB0C6-2253-077C-F9BD-AF93FFE32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Specialized Agents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142CD-FD83-3B5E-B429-8026995BE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30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647F51-3C27-3E6D-09C3-73BFA64885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Debug &amp; optimize</a:t>
            </a:r>
          </a:p>
          <a:p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41809F7-BBC4-8480-4767-C89912FF816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@debugger</a:t>
            </a:r>
            <a:r>
              <a:rPr lang="en-US" dirty="0"/>
              <a:t> — diagnoses errors using call stacks, variables, and diagnostics</a:t>
            </a:r>
          </a:p>
          <a:p>
            <a:endParaRPr lang="en-US" dirty="0"/>
          </a:p>
          <a:p>
            <a:r>
              <a:rPr lang="en-US" b="1" dirty="0"/>
              <a:t>@profiler</a:t>
            </a:r>
            <a:r>
              <a:rPr lang="en-US" dirty="0"/>
              <a:t> — connects to VS profiling tools to find bottlenecks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5ECEAA-99D1-B428-3AC7-4F450D69A3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Test &amp; modernize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0AFB721-9FAF-9694-0BB0-1914F822F64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b="1" dirty="0"/>
              <a:t>@test</a:t>
            </a:r>
            <a:r>
              <a:rPr lang="en-US" dirty="0"/>
              <a:t> — generates unit tests matching your framework and conventions</a:t>
            </a:r>
          </a:p>
          <a:p>
            <a:endParaRPr lang="en-US" dirty="0"/>
          </a:p>
          <a:p>
            <a:r>
              <a:rPr lang="en-US" b="1" dirty="0"/>
              <a:t>@modernize</a:t>
            </a:r>
            <a:r>
              <a:rPr lang="en-US" dirty="0"/>
              <a:t> — (.NET &amp; C++) upgrades frameworks and dependencies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A99FCD5-3E3A-0396-911A-B5C6254759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Ship &amp; collaborate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69C2FE2-3972-06A1-2576-C84852BEC06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3068680" cy="2578608"/>
          </a:xfrm>
        </p:spPr>
        <p:txBody>
          <a:bodyPr/>
          <a:lstStyle/>
          <a:p>
            <a:r>
              <a:rPr lang="en-US" b="1" dirty="0"/>
              <a:t>@git</a:t>
            </a:r>
            <a:r>
              <a:rPr lang="en-US" dirty="0"/>
              <a:t> — generate commit messages and review local changes</a:t>
            </a:r>
          </a:p>
          <a:p>
            <a:endParaRPr lang="en-US" dirty="0"/>
          </a:p>
          <a:p>
            <a:r>
              <a:rPr lang="en-US" b="1" dirty="0"/>
              <a:t>@cloud</a:t>
            </a:r>
            <a:r>
              <a:rPr lang="en-US" dirty="0"/>
              <a:t> — start remote coding-agent sessions; create issues and PRs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A841F5-A14D-977E-3B5D-E312EC126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A67138-EA9C-EF0F-AD6A-27615C45A334}"/>
              </a:ext>
            </a:extLst>
          </p:cNvPr>
          <p:cNvSpPr txBox="1"/>
          <p:nvPr/>
        </p:nvSpPr>
        <p:spPr>
          <a:xfrm>
            <a:off x="1725168" y="5571482"/>
            <a:ext cx="8519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Courier New" panose="02070309020205020404" pitchFamily="49" charset="0"/>
              <a:buNone/>
            </a:pPr>
            <a:r>
              <a:rPr lang="en-US" dirty="0">
                <a:solidFill>
                  <a:schemeClr val="accent6">
                    <a:lumMod val="90000"/>
                  </a:schemeClr>
                </a:solidFill>
              </a:rPr>
              <a:t>Visual Studio only.  Invoke via the agent picker or by typing @ + agent name.</a:t>
            </a:r>
          </a:p>
        </p:txBody>
      </p:sp>
    </p:spTree>
    <p:extLst>
      <p:ext uri="{BB962C8B-B14F-4D97-AF65-F5344CB8AC3E}">
        <p14:creationId xmlns:p14="http://schemas.microsoft.com/office/powerpoint/2010/main" val="6717477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Hands-On: Build a Unit-Testing Agent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6192" y="3137916"/>
            <a:ext cx="3621024" cy="493776"/>
          </a:xfrm>
        </p:spPr>
        <p:txBody>
          <a:bodyPr/>
          <a:lstStyle/>
          <a:p>
            <a:r>
              <a:rPr dirty="0"/>
              <a:t>Visual Studio 2026 track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6192" y="3695700"/>
            <a:ext cx="3621024" cy="2578608"/>
          </a:xfrm>
        </p:spPr>
        <p:txBody>
          <a:bodyPr wrap="square"/>
          <a:lstStyle/>
          <a:p>
            <a:r>
              <a:rPr b="0" dirty="0"/>
              <a:t>Repo: </a:t>
            </a:r>
            <a:r>
              <a:rPr b="0" dirty="0" err="1"/>
              <a:t>aspnetcore</a:t>
            </a:r>
            <a:r>
              <a:rPr b="0" dirty="0"/>
              <a:t>-</a:t>
            </a:r>
            <a:r>
              <a:rPr b="0" dirty="0" err="1"/>
              <a:t>realworld</a:t>
            </a:r>
            <a:r>
              <a:rPr b="0" dirty="0"/>
              <a:t>-example-app</a:t>
            </a:r>
          </a:p>
          <a:p>
            <a:r>
              <a:rPr b="0" dirty="0"/>
              <a:t>Stack: C#, </a:t>
            </a:r>
            <a:r>
              <a:rPr b="0" dirty="0" err="1"/>
              <a:t>xUnit</a:t>
            </a:r>
            <a:r>
              <a:rPr b="0" dirty="0"/>
              <a:t>, </a:t>
            </a:r>
            <a:r>
              <a:rPr b="0" dirty="0" err="1"/>
              <a:t>Moq</a:t>
            </a:r>
            <a:endParaRPr b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41264" y="3137916"/>
            <a:ext cx="3621024" cy="493776"/>
          </a:xfrm>
        </p:spPr>
        <p:txBody>
          <a:bodyPr/>
          <a:lstStyle/>
          <a:p>
            <a:r>
              <a:t>VS Code track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41264" y="3695700"/>
            <a:ext cx="3621024" cy="2578608"/>
          </a:xfrm>
        </p:spPr>
        <p:txBody>
          <a:bodyPr wrap="square"/>
          <a:lstStyle/>
          <a:p>
            <a:r>
              <a:rPr b="0" dirty="0"/>
              <a:t>Repo: angular-</a:t>
            </a:r>
            <a:r>
              <a:rPr b="0" dirty="0" err="1"/>
              <a:t>realworld</a:t>
            </a:r>
            <a:r>
              <a:rPr b="0" dirty="0"/>
              <a:t>-example-app</a:t>
            </a:r>
          </a:p>
          <a:p>
            <a:r>
              <a:rPr b="0" dirty="0"/>
              <a:t>Stack: Angular, </a:t>
            </a:r>
            <a:r>
              <a:rPr b="0" dirty="0" err="1"/>
              <a:t>Vitest</a:t>
            </a:r>
            <a:r>
              <a:rPr b="0" dirty="0"/>
              <a:t>, </a:t>
            </a:r>
            <a:r>
              <a:rPr b="0" dirty="0" err="1"/>
              <a:t>TestBed</a:t>
            </a:r>
            <a:r>
              <a:rPr b="0" dirty="0"/>
              <a:t>, ng-mocks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D92D6884-83BB-C0CB-B365-B3AD1E708920}"/>
              </a:ext>
            </a:extLst>
          </p:cNvPr>
          <p:cNvSpPr txBox="1">
            <a:spLocks/>
          </p:cNvSpPr>
          <p:nvPr/>
        </p:nvSpPr>
        <p:spPr>
          <a:xfrm>
            <a:off x="1612392" y="2034540"/>
            <a:ext cx="7549896" cy="83210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accent6">
                    <a:lumMod val="90000"/>
                  </a:schemeClr>
                </a:solidFill>
              </a:rPr>
              <a:t>Goal: cover a given method with high-quality unit tests.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90000"/>
                  </a:schemeClr>
                </a:solidFill>
              </a:rPr>
              <a:t>5 steps, one per slide — the same .agent.md format works in both IDEs.</a:t>
            </a:r>
          </a:p>
          <a:p>
            <a:pPr marL="0" indent="0">
              <a:buNone/>
            </a:pPr>
            <a:endParaRPr lang="en-US" dirty="0">
              <a:solidFill>
                <a:schemeClr val="accent6">
                  <a:lumMod val="9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 — Create the Agent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4401312"/>
          </a:xfrm>
        </p:spPr>
        <p:txBody>
          <a:bodyPr wrap="square"/>
          <a:lstStyle/>
          <a:p>
            <a:r>
              <a:rPr sz="2000" b="0" dirty="0"/>
              <a:t>Custom agents are Markdown files named *.agent.md under .</a:t>
            </a:r>
            <a:r>
              <a:rPr sz="2000" b="0" dirty="0" err="1"/>
              <a:t>github</a:t>
            </a:r>
            <a:r>
              <a:rPr sz="2000" b="0" dirty="0"/>
              <a:t>/agents/.</a:t>
            </a:r>
          </a:p>
          <a:p>
            <a:pPr>
              <a:buNone/>
            </a:pPr>
            <a:r>
              <a:rPr sz="2000" b="1" dirty="0"/>
              <a:t>Visual Studio 2026</a:t>
            </a:r>
            <a:endParaRPr lang="en-US" sz="2000" b="1" dirty="0"/>
          </a:p>
          <a:p>
            <a:pPr lvl="1"/>
            <a:r>
              <a:rPr lang="en-US" sz="1800" b="0" dirty="0"/>
              <a:t>In Solution Explorer, create .</a:t>
            </a:r>
            <a:r>
              <a:rPr lang="en-US" sz="1800" b="0" dirty="0" err="1"/>
              <a:t>github</a:t>
            </a:r>
            <a:r>
              <a:rPr lang="en-US" sz="1800" b="0" dirty="0"/>
              <a:t>/agents/unit-tester.agent.md</a:t>
            </a:r>
          </a:p>
          <a:p>
            <a:pPr lvl="1"/>
            <a:r>
              <a:rPr sz="1800" b="0" dirty="0"/>
              <a:t>User-level agents live in %USERPROFILE%\.</a:t>
            </a:r>
            <a:r>
              <a:rPr sz="1800" b="0" dirty="0" err="1"/>
              <a:t>github</a:t>
            </a:r>
            <a:r>
              <a:rPr sz="1800" b="0" dirty="0"/>
              <a:t>\agents</a:t>
            </a:r>
          </a:p>
          <a:p>
            <a:pPr>
              <a:buNone/>
            </a:pPr>
            <a:r>
              <a:rPr sz="2000" b="1" dirty="0"/>
              <a:t>VS Code</a:t>
            </a:r>
          </a:p>
          <a:p>
            <a:pPr lvl="1"/>
            <a:r>
              <a:rPr sz="1800" b="0" dirty="0"/>
              <a:t>Run “Chat: New Custom Agent” or type /agents → New Agent (Workspace).</a:t>
            </a:r>
          </a:p>
          <a:p>
            <a:pPr lvl="1"/>
            <a:r>
              <a:rPr sz="1800" b="0" dirty="0"/>
              <a:t>Name it unit-tester; VS Code creates the .agent.md file for you.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 — Define the Frontmatter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6192" y="2212848"/>
            <a:ext cx="6706108" cy="1216152"/>
          </a:xfrm>
        </p:spPr>
        <p:txBody>
          <a:bodyPr wrap="square"/>
          <a:lstStyle/>
          <a:p>
            <a:r>
              <a:rPr sz="2000" b="0" dirty="0"/>
              <a:t>The YAML header declares name, description, and allowed tools: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077F882-CFB2-68F4-25BF-9DB1FE09D9C2}"/>
              </a:ext>
            </a:extLst>
          </p:cNvPr>
          <p:cNvSpPr txBox="1">
            <a:spLocks/>
          </p:cNvSpPr>
          <p:nvPr/>
        </p:nvSpPr>
        <p:spPr>
          <a:xfrm>
            <a:off x="2348992" y="3114548"/>
            <a:ext cx="6422136" cy="210210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347472" indent="-347472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None/>
            </a:pPr>
            <a:r>
              <a:rPr lang="en-US" sz="1200" dirty="0">
                <a:latin typeface="Consolas"/>
              </a:rPr>
              <a:t>---</a:t>
            </a:r>
          </a:p>
          <a:p>
            <a:pPr>
              <a:buFont typeface="Courier New" panose="02070309020205020404" pitchFamily="49" charset="0"/>
              <a:buNone/>
            </a:pPr>
            <a:r>
              <a:rPr lang="en-US" sz="1200" dirty="0">
                <a:latin typeface="Consolas"/>
              </a:rPr>
              <a:t>name: Unit Tester</a:t>
            </a:r>
          </a:p>
          <a:p>
            <a:pPr>
              <a:buFont typeface="Courier New" panose="02070309020205020404" pitchFamily="49" charset="0"/>
              <a:buNone/>
            </a:pPr>
            <a:r>
              <a:rPr lang="en-US" sz="1200" dirty="0">
                <a:latin typeface="Consolas"/>
              </a:rPr>
              <a:t>description: Cover a function or method with unit tests</a:t>
            </a:r>
          </a:p>
          <a:p>
            <a:pPr>
              <a:buFont typeface="Courier New" panose="02070309020205020404" pitchFamily="49" charset="0"/>
              <a:buNone/>
            </a:pPr>
            <a:r>
              <a:rPr lang="en-US" sz="1200" dirty="0">
                <a:latin typeface="Consolas"/>
              </a:rPr>
              <a:t>tools: ['search', 'edit', '</a:t>
            </a:r>
            <a:r>
              <a:rPr lang="en-US" sz="1200" dirty="0" err="1">
                <a:latin typeface="Consolas"/>
              </a:rPr>
              <a:t>runCommands</a:t>
            </a:r>
            <a:r>
              <a:rPr lang="en-US" sz="1200" dirty="0">
                <a:latin typeface="Consolas"/>
              </a:rPr>
              <a:t>']   # VS Code</a:t>
            </a:r>
          </a:p>
          <a:p>
            <a:pPr>
              <a:buFont typeface="Courier New" panose="02070309020205020404" pitchFamily="49" charset="0"/>
              <a:buNone/>
            </a:pPr>
            <a:r>
              <a:rPr lang="en-US" sz="1200" dirty="0">
                <a:latin typeface="Consolas"/>
              </a:rPr>
              <a:t>---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192C4FA-4592-25A2-8AE5-1BCA8F87F5B2}"/>
              </a:ext>
            </a:extLst>
          </p:cNvPr>
          <p:cNvSpPr txBox="1">
            <a:spLocks/>
          </p:cNvSpPr>
          <p:nvPr/>
        </p:nvSpPr>
        <p:spPr>
          <a:xfrm>
            <a:off x="1536192" y="5216652"/>
            <a:ext cx="6422136" cy="1180592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347472" indent="-347472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accent6">
                    <a:lumMod val="90000"/>
                  </a:schemeClr>
                </a:solidFill>
              </a:rPr>
              <a:t>Tool names differ per IDE — click the Tools icon in chat to see the exact names. Keep the list minimal.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 — Write the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b="0" dirty="0"/>
              <a:t>Below the frontmatter, write the testing rules in Markdown:</a:t>
            </a:r>
          </a:p>
          <a:p>
            <a:endParaRPr lang="en-US" b="0" dirty="0"/>
          </a:p>
          <a:p>
            <a:endParaRPr lang="en-US" dirty="0"/>
          </a:p>
          <a:p>
            <a:endParaRPr lang="en-US" b="0" dirty="0"/>
          </a:p>
          <a:p>
            <a:r>
              <a:rPr b="0" dirty="0"/>
              <a:t>Specific, checkable rules beat vague ones — a numbered checklist the agent must complete.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53FDD9-0A99-E119-3E1E-F1B9DC39AA4A}"/>
              </a:ext>
            </a:extLst>
          </p:cNvPr>
          <p:cNvSpPr txBox="1">
            <a:spLocks/>
          </p:cNvSpPr>
          <p:nvPr/>
        </p:nvSpPr>
        <p:spPr>
          <a:xfrm>
            <a:off x="2425192" y="3429000"/>
            <a:ext cx="6422136" cy="210210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347472" indent="-347472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1200" dirty="0">
                <a:latin typeface="Consolas"/>
              </a:rPr>
              <a:t>1. Read the method and its dependencies first.</a:t>
            </a:r>
          </a:p>
          <a:p>
            <a:pPr>
              <a:buNone/>
            </a:pPr>
            <a:r>
              <a:rPr lang="en-US" sz="1200" dirty="0">
                <a:latin typeface="Consolas"/>
              </a:rPr>
              <a:t>2. Use </a:t>
            </a:r>
            <a:r>
              <a:rPr lang="en-US" sz="1200" dirty="0" err="1">
                <a:latin typeface="Consolas"/>
              </a:rPr>
              <a:t>xUnit</a:t>
            </a:r>
            <a:r>
              <a:rPr lang="en-US" sz="1200" dirty="0">
                <a:latin typeface="Consolas"/>
              </a:rPr>
              <a:t> + </a:t>
            </a:r>
            <a:r>
              <a:rPr lang="en-US" sz="1200" dirty="0" err="1">
                <a:latin typeface="Consolas"/>
              </a:rPr>
              <a:t>Moq</a:t>
            </a:r>
            <a:r>
              <a:rPr lang="en-US" sz="1200" dirty="0">
                <a:latin typeface="Consolas"/>
              </a:rPr>
              <a:t> (VS) / </a:t>
            </a:r>
            <a:r>
              <a:rPr lang="en-US" sz="1200" dirty="0" err="1">
                <a:latin typeface="Consolas"/>
              </a:rPr>
              <a:t>Vitest</a:t>
            </a:r>
            <a:r>
              <a:rPr lang="en-US" sz="1200" dirty="0">
                <a:latin typeface="Consolas"/>
              </a:rPr>
              <a:t> + </a:t>
            </a:r>
            <a:r>
              <a:rPr lang="en-US" sz="1200" dirty="0" err="1">
                <a:latin typeface="Consolas"/>
              </a:rPr>
              <a:t>TestBed</a:t>
            </a:r>
            <a:r>
              <a:rPr lang="en-US" sz="1200" dirty="0">
                <a:latin typeface="Consolas"/>
              </a:rPr>
              <a:t> + ng-mocks (VS Code).</a:t>
            </a:r>
          </a:p>
          <a:p>
            <a:pPr>
              <a:buNone/>
            </a:pPr>
            <a:r>
              <a:rPr lang="en-US" sz="1200" dirty="0">
                <a:latin typeface="Consolas"/>
              </a:rPr>
              <a:t>3. Arrange-Act-Assert; one behavior per test.</a:t>
            </a:r>
          </a:p>
          <a:p>
            <a:pPr>
              <a:buNone/>
            </a:pPr>
            <a:r>
              <a:rPr lang="en-US" sz="1200" dirty="0">
                <a:latin typeface="Consolas"/>
              </a:rPr>
              <a:t>4. Cover happy path, edge cases, and errors.</a:t>
            </a:r>
          </a:p>
          <a:p>
            <a:pPr>
              <a:buNone/>
            </a:pPr>
            <a:r>
              <a:rPr lang="en-US" sz="1200" dirty="0">
                <a:latin typeface="Consolas"/>
              </a:rPr>
              <a:t>5. Mock external dependencies; run the suite and fix failures.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 — Use Your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6192" y="1901952"/>
            <a:ext cx="6422136" cy="3282696"/>
          </a:xfrm>
        </p:spPr>
        <p:txBody>
          <a:bodyPr wrap="square"/>
          <a:lstStyle/>
          <a:p>
            <a:r>
              <a:rPr sz="2000" b="0" dirty="0"/>
              <a:t>Save the file, then select Unit Tester in the agent picker (or type @unit-tester in Visual Studio).</a:t>
            </a:r>
          </a:p>
          <a:p>
            <a:pPr>
              <a:buNone/>
            </a:pPr>
            <a:r>
              <a:rPr sz="2000" b="0" dirty="0"/>
              <a:t>Visual Studio: “Cover the Create handler in Features/Articles with unit tests.”</a:t>
            </a:r>
          </a:p>
          <a:p>
            <a:pPr>
              <a:buNone/>
            </a:pPr>
            <a:r>
              <a:rPr sz="2000" b="0" dirty="0"/>
              <a:t>VS Code: “Cover the </a:t>
            </a:r>
            <a:r>
              <a:rPr sz="2000" b="0" dirty="0" err="1"/>
              <a:t>ArticlesService</a:t>
            </a:r>
            <a:r>
              <a:rPr sz="2000" b="0" dirty="0"/>
              <a:t> with unit tests.”</a:t>
            </a:r>
          </a:p>
          <a:p>
            <a:r>
              <a:rPr sz="2000" b="0" dirty="0"/>
              <a:t>Watch it search the code, generate tests, run them, and iterate on failures.</a:t>
            </a:r>
          </a:p>
          <a:p>
            <a:r>
              <a:rPr sz="2000" b="1" dirty="0"/>
              <a:t>Review the diffs before you Keep the changes — you own the result, not the agent.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 — Refine and Share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6192" y="1901952"/>
            <a:ext cx="7899908" cy="3282696"/>
          </a:xfrm>
        </p:spPr>
        <p:txBody>
          <a:bodyPr wrap="square"/>
          <a:lstStyle/>
          <a:p>
            <a:r>
              <a:rPr sz="2000" b="0" dirty="0"/>
              <a:t>Inspect the tests: naming, mocks, edge cases. Tighten the instructions where output fell short, and rerun.</a:t>
            </a:r>
          </a:p>
          <a:p>
            <a:r>
              <a:rPr sz="2000" b="0" dirty="0"/>
              <a:t>Commit .</a:t>
            </a:r>
            <a:r>
              <a:rPr sz="2000" b="0" dirty="0" err="1"/>
              <a:t>github</a:t>
            </a:r>
            <a:r>
              <a:rPr sz="2000" b="0" dirty="0"/>
              <a:t>/agents/unit-tester.agent.md — everyone who clones the repo gets the agent.</a:t>
            </a:r>
          </a:p>
          <a:p>
            <a:r>
              <a:rPr sz="2000" b="0" dirty="0"/>
              <a:t>The same format powers CLI and Cloud sessions, so the agent can run in the background or on GitHub.</a:t>
            </a:r>
          </a:p>
          <a:p>
            <a:r>
              <a:rPr sz="2000" b="0" dirty="0"/>
              <a:t>Bonus (VS Code): add a handoff to a code-review agent after tests are written.</a:t>
            </a:r>
          </a:p>
          <a:p>
            <a:r>
              <a:rPr sz="2000" b="1" dirty="0"/>
              <a:t>Discussion: what other team workflows deserve their own agent?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E45E-D6A7-9780-F652-BAF86DFBC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SELECTION AT A GLANCE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577A64-4E94-69E1-3180-1E014BD0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37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605EE-24B6-95D8-DE5E-BEC2F03EC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 by default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2F651-7ABC-015D-B5C4-622708A64C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Both IDEs start in Auto — Copilot picks an available model to cut latency and rate limits</a:t>
            </a:r>
          </a:p>
          <a:p>
            <a:r>
              <a:rPr lang="en-US" dirty="0"/>
              <a:t>Hover a reply to see which model actually ran</a:t>
            </a:r>
          </a:p>
          <a:p>
            <a:r>
              <a:rPr lang="en-US" dirty="0"/>
              <a:t>Switch to a specific model at any time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1E0F07-3291-4EE2-1286-04C97165BA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Pick per task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F22CC9-1295-2B21-05A9-68A44E669B8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Stronger reasoning model for complex work; a fast one for quick edits</a:t>
            </a:r>
          </a:p>
          <a:p>
            <a:r>
              <a:rPr lang="en-US" dirty="0"/>
              <a:t>Chat model and inline-completion model are chosen separately</a:t>
            </a:r>
          </a:p>
          <a:p>
            <a:r>
              <a:rPr lang="en-US" dirty="0"/>
              <a:t>Business / Enterprise: your admin controls which models appear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9F57080-19CA-8BBA-6050-8494551D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5934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E45E-D6A7-9780-F652-BAF86DFBC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PICK A MODEL — VS CODE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577A64-4E94-69E1-3180-1E014BD0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38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605EE-24B6-95D8-DE5E-BEC2F03EC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2F651-7ABC-015D-B5C4-622708A64C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Open Copilot Chat and click the model picker in the chat input</a:t>
            </a:r>
          </a:p>
          <a:p>
            <a:r>
              <a:rPr lang="en-US" dirty="0"/>
              <a:t>Choose Auto, or pick a specific model from the list</a:t>
            </a:r>
          </a:p>
          <a:p>
            <a:r>
              <a:rPr lang="en-US" dirty="0"/>
              <a:t>Pin favorites with the pin icon; completions use a separate model</a:t>
            </a:r>
          </a:p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9F57080-19CA-8BBA-6050-8494551D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01A8FF-A0FC-3887-F335-EAB0C459D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768" y="3888419"/>
            <a:ext cx="4578231" cy="2576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1920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E45E-D6A7-9780-F652-BAF86DFBC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PICK A MODEL — VISUAL STUDIO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577A64-4E94-69E1-3180-1E014BD0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39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605EE-24B6-95D8-DE5E-BEC2F03EC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2F651-7ABC-015D-B5C4-622708A64C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Open the Copilot Chat window and open the Model picker dropdown</a:t>
            </a:r>
          </a:p>
          <a:p>
            <a:r>
              <a:rPr lang="en-US" dirty="0"/>
              <a:t>Pick Auto or a model; your choice persists across threads</a:t>
            </a:r>
          </a:p>
          <a:p>
            <a:r>
              <a:rPr lang="en-US" dirty="0"/>
              <a:t>Cost indicators show each model's multiplier; unlisted models can be enabled</a:t>
            </a:r>
          </a:p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9F57080-19CA-8BBA-6050-8494551D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5AA5A1-7A72-8721-B1B1-0B7958D2B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7459" y="3258660"/>
            <a:ext cx="413385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1190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E45E-D6A7-9780-F652-BAF86DFBC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MODEL — VS CODE (BYOK)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577A64-4E94-69E1-3180-1E014BD0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40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605EE-24B6-95D8-DE5E-BEC2F03EC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Bring your own key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2F651-7ABC-015D-B5C4-622708A64C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Model picker → Manage Models → choose a provider (OpenAI, Anthropic, Google, Azure…)</a:t>
            </a:r>
          </a:p>
          <a:p>
            <a:r>
              <a:rPr lang="en-US" dirty="0"/>
              <a:t>Enter your API key; select which models to add to the picker</a:t>
            </a:r>
          </a:p>
          <a:p>
            <a:r>
              <a:rPr lang="en-US" dirty="0"/>
              <a:t>Works without a Copilot plan; run local models via the Ollama extension</a:t>
            </a:r>
          </a:p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9F57080-19CA-8BBA-6050-8494551D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022CFB-4487-72C5-E65A-4B8A69A11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118" y="3395812"/>
            <a:ext cx="4270252" cy="3214168"/>
          </a:xfrm>
          <a:prstGeom prst="rect">
            <a:avLst/>
          </a:prstGeom>
        </p:spPr>
      </p:pic>
      <p:sp>
        <p:nvSpPr>
          <p:cNvPr id="903" name="ScreenshotFrame"/>
          <p:cNvSpPr/>
          <p:nvPr/>
        </p:nvSpPr>
        <p:spPr>
          <a:xfrm>
            <a:off x="5483934" y="5486400"/>
            <a:ext cx="4270252" cy="403579"/>
          </a:xfrm>
          <a:prstGeom prst="roundRect">
            <a:avLst>
              <a:gd name="adj" fmla="val 50000"/>
            </a:avLst>
          </a:prstGeom>
          <a:solidFill>
            <a:srgbClr val="1B2A5B">
              <a:alpha val="40000"/>
            </a:srgbClr>
          </a:solidFill>
          <a:ln w="12700">
            <a:solidFill>
              <a:srgbClr val="8FA3D9"/>
            </a:solidFill>
            <a:prstDash val="dash"/>
          </a:ln>
        </p:spPr>
        <p:txBody>
          <a:bodyPr anchor="ctr">
            <a:normAutofit/>
          </a:bodyPr>
          <a:lstStyle/>
          <a:p>
            <a:pPr algn="ctr"/>
            <a:endParaRPr lang="en-US" sz="1100" i="1" dirty="0">
              <a:solidFill>
                <a:srgbClr val="9FB0D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15771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E45E-D6A7-9780-F652-BAF86DFBC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MODEL — VISUAL STUDIO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577A64-4E94-69E1-3180-1E014BD0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41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605EE-24B6-95D8-DE5E-BEC2F03EC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own model?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2F651-7ABC-015D-B5C4-622708A64C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Not available in Visual Studio.</a:t>
            </a:r>
          </a:p>
          <a:p>
            <a:r>
              <a:rPr lang="en-US" dirty="0"/>
              <a:t>Must be set up via github.com admin section.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9F57080-19CA-8BBA-6050-8494551D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875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A4A3FD6-E6BF-490E-B6B4-6A011394B0E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2CF8670-35D1-4455-AC7A-762B7388BE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3C4A95C-9007-4EA6-944B-306B6F2A010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TM66925244</Template>
  <TotalTime>297</TotalTime>
  <Words>3068</Words>
  <Application>Microsoft Office PowerPoint</Application>
  <PresentationFormat>Widescreen</PresentationFormat>
  <Paragraphs>394</Paragraphs>
  <Slides>41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Arial</vt:lpstr>
      <vt:lpstr>Calibri</vt:lpstr>
      <vt:lpstr>Consolas</vt:lpstr>
      <vt:lpstr>Courier New</vt:lpstr>
      <vt:lpstr>Segoe UI</vt:lpstr>
      <vt:lpstr>Segoe UI Light</vt:lpstr>
      <vt:lpstr>Tw Cen MT</vt:lpstr>
      <vt:lpstr>Office Theme</vt:lpstr>
      <vt:lpstr>05 – Copilot Chat In the IDE</vt:lpstr>
      <vt:lpstr>Same same  but different</vt:lpstr>
      <vt:lpstr>Setting up</vt:lpstr>
      <vt:lpstr>HOW COPILOT INDEXES YOUR CODE</vt:lpstr>
      <vt:lpstr>THREE KINDS OF INDEX</vt:lpstr>
      <vt:lpstr>WHAT'S IN THE INDEX — AND WHAT ISN'T</vt:lpstr>
      <vt:lpstr>WHY YOU STILL NEED #</vt:lpstr>
      <vt:lpstr>CONTEXT REFERENCES ( # )</vt:lpstr>
      <vt:lpstr># REFERENCES IN VISUAL STUDIO</vt:lpstr>
      <vt:lpstr># MENTIONS IN VS CODE</vt:lpstr>
      <vt:lpstr>SLASH COMMANDS</vt:lpstr>
      <vt:lpstr>VISUAL STUDIO 2026 — COMMANDS</vt:lpstr>
      <vt:lpstr>VS CODE — COMMANDS</vt:lpstr>
      <vt:lpstr>PROMPT FILES REUSABLE PROMPTS</vt:lpstr>
      <vt:lpstr>WHAT IS A PROMPT FILE?</vt:lpstr>
      <vt:lpstr>ANATOMY OF A PROMPT FILE</vt:lpstr>
      <vt:lpstr>ANATOMY OF A PROMPT FILE</vt:lpstr>
      <vt:lpstr>CREATE OR OPEN A PROMPT FILE</vt:lpstr>
      <vt:lpstr>EXERCISE — YOUR FIRST PROMPT FILE</vt:lpstr>
      <vt:lpstr>EXERCISE — TRY IT ON OUR REPO</vt:lpstr>
      <vt:lpstr>EXERCISE — RUN /explain-code</vt:lpstr>
      <vt:lpstr>FURTHER READING</vt:lpstr>
      <vt:lpstr>Copilot Chat Sessions</vt:lpstr>
      <vt:lpstr>Session settings</vt:lpstr>
      <vt:lpstr>Session Types: Where Does It Run?</vt:lpstr>
      <vt:lpstr>What Is an "Agent"?</vt:lpstr>
      <vt:lpstr>The Ask Agent</vt:lpstr>
      <vt:lpstr>The Plan Agent</vt:lpstr>
      <vt:lpstr>The Agent (Agent Mode)</vt:lpstr>
      <vt:lpstr>Specialized Agents</vt:lpstr>
      <vt:lpstr>Hands-On: Build a Unit-Testing Agent</vt:lpstr>
      <vt:lpstr>Step 1 — Create the Agent File</vt:lpstr>
      <vt:lpstr>Step 2 — Define the Frontmatter</vt:lpstr>
      <vt:lpstr>Step 3 — Write the Instructions</vt:lpstr>
      <vt:lpstr>Step 4 — Use Your Agent</vt:lpstr>
      <vt:lpstr>Step 5 — Refine and Share</vt:lpstr>
      <vt:lpstr>MODEL SELECTION AT A GLANCE</vt:lpstr>
      <vt:lpstr>PICK A MODEL — VS CODE</vt:lpstr>
      <vt:lpstr>PICK A MODEL — VISUAL STUDIO</vt:lpstr>
      <vt:lpstr>CUSTOM MODEL — VS CODE (BYOK)</vt:lpstr>
      <vt:lpstr>CUSTOM MODEL — VISUAL STUDIO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 – Copilot Chat In the IDE</dc:title>
  <dc:creator>Uri Goldstein</dc:creator>
  <cp:lastModifiedBy>Naya Academy</cp:lastModifiedBy>
  <cp:revision>29</cp:revision>
  <dcterms:created xsi:type="dcterms:W3CDTF">2026-06-30T20:53:55Z</dcterms:created>
  <dcterms:modified xsi:type="dcterms:W3CDTF">2026-07-08T10:49:17Z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