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9"/>
  </p:notesMasterIdLst>
  <p:sldIdLst>
    <p:sldId id="547" r:id="rId5"/>
    <p:sldId id="548" r:id="rId6"/>
    <p:sldId id="549" r:id="rId7"/>
    <p:sldId id="550" r:id="rId8"/>
    <p:sldId id="551" r:id="rId9"/>
    <p:sldId id="552" r:id="rId10"/>
    <p:sldId id="579" r:id="rId11"/>
    <p:sldId id="553" r:id="rId12"/>
    <p:sldId id="554" r:id="rId13"/>
    <p:sldId id="555" r:id="rId14"/>
    <p:sldId id="556" r:id="rId15"/>
    <p:sldId id="557" r:id="rId16"/>
    <p:sldId id="558" r:id="rId17"/>
    <p:sldId id="559" r:id="rId18"/>
    <p:sldId id="560" r:id="rId19"/>
    <p:sldId id="561" r:id="rId20"/>
    <p:sldId id="562" r:id="rId21"/>
    <p:sldId id="563" r:id="rId22"/>
    <p:sldId id="564" r:id="rId23"/>
    <p:sldId id="565" r:id="rId24"/>
    <p:sldId id="566" r:id="rId25"/>
    <p:sldId id="567" r:id="rId26"/>
    <p:sldId id="581" r:id="rId27"/>
    <p:sldId id="568" r:id="rId28"/>
    <p:sldId id="569" r:id="rId29"/>
    <p:sldId id="570" r:id="rId30"/>
    <p:sldId id="571" r:id="rId31"/>
    <p:sldId id="572" r:id="rId32"/>
    <p:sldId id="573" r:id="rId33"/>
    <p:sldId id="574" r:id="rId34"/>
    <p:sldId id="575" r:id="rId35"/>
    <p:sldId id="576" r:id="rId36"/>
    <p:sldId id="577" r:id="rId37"/>
    <p:sldId id="578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1689"/>
    <a:srgbClr val="2F21F3"/>
    <a:srgbClr val="8822EE"/>
    <a:srgbClr val="F01688"/>
    <a:srgbClr val="FEB52B"/>
    <a:srgbClr val="6F22E3"/>
    <a:srgbClr val="E218A3"/>
    <a:srgbClr val="BA20DB"/>
    <a:srgbClr val="6A23F1"/>
    <a:srgbClr val="2F2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17" autoAdjust="0"/>
    <p:restoredTop sz="94422"/>
  </p:normalViewPr>
  <p:slideViewPr>
    <p:cSldViewPr snapToGrid="0">
      <p:cViewPr varScale="1">
        <p:scale>
          <a:sx n="78" d="100"/>
          <a:sy n="78" d="100"/>
        </p:scale>
        <p:origin x="13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commentAuthors" Target="commentAuthors.xml"/><Relationship Id="rId45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20" Type="http://schemas.openxmlformats.org/officeDocument/2006/relationships/slide" Target="slides/slide16.xml"/><Relationship Id="rId4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00BCFC-AFFD-334C-A183-6116BAFDF92B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C058E0-0852-DB43-83D6-BD76659FF1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93068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2">
            <a:extLst>
              <a:ext uri="{FF2B5EF4-FFF2-40B4-BE49-F238E27FC236}">
                <a16:creationId xmlns:a16="http://schemas.microsoft.com/office/drawing/2014/main" id="{F51FEA09-E4BD-0741-D624-EED4A231C599}"/>
              </a:ext>
            </a:extLst>
          </p:cNvPr>
          <p:cNvSpPr/>
          <p:nvPr userDrawn="1"/>
        </p:nvSpPr>
        <p:spPr>
          <a:xfrm rot="10800000">
            <a:off x="853427" y="5650992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0"/>
                </a:schemeClr>
              </a:gs>
              <a:gs pos="99000">
                <a:schemeClr val="accent3">
                  <a:alpha val="71647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7" name="Freeform 9">
            <a:extLst>
              <a:ext uri="{FF2B5EF4-FFF2-40B4-BE49-F238E27FC236}">
                <a16:creationId xmlns:a16="http://schemas.microsoft.com/office/drawing/2014/main" id="{B707B5BA-AB15-D1EF-EBC5-F38FCE20FC52}"/>
              </a:ext>
            </a:extLst>
          </p:cNvPr>
          <p:cNvSpPr/>
          <p:nvPr userDrawn="1"/>
        </p:nvSpPr>
        <p:spPr>
          <a:xfrm rot="710202" flipV="1">
            <a:off x="-145573" y="4175628"/>
            <a:ext cx="6040006" cy="3240870"/>
          </a:xfrm>
          <a:custGeom>
            <a:avLst/>
            <a:gdLst>
              <a:gd name="connsiteX0" fmla="*/ 480125 w 6747252"/>
              <a:gd name="connsiteY0" fmla="*/ 0 h 3620355"/>
              <a:gd name="connsiteX1" fmla="*/ 6747252 w 6747252"/>
              <a:gd name="connsiteY1" fmla="*/ 1313462 h 3620355"/>
              <a:gd name="connsiteX2" fmla="*/ 6355443 w 6747252"/>
              <a:gd name="connsiteY2" fmla="*/ 1443581 h 3620355"/>
              <a:gd name="connsiteX3" fmla="*/ 4058536 w 6747252"/>
              <a:gd name="connsiteY3" fmla="*/ 2678500 h 3620355"/>
              <a:gd name="connsiteX4" fmla="*/ 33178 w 6747252"/>
              <a:gd name="connsiteY4" fmla="*/ 2369641 h 3620355"/>
              <a:gd name="connsiteX5" fmla="*/ 0 w 6747252"/>
              <a:gd name="connsiteY5" fmla="*/ 2290898 h 3620355"/>
              <a:gd name="connsiteX6" fmla="*/ 480125 w 6747252"/>
              <a:gd name="connsiteY6" fmla="*/ 0 h 3620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47252" h="3620355">
                <a:moveTo>
                  <a:pt x="480125" y="0"/>
                </a:moveTo>
                <a:lnTo>
                  <a:pt x="6747252" y="1313462"/>
                </a:lnTo>
                <a:lnTo>
                  <a:pt x="6355443" y="1443581"/>
                </a:lnTo>
                <a:cubicBezTo>
                  <a:pt x="5476828" y="1758684"/>
                  <a:pt x="4659690" y="2192443"/>
                  <a:pt x="4058536" y="2678500"/>
                </a:cubicBezTo>
                <a:cubicBezTo>
                  <a:pt x="2102261" y="4268418"/>
                  <a:pt x="625747" y="3626023"/>
                  <a:pt x="33178" y="2369641"/>
                </a:cubicBezTo>
                <a:lnTo>
                  <a:pt x="0" y="2290898"/>
                </a:lnTo>
                <a:lnTo>
                  <a:pt x="480125" y="0"/>
                </a:lnTo>
                <a:close/>
              </a:path>
            </a:pathLst>
          </a:custGeom>
          <a:gradFill flip="none" rotWithShape="1">
            <a:gsLst>
              <a:gs pos="97000">
                <a:schemeClr val="accent3">
                  <a:lumMod val="50000"/>
                  <a:alpha val="21210"/>
                </a:schemeClr>
              </a:gs>
              <a:gs pos="72000">
                <a:schemeClr val="accent4">
                  <a:lumMod val="50000"/>
                </a:schemeClr>
              </a:gs>
              <a:gs pos="3000">
                <a:schemeClr val="accent6">
                  <a:alpha val="53787"/>
                </a:schemeClr>
              </a:gs>
            </a:gsLst>
            <a:lin ang="81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1AF73CC-B23B-6DCD-7E3E-8213485DF9B7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095999" y="3104925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reeform 1">
            <a:extLst>
              <a:ext uri="{FF2B5EF4-FFF2-40B4-BE49-F238E27FC236}">
                <a16:creationId xmlns:a16="http://schemas.microsoft.com/office/drawing/2014/main" id="{0319ECD0-7050-C18F-AC35-7F8DFA288A58}"/>
              </a:ext>
            </a:extLst>
          </p:cNvPr>
          <p:cNvSpPr/>
          <p:nvPr userDrawn="1"/>
        </p:nvSpPr>
        <p:spPr>
          <a:xfrm>
            <a:off x="-24334" y="1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5011629 w 12218982"/>
              <a:gd name="connsiteY10" fmla="*/ 121918 h 6860673"/>
              <a:gd name="connsiteX11" fmla="*/ 4783396 w 12218982"/>
              <a:gd name="connsiteY11" fmla="*/ 139697 h 6860673"/>
              <a:gd name="connsiteX12" fmla="*/ 4570293 w 12218982"/>
              <a:gd name="connsiteY12" fmla="*/ 145085 h 6860673"/>
              <a:gd name="connsiteX13" fmla="*/ 692864 w 12218982"/>
              <a:gd name="connsiteY13" fmla="*/ 2723368 h 6860673"/>
              <a:gd name="connsiteX14" fmla="*/ 653810 w 12218982"/>
              <a:gd name="connsiteY14" fmla="*/ 2809752 h 6860673"/>
              <a:gd name="connsiteX15" fmla="*/ 633474 w 12218982"/>
              <a:gd name="connsiteY15" fmla="*/ 2851993 h 6860673"/>
              <a:gd name="connsiteX16" fmla="*/ 551923 w 12218982"/>
              <a:gd name="connsiteY16" fmla="*/ 3041708 h 6860673"/>
              <a:gd name="connsiteX17" fmla="*/ 532245 w 12218982"/>
              <a:gd name="connsiteY17" fmla="*/ 3101107 h 6860673"/>
              <a:gd name="connsiteX18" fmla="*/ 519820 w 12218982"/>
              <a:gd name="connsiteY18" fmla="*/ 3132620 h 6860673"/>
              <a:gd name="connsiteX19" fmla="*/ 242995 w 12218982"/>
              <a:gd name="connsiteY19" fmla="*/ 4701210 h 6860673"/>
              <a:gd name="connsiteX20" fmla="*/ 692864 w 12218982"/>
              <a:gd name="connsiteY20" fmla="*/ 6679052 h 6860673"/>
              <a:gd name="connsiteX21" fmla="*/ 784515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5278815" y="113616"/>
                  <a:pt x="5143479" y="115764"/>
                  <a:pt x="5011629" y="121918"/>
                </a:cubicBezTo>
                <a:lnTo>
                  <a:pt x="4783396" y="139697"/>
                </a:lnTo>
                <a:lnTo>
                  <a:pt x="4570293" y="145085"/>
                </a:lnTo>
                <a:cubicBezTo>
                  <a:pt x="2859647" y="231798"/>
                  <a:pt x="1397605" y="1260791"/>
                  <a:pt x="692864" y="2723368"/>
                </a:cubicBezTo>
                <a:lnTo>
                  <a:pt x="653810" y="2809752"/>
                </a:lnTo>
                <a:lnTo>
                  <a:pt x="633474" y="2851993"/>
                </a:lnTo>
                <a:cubicBezTo>
                  <a:pt x="600933" y="2920155"/>
                  <a:pt x="575052" y="2977311"/>
                  <a:pt x="551923" y="3041708"/>
                </a:cubicBezTo>
                <a:lnTo>
                  <a:pt x="532245" y="3101107"/>
                </a:lnTo>
                <a:lnTo>
                  <a:pt x="519820" y="3132620"/>
                </a:lnTo>
                <a:cubicBezTo>
                  <a:pt x="340732" y="3621732"/>
                  <a:pt x="242995" y="4150057"/>
                  <a:pt x="242995" y="4701210"/>
                </a:cubicBezTo>
                <a:cubicBezTo>
                  <a:pt x="242995" y="5409836"/>
                  <a:pt x="404560" y="6080725"/>
                  <a:pt x="692864" y="6679052"/>
                </a:cubicBezTo>
                <a:lnTo>
                  <a:pt x="784515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31889"/>
                </a:schemeClr>
              </a:gs>
              <a:gs pos="77000">
                <a:schemeClr val="accent3">
                  <a:lumMod val="25000"/>
                  <a:alpha val="0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3">
            <a:extLst>
              <a:ext uri="{FF2B5EF4-FFF2-40B4-BE49-F238E27FC236}">
                <a16:creationId xmlns:a16="http://schemas.microsoft.com/office/drawing/2014/main" id="{332954FC-1C1B-B277-413F-3CBA66FD1EAD}"/>
              </a:ext>
            </a:extLst>
          </p:cNvPr>
          <p:cNvSpPr/>
          <p:nvPr userDrawn="1"/>
        </p:nvSpPr>
        <p:spPr>
          <a:xfrm flipH="1" flipV="1">
            <a:off x="-26982" y="9939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5011629 w 12218982"/>
              <a:gd name="connsiteY10" fmla="*/ 121918 h 6860673"/>
              <a:gd name="connsiteX11" fmla="*/ 4783396 w 12218982"/>
              <a:gd name="connsiteY11" fmla="*/ 139697 h 6860673"/>
              <a:gd name="connsiteX12" fmla="*/ 4570293 w 12218982"/>
              <a:gd name="connsiteY12" fmla="*/ 145085 h 6860673"/>
              <a:gd name="connsiteX13" fmla="*/ 692864 w 12218982"/>
              <a:gd name="connsiteY13" fmla="*/ 2723368 h 6860673"/>
              <a:gd name="connsiteX14" fmla="*/ 653810 w 12218982"/>
              <a:gd name="connsiteY14" fmla="*/ 2809752 h 6860673"/>
              <a:gd name="connsiteX15" fmla="*/ 633474 w 12218982"/>
              <a:gd name="connsiteY15" fmla="*/ 2851993 h 6860673"/>
              <a:gd name="connsiteX16" fmla="*/ 551923 w 12218982"/>
              <a:gd name="connsiteY16" fmla="*/ 3041708 h 6860673"/>
              <a:gd name="connsiteX17" fmla="*/ 532245 w 12218982"/>
              <a:gd name="connsiteY17" fmla="*/ 3101107 h 6860673"/>
              <a:gd name="connsiteX18" fmla="*/ 519820 w 12218982"/>
              <a:gd name="connsiteY18" fmla="*/ 3132620 h 6860673"/>
              <a:gd name="connsiteX19" fmla="*/ 242995 w 12218982"/>
              <a:gd name="connsiteY19" fmla="*/ 4701210 h 6860673"/>
              <a:gd name="connsiteX20" fmla="*/ 692864 w 12218982"/>
              <a:gd name="connsiteY20" fmla="*/ 6679052 h 6860673"/>
              <a:gd name="connsiteX21" fmla="*/ 784515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5278815" y="113616"/>
                  <a:pt x="5143479" y="115764"/>
                  <a:pt x="5011629" y="121918"/>
                </a:cubicBezTo>
                <a:lnTo>
                  <a:pt x="4783396" y="139697"/>
                </a:lnTo>
                <a:lnTo>
                  <a:pt x="4570293" y="145085"/>
                </a:lnTo>
                <a:cubicBezTo>
                  <a:pt x="2859647" y="231798"/>
                  <a:pt x="1397605" y="1260791"/>
                  <a:pt x="692864" y="2723368"/>
                </a:cubicBezTo>
                <a:lnTo>
                  <a:pt x="653810" y="2809752"/>
                </a:lnTo>
                <a:lnTo>
                  <a:pt x="633474" y="2851993"/>
                </a:lnTo>
                <a:cubicBezTo>
                  <a:pt x="600933" y="2920155"/>
                  <a:pt x="575052" y="2977311"/>
                  <a:pt x="551923" y="3041708"/>
                </a:cubicBezTo>
                <a:lnTo>
                  <a:pt x="532245" y="3101107"/>
                </a:lnTo>
                <a:lnTo>
                  <a:pt x="519820" y="3132620"/>
                </a:lnTo>
                <a:cubicBezTo>
                  <a:pt x="340732" y="3621732"/>
                  <a:pt x="242995" y="4150057"/>
                  <a:pt x="242995" y="4701210"/>
                </a:cubicBezTo>
                <a:cubicBezTo>
                  <a:pt x="242995" y="5409836"/>
                  <a:pt x="404560" y="6080725"/>
                  <a:pt x="692864" y="6679052"/>
                </a:cubicBezTo>
                <a:lnTo>
                  <a:pt x="784515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50000"/>
                </a:schemeClr>
              </a:gs>
              <a:gs pos="77000">
                <a:schemeClr val="accent3">
                  <a:lumMod val="25000"/>
                  <a:alpha val="0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4">
            <a:extLst>
              <a:ext uri="{FF2B5EF4-FFF2-40B4-BE49-F238E27FC236}">
                <a16:creationId xmlns:a16="http://schemas.microsoft.com/office/drawing/2014/main" id="{9AD65933-4DAE-2A46-C7F9-2A20CB244088}"/>
              </a:ext>
            </a:extLst>
          </p:cNvPr>
          <p:cNvSpPr/>
          <p:nvPr userDrawn="1"/>
        </p:nvSpPr>
        <p:spPr>
          <a:xfrm>
            <a:off x="4603793" y="0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41000">
                <a:schemeClr val="accent5">
                  <a:alpha val="21000"/>
                </a:schemeClr>
              </a:gs>
              <a:gs pos="98000">
                <a:schemeClr val="accent5">
                  <a:lumMod val="50000"/>
                </a:schemeClr>
              </a:gs>
            </a:gsLst>
            <a:lin ang="132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Freeform 5">
            <a:extLst>
              <a:ext uri="{FF2B5EF4-FFF2-40B4-BE49-F238E27FC236}">
                <a16:creationId xmlns:a16="http://schemas.microsoft.com/office/drawing/2014/main" id="{078C0FDD-401B-0E80-5823-215C99BAE6B2}"/>
              </a:ext>
            </a:extLst>
          </p:cNvPr>
          <p:cNvSpPr/>
          <p:nvPr userDrawn="1"/>
        </p:nvSpPr>
        <p:spPr>
          <a:xfrm rot="710202" flipH="1">
            <a:off x="6511239" y="-551340"/>
            <a:ext cx="5838132" cy="3132551"/>
          </a:xfrm>
          <a:custGeom>
            <a:avLst/>
            <a:gdLst>
              <a:gd name="connsiteX0" fmla="*/ 480125 w 6747252"/>
              <a:gd name="connsiteY0" fmla="*/ 0 h 3620355"/>
              <a:gd name="connsiteX1" fmla="*/ 6747252 w 6747252"/>
              <a:gd name="connsiteY1" fmla="*/ 1313462 h 3620355"/>
              <a:gd name="connsiteX2" fmla="*/ 6355443 w 6747252"/>
              <a:gd name="connsiteY2" fmla="*/ 1443581 h 3620355"/>
              <a:gd name="connsiteX3" fmla="*/ 4058536 w 6747252"/>
              <a:gd name="connsiteY3" fmla="*/ 2678500 h 3620355"/>
              <a:gd name="connsiteX4" fmla="*/ 33178 w 6747252"/>
              <a:gd name="connsiteY4" fmla="*/ 2369641 h 3620355"/>
              <a:gd name="connsiteX5" fmla="*/ 0 w 6747252"/>
              <a:gd name="connsiteY5" fmla="*/ 2290898 h 3620355"/>
              <a:gd name="connsiteX6" fmla="*/ 480125 w 6747252"/>
              <a:gd name="connsiteY6" fmla="*/ 0 h 3620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47252" h="3620355">
                <a:moveTo>
                  <a:pt x="480125" y="0"/>
                </a:moveTo>
                <a:lnTo>
                  <a:pt x="6747252" y="1313462"/>
                </a:lnTo>
                <a:lnTo>
                  <a:pt x="6355443" y="1443581"/>
                </a:lnTo>
                <a:cubicBezTo>
                  <a:pt x="5476828" y="1758684"/>
                  <a:pt x="4659690" y="2192443"/>
                  <a:pt x="4058536" y="2678500"/>
                </a:cubicBezTo>
                <a:cubicBezTo>
                  <a:pt x="2102261" y="4268418"/>
                  <a:pt x="625747" y="3626023"/>
                  <a:pt x="33178" y="2369641"/>
                </a:cubicBezTo>
                <a:lnTo>
                  <a:pt x="0" y="2290898"/>
                </a:lnTo>
                <a:lnTo>
                  <a:pt x="480125" y="0"/>
                </a:lnTo>
                <a:close/>
              </a:path>
            </a:pathLst>
          </a:custGeom>
          <a:gradFill flip="none" rotWithShape="1">
            <a:gsLst>
              <a:gs pos="100000">
                <a:schemeClr val="accent4">
                  <a:lumMod val="75000"/>
                  <a:alpha val="19000"/>
                </a:schemeClr>
              </a:gs>
              <a:gs pos="0">
                <a:schemeClr val="accent6">
                  <a:alpha val="61994"/>
                </a:schemeClr>
              </a:gs>
            </a:gsLst>
            <a:lin ang="27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3584" y="2176272"/>
            <a:ext cx="9921240" cy="1481328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0320" y="4261104"/>
            <a:ext cx="7068312" cy="758952"/>
          </a:xfrm>
        </p:spPr>
        <p:txBody>
          <a:bodyPr>
            <a:no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569340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15">
            <a:extLst>
              <a:ext uri="{FF2B5EF4-FFF2-40B4-BE49-F238E27FC236}">
                <a16:creationId xmlns:a16="http://schemas.microsoft.com/office/drawing/2014/main" id="{079F0D65-9DED-1DC3-6E6D-E4AD5252A007}"/>
              </a:ext>
            </a:extLst>
          </p:cNvPr>
          <p:cNvSpPr/>
          <p:nvPr userDrawn="1"/>
        </p:nvSpPr>
        <p:spPr>
          <a:xfrm rot="16200000" flipV="1">
            <a:off x="6507450" y="1163358"/>
            <a:ext cx="6858000" cy="4531278"/>
          </a:xfrm>
          <a:custGeom>
            <a:avLst/>
            <a:gdLst>
              <a:gd name="connsiteX0" fmla="*/ 6858000 w 6858000"/>
              <a:gd name="connsiteY0" fmla="*/ 3150313 h 3750964"/>
              <a:gd name="connsiteX1" fmla="*/ 6858000 w 6858000"/>
              <a:gd name="connsiteY1" fmla="*/ 0 h 3750964"/>
              <a:gd name="connsiteX2" fmla="*/ 0 w 6858000"/>
              <a:gd name="connsiteY2" fmla="*/ 0 h 3750964"/>
              <a:gd name="connsiteX3" fmla="*/ 0 w 6858000"/>
              <a:gd name="connsiteY3" fmla="*/ 3220894 h 3750964"/>
              <a:gd name="connsiteX4" fmla="*/ 10973 w 6858000"/>
              <a:gd name="connsiteY4" fmla="*/ 3230398 h 3750964"/>
              <a:gd name="connsiteX5" fmla="*/ 1661251 w 6858000"/>
              <a:gd name="connsiteY5" fmla="*/ 3750927 h 3750964"/>
              <a:gd name="connsiteX6" fmla="*/ 4893397 w 6858000"/>
              <a:gd name="connsiteY6" fmla="*/ 2661368 h 3750964"/>
              <a:gd name="connsiteX7" fmla="*/ 6834019 w 6858000"/>
              <a:gd name="connsiteY7" fmla="*/ 3137932 h 3750964"/>
              <a:gd name="connsiteX8" fmla="*/ 6858000 w 6858000"/>
              <a:gd name="connsiteY8" fmla="*/ 3150313 h 3750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3750964">
                <a:moveTo>
                  <a:pt x="6858000" y="3150313"/>
                </a:moveTo>
                <a:lnTo>
                  <a:pt x="6858000" y="0"/>
                </a:lnTo>
                <a:lnTo>
                  <a:pt x="0" y="0"/>
                </a:lnTo>
                <a:lnTo>
                  <a:pt x="0" y="3220894"/>
                </a:lnTo>
                <a:lnTo>
                  <a:pt x="10973" y="3230398"/>
                </a:lnTo>
                <a:cubicBezTo>
                  <a:pt x="366756" y="3514112"/>
                  <a:pt x="933081" y="3754395"/>
                  <a:pt x="1661251" y="3750927"/>
                </a:cubicBezTo>
                <a:cubicBezTo>
                  <a:pt x="2955776" y="3744762"/>
                  <a:pt x="3514049" y="2682714"/>
                  <a:pt x="4893397" y="2661368"/>
                </a:cubicBezTo>
                <a:cubicBezTo>
                  <a:pt x="5755490" y="2648026"/>
                  <a:pt x="6380835" y="2908605"/>
                  <a:pt x="6834019" y="3137932"/>
                </a:cubicBezTo>
                <a:lnTo>
                  <a:pt x="6858000" y="3150313"/>
                </a:lnTo>
                <a:close/>
              </a:path>
            </a:pathLst>
          </a:custGeom>
          <a:solidFill>
            <a:schemeClr val="accent4">
              <a:alpha val="14239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Freeform 18">
            <a:extLst>
              <a:ext uri="{FF2B5EF4-FFF2-40B4-BE49-F238E27FC236}">
                <a16:creationId xmlns:a16="http://schemas.microsoft.com/office/drawing/2014/main" id="{9C605622-8F1F-632F-D5C0-1F2E7875EBA1}"/>
              </a:ext>
            </a:extLst>
          </p:cNvPr>
          <p:cNvSpPr/>
          <p:nvPr userDrawn="1"/>
        </p:nvSpPr>
        <p:spPr>
          <a:xfrm rot="5400000">
            <a:off x="6488397" y="1182411"/>
            <a:ext cx="6858000" cy="4493171"/>
          </a:xfrm>
          <a:custGeom>
            <a:avLst/>
            <a:gdLst>
              <a:gd name="connsiteX0" fmla="*/ 0 w 6858000"/>
              <a:gd name="connsiteY0" fmla="*/ 3300688 h 4744323"/>
              <a:gd name="connsiteX1" fmla="*/ 0 w 6858000"/>
              <a:gd name="connsiteY1" fmla="*/ 0 h 4744323"/>
              <a:gd name="connsiteX2" fmla="*/ 6858000 w 6858000"/>
              <a:gd name="connsiteY2" fmla="*/ 0 h 4744323"/>
              <a:gd name="connsiteX3" fmla="*/ 6858000 w 6858000"/>
              <a:gd name="connsiteY3" fmla="*/ 3130282 h 4744323"/>
              <a:gd name="connsiteX4" fmla="*/ 6685009 w 6858000"/>
              <a:gd name="connsiteY4" fmla="*/ 3177721 h 4744323"/>
              <a:gd name="connsiteX5" fmla="*/ 2944852 w 6858000"/>
              <a:gd name="connsiteY5" fmla="*/ 4744264 h 4744323"/>
              <a:gd name="connsiteX6" fmla="*/ 88593 w 6858000"/>
              <a:gd name="connsiteY6" fmla="*/ 3449517 h 4744323"/>
              <a:gd name="connsiteX7" fmla="*/ 0 w 6858000"/>
              <a:gd name="connsiteY7" fmla="*/ 3300688 h 474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4744323">
                <a:moveTo>
                  <a:pt x="0" y="3300688"/>
                </a:moveTo>
                <a:lnTo>
                  <a:pt x="0" y="0"/>
                </a:lnTo>
                <a:lnTo>
                  <a:pt x="6858000" y="0"/>
                </a:lnTo>
                <a:lnTo>
                  <a:pt x="6858000" y="3130282"/>
                </a:lnTo>
                <a:lnTo>
                  <a:pt x="6685009" y="3177721"/>
                </a:lnTo>
                <a:cubicBezTo>
                  <a:pt x="5333681" y="3615865"/>
                  <a:pt x="4498161" y="4736270"/>
                  <a:pt x="2944852" y="4744264"/>
                </a:cubicBezTo>
                <a:cubicBezTo>
                  <a:pt x="1511029" y="4751644"/>
                  <a:pt x="502120" y="4067469"/>
                  <a:pt x="88593" y="3449517"/>
                </a:cubicBezTo>
                <a:lnTo>
                  <a:pt x="0" y="3300688"/>
                </a:lnTo>
                <a:close/>
              </a:path>
            </a:pathLst>
          </a:custGeom>
          <a:gradFill flip="none" rotWithShape="1">
            <a:gsLst>
              <a:gs pos="4000">
                <a:schemeClr val="accent2">
                  <a:alpha val="23589"/>
                </a:schemeClr>
              </a:gs>
              <a:gs pos="79000">
                <a:schemeClr val="accent5">
                  <a:lumMod val="50000"/>
                  <a:alpha val="5218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 12">
            <a:extLst>
              <a:ext uri="{FF2B5EF4-FFF2-40B4-BE49-F238E27FC236}">
                <a16:creationId xmlns:a16="http://schemas.microsoft.com/office/drawing/2014/main" id="{919AB4B2-2D3A-FCB5-0314-CC465BCC0E5D}"/>
              </a:ext>
            </a:extLst>
          </p:cNvPr>
          <p:cNvSpPr/>
          <p:nvPr userDrawn="1"/>
        </p:nvSpPr>
        <p:spPr>
          <a:xfrm rot="5400000">
            <a:off x="6926379" y="1582290"/>
            <a:ext cx="6858001" cy="3693421"/>
          </a:xfrm>
          <a:custGeom>
            <a:avLst/>
            <a:gdLst>
              <a:gd name="connsiteX0" fmla="*/ 0 w 6858001"/>
              <a:gd name="connsiteY0" fmla="*/ 3437558 h 3693421"/>
              <a:gd name="connsiteX1" fmla="*/ 0 w 6858001"/>
              <a:gd name="connsiteY1" fmla="*/ 0 h 3693421"/>
              <a:gd name="connsiteX2" fmla="*/ 6858001 w 6858001"/>
              <a:gd name="connsiteY2" fmla="*/ 0 h 3693421"/>
              <a:gd name="connsiteX3" fmla="*/ 6858001 w 6858001"/>
              <a:gd name="connsiteY3" fmla="*/ 1982949 h 3693421"/>
              <a:gd name="connsiteX4" fmla="*/ 6594582 w 6858001"/>
              <a:gd name="connsiteY4" fmla="*/ 1960784 h 3693421"/>
              <a:gd name="connsiteX5" fmla="*/ 6223032 w 6858001"/>
              <a:gd name="connsiteY5" fmla="*/ 1954544 h 3693421"/>
              <a:gd name="connsiteX6" fmla="*/ 1449771 w 6858001"/>
              <a:gd name="connsiteY6" fmla="*/ 3693362 h 3693421"/>
              <a:gd name="connsiteX7" fmla="*/ 163899 w 6858001"/>
              <a:gd name="connsiteY7" fmla="*/ 3498289 h 3693421"/>
              <a:gd name="connsiteX8" fmla="*/ 0 w 6858001"/>
              <a:gd name="connsiteY8" fmla="*/ 3437558 h 3693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1" h="3693421">
                <a:moveTo>
                  <a:pt x="0" y="3437558"/>
                </a:moveTo>
                <a:lnTo>
                  <a:pt x="0" y="0"/>
                </a:lnTo>
                <a:lnTo>
                  <a:pt x="6858001" y="0"/>
                </a:lnTo>
                <a:lnTo>
                  <a:pt x="6858001" y="1982949"/>
                </a:lnTo>
                <a:lnTo>
                  <a:pt x="6594582" y="1960784"/>
                </a:lnTo>
                <a:cubicBezTo>
                  <a:pt x="6474164" y="1954657"/>
                  <a:pt x="6350346" y="1952415"/>
                  <a:pt x="6223032" y="1954544"/>
                </a:cubicBezTo>
                <a:cubicBezTo>
                  <a:pt x="4185999" y="1988612"/>
                  <a:pt x="3361537" y="3683524"/>
                  <a:pt x="1449771" y="3693362"/>
                </a:cubicBezTo>
                <a:cubicBezTo>
                  <a:pt x="971830" y="3695822"/>
                  <a:pt x="541102" y="3621442"/>
                  <a:pt x="163899" y="3498289"/>
                </a:cubicBezTo>
                <a:lnTo>
                  <a:pt x="0" y="3437558"/>
                </a:lnTo>
                <a:close/>
              </a:path>
            </a:pathLst>
          </a:custGeom>
          <a:gradFill>
            <a:gsLst>
              <a:gs pos="84000">
                <a:schemeClr val="accent4">
                  <a:alpha val="20000"/>
                </a:schemeClr>
              </a:gs>
              <a:gs pos="1000">
                <a:schemeClr val="accent6">
                  <a:alpha val="38000"/>
                </a:schemeClr>
              </a:gs>
              <a:gs pos="100000">
                <a:schemeClr val="accent6">
                  <a:alpha val="3349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92257B9-FE58-1976-7115-17E05E5819E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F040BB-6465-852C-B53C-074E90BB09D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6192" y="832104"/>
            <a:ext cx="8878824" cy="1069848"/>
          </a:xfrm>
        </p:spPr>
        <p:txBody>
          <a:bodyPr anchor="b">
            <a:no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6192" y="2212848"/>
            <a:ext cx="6422136" cy="3282696"/>
          </a:xfrm>
        </p:spPr>
        <p:txBody>
          <a:bodyPr>
            <a:noAutofit/>
          </a:bodyPr>
          <a:lstStyle>
            <a:lvl1pPr marL="347472">
              <a:lnSpc>
                <a:spcPct val="150000"/>
              </a:lnSpc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63167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BE68DE5-FB8F-C713-B589-69851789C6C5}"/>
              </a:ext>
            </a:extLst>
          </p:cNvPr>
          <p:cNvSpPr/>
          <p:nvPr userDrawn="1"/>
        </p:nvSpPr>
        <p:spPr>
          <a:xfrm>
            <a:off x="1" y="4852144"/>
            <a:ext cx="5681755" cy="2002200"/>
          </a:xfrm>
          <a:custGeom>
            <a:avLst/>
            <a:gdLst>
              <a:gd name="connsiteX0" fmla="*/ 320629 w 5681755"/>
              <a:gd name="connsiteY0" fmla="*/ 0 h 2002200"/>
              <a:gd name="connsiteX1" fmla="*/ 375829 w 5681755"/>
              <a:gd name="connsiteY1" fmla="*/ 158026 h 2002200"/>
              <a:gd name="connsiteX2" fmla="*/ 897491 w 5681755"/>
              <a:gd name="connsiteY2" fmla="*/ 961690 h 2002200"/>
              <a:gd name="connsiteX3" fmla="*/ 4054478 w 5681755"/>
              <a:gd name="connsiteY3" fmla="*/ 1474149 h 2002200"/>
              <a:gd name="connsiteX4" fmla="*/ 5679398 w 5681755"/>
              <a:gd name="connsiteY4" fmla="*/ 1986034 h 2002200"/>
              <a:gd name="connsiteX5" fmla="*/ 5681755 w 5681755"/>
              <a:gd name="connsiteY5" fmla="*/ 2002200 h 2002200"/>
              <a:gd name="connsiteX6" fmla="*/ 0 w 5681755"/>
              <a:gd name="connsiteY6" fmla="*/ 1989323 h 2002200"/>
              <a:gd name="connsiteX7" fmla="*/ 0 w 5681755"/>
              <a:gd name="connsiteY7" fmla="*/ 1952135 h 200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681755" h="2002200">
                <a:moveTo>
                  <a:pt x="320629" y="0"/>
                </a:moveTo>
                <a:lnTo>
                  <a:pt x="375829" y="158026"/>
                </a:lnTo>
                <a:cubicBezTo>
                  <a:pt x="503741" y="486192"/>
                  <a:pt x="688117" y="753054"/>
                  <a:pt x="897491" y="961690"/>
                </a:cubicBezTo>
                <a:cubicBezTo>
                  <a:pt x="1455821" y="1518049"/>
                  <a:pt x="3033468" y="1694058"/>
                  <a:pt x="4054478" y="1474149"/>
                </a:cubicBezTo>
                <a:cubicBezTo>
                  <a:pt x="5094564" y="1247948"/>
                  <a:pt x="5587838" y="1548928"/>
                  <a:pt x="5679398" y="1986034"/>
                </a:cubicBezTo>
                <a:lnTo>
                  <a:pt x="5681755" y="2002200"/>
                </a:lnTo>
                <a:lnTo>
                  <a:pt x="0" y="1989323"/>
                </a:lnTo>
                <a:lnTo>
                  <a:pt x="0" y="1952135"/>
                </a:lnTo>
                <a:close/>
              </a:path>
            </a:pathLst>
          </a:custGeom>
          <a:gradFill flip="none" rotWithShape="1">
            <a:gsLst>
              <a:gs pos="77000">
                <a:schemeClr val="accent3">
                  <a:lumMod val="25000"/>
                  <a:alpha val="0"/>
                </a:schemeClr>
              </a:gs>
              <a:gs pos="0">
                <a:schemeClr val="tx2">
                  <a:alpha val="7077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6B337A9-EA8E-4E30-3CF4-C681F9705934}"/>
              </a:ext>
            </a:extLst>
          </p:cNvPr>
          <p:cNvSpPr/>
          <p:nvPr userDrawn="1"/>
        </p:nvSpPr>
        <p:spPr>
          <a:xfrm>
            <a:off x="1" y="0"/>
            <a:ext cx="6392389" cy="3297866"/>
          </a:xfrm>
          <a:custGeom>
            <a:avLst/>
            <a:gdLst>
              <a:gd name="connsiteX0" fmla="*/ 0 w 6392389"/>
              <a:gd name="connsiteY0" fmla="*/ 0 h 3297866"/>
              <a:gd name="connsiteX1" fmla="*/ 6392389 w 6392389"/>
              <a:gd name="connsiteY1" fmla="*/ 0 h 3297866"/>
              <a:gd name="connsiteX2" fmla="*/ 6039257 w 6392389"/>
              <a:gd name="connsiteY2" fmla="*/ 205593 h 3297866"/>
              <a:gd name="connsiteX3" fmla="*/ 4044501 w 6392389"/>
              <a:gd name="connsiteY3" fmla="*/ 1885401 h 3297866"/>
              <a:gd name="connsiteX4" fmla="*/ 41384 w 6392389"/>
              <a:gd name="connsiteY4" fmla="*/ 2408804 h 3297866"/>
              <a:gd name="connsiteX5" fmla="*/ 0 w 6392389"/>
              <a:gd name="connsiteY5" fmla="*/ 2349004 h 329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92389" h="3297866">
                <a:moveTo>
                  <a:pt x="0" y="0"/>
                </a:moveTo>
                <a:lnTo>
                  <a:pt x="6392389" y="0"/>
                </a:lnTo>
                <a:lnTo>
                  <a:pt x="6039257" y="205593"/>
                </a:lnTo>
                <a:cubicBezTo>
                  <a:pt x="5243960" y="694220"/>
                  <a:pt x="4533171" y="1286369"/>
                  <a:pt x="4044501" y="1885401"/>
                </a:cubicBezTo>
                <a:cubicBezTo>
                  <a:pt x="2455953" y="3842789"/>
                  <a:pt x="879065" y="3516921"/>
                  <a:pt x="41384" y="2408804"/>
                </a:cubicBezTo>
                <a:lnTo>
                  <a:pt x="0" y="2349004"/>
                </a:lnTo>
                <a:close/>
              </a:path>
            </a:pathLst>
          </a:custGeom>
          <a:gradFill flip="none" rotWithShape="1">
            <a:gsLst>
              <a:gs pos="20000">
                <a:schemeClr val="accent3">
                  <a:lumMod val="25000"/>
                </a:schemeClr>
              </a:gs>
              <a:gs pos="100000">
                <a:schemeClr val="tx2">
                  <a:alpha val="54000"/>
                </a:schemeClr>
              </a:gs>
            </a:gsLst>
            <a:lin ang="102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385D1DB-F6B1-8F65-1FDB-5CDD731A6DFC}"/>
              </a:ext>
            </a:extLst>
          </p:cNvPr>
          <p:cNvSpPr/>
          <p:nvPr userDrawn="1"/>
        </p:nvSpPr>
        <p:spPr>
          <a:xfrm>
            <a:off x="9517205" y="2"/>
            <a:ext cx="2674794" cy="6857999"/>
          </a:xfrm>
          <a:custGeom>
            <a:avLst/>
            <a:gdLst>
              <a:gd name="connsiteX0" fmla="*/ 2674793 w 2674794"/>
              <a:gd name="connsiteY0" fmla="*/ 0 h 6857999"/>
              <a:gd name="connsiteX1" fmla="*/ 2674794 w 2674794"/>
              <a:gd name="connsiteY1" fmla="*/ 6857999 h 6857999"/>
              <a:gd name="connsiteX2" fmla="*/ 1158844 w 2674794"/>
              <a:gd name="connsiteY2" fmla="*/ 6857999 h 6857999"/>
              <a:gd name="connsiteX3" fmla="*/ 1212639 w 2674794"/>
              <a:gd name="connsiteY3" fmla="*/ 6771304 h 6857999"/>
              <a:gd name="connsiteX4" fmla="*/ 1327460 w 2674794"/>
              <a:gd name="connsiteY4" fmla="*/ 6554527 h 6857999"/>
              <a:gd name="connsiteX5" fmla="*/ 545566 w 2674794"/>
              <a:gd name="connsiteY5" fmla="*/ 2293136 h 6857999"/>
              <a:gd name="connsiteX6" fmla="*/ 381787 w 2674794"/>
              <a:gd name="connsiteY6" fmla="*/ 3827 h 6857999"/>
              <a:gd name="connsiteX7" fmla="*/ 386161 w 2674794"/>
              <a:gd name="connsiteY7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74794" h="6857999">
                <a:moveTo>
                  <a:pt x="2674793" y="0"/>
                </a:moveTo>
                <a:lnTo>
                  <a:pt x="2674794" y="6857999"/>
                </a:lnTo>
                <a:lnTo>
                  <a:pt x="1158844" y="6857999"/>
                </a:lnTo>
                <a:lnTo>
                  <a:pt x="1212639" y="6771304"/>
                </a:lnTo>
                <a:cubicBezTo>
                  <a:pt x="1256917" y="6696480"/>
                  <a:pt x="1295401" y="6624001"/>
                  <a:pt x="1327460" y="6554527"/>
                </a:cubicBezTo>
                <a:cubicBezTo>
                  <a:pt x="1840424" y="5442926"/>
                  <a:pt x="1337703" y="3374924"/>
                  <a:pt x="545566" y="2293136"/>
                </a:cubicBezTo>
                <a:cubicBezTo>
                  <a:pt x="-210423" y="1266170"/>
                  <a:pt x="-98154" y="469786"/>
                  <a:pt x="381787" y="3827"/>
                </a:cubicBezTo>
                <a:lnTo>
                  <a:pt x="386161" y="0"/>
                </a:lnTo>
                <a:close/>
              </a:path>
            </a:pathLst>
          </a:custGeom>
          <a:solidFill>
            <a:schemeClr val="tx2">
              <a:alpha val="32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glass card">
            <a:extLst>
              <a:ext uri="{FF2B5EF4-FFF2-40B4-BE49-F238E27FC236}">
                <a16:creationId xmlns:a16="http://schemas.microsoft.com/office/drawing/2014/main" id="{BAC99002-32F5-F4C1-2519-F23274B0580C}"/>
              </a:ext>
            </a:extLst>
          </p:cNvPr>
          <p:cNvSpPr/>
          <p:nvPr userDrawn="1"/>
        </p:nvSpPr>
        <p:spPr>
          <a:xfrm>
            <a:off x="1365705" y="1005155"/>
            <a:ext cx="9243233" cy="4978750"/>
          </a:xfrm>
          <a:prstGeom prst="roundRect">
            <a:avLst>
              <a:gd name="adj" fmla="val 6806"/>
            </a:avLst>
          </a:prstGeom>
          <a:gradFill>
            <a:gsLst>
              <a:gs pos="100000">
                <a:schemeClr val="bg1">
                  <a:alpha val="3000"/>
                </a:schemeClr>
              </a:gs>
              <a:gs pos="47000">
                <a:schemeClr val="bg1">
                  <a:alpha val="17037"/>
                </a:schemeClr>
              </a:gs>
              <a:gs pos="6000">
                <a:schemeClr val="bg1">
                  <a:alpha val="13000"/>
                </a:schemeClr>
              </a:gs>
            </a:gsLst>
            <a:path path="circle">
              <a:fillToRect l="100000" t="100000"/>
            </a:path>
          </a:gradFill>
          <a:ln w="6350">
            <a:noFill/>
          </a:ln>
          <a:effectLst>
            <a:outerShdw blurRad="63500" dist="38100" dir="5400000" sx="1000" sy="1000" algn="t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2157984"/>
            <a:ext cx="7735824" cy="1069848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685032"/>
            <a:ext cx="7735824" cy="113385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0DF239B3-DB66-3CD4-1BFE-4EBA82BC4A44}"/>
              </a:ext>
            </a:extLst>
          </p:cNvPr>
          <p:cNvSpPr/>
          <p:nvPr userDrawn="1"/>
        </p:nvSpPr>
        <p:spPr>
          <a:xfrm>
            <a:off x="0" y="5255333"/>
            <a:ext cx="2769194" cy="1602667"/>
          </a:xfrm>
          <a:custGeom>
            <a:avLst/>
            <a:gdLst>
              <a:gd name="connsiteX0" fmla="*/ 0 w 2769194"/>
              <a:gd name="connsiteY0" fmla="*/ 0 h 1602667"/>
              <a:gd name="connsiteX1" fmla="*/ 93250 w 2769194"/>
              <a:gd name="connsiteY1" fmla="*/ 101565 h 1602667"/>
              <a:gd name="connsiteX2" fmla="*/ 2646213 w 2769194"/>
              <a:gd name="connsiteY2" fmla="*/ 1567071 h 1602667"/>
              <a:gd name="connsiteX3" fmla="*/ 2769194 w 2769194"/>
              <a:gd name="connsiteY3" fmla="*/ 1602667 h 1602667"/>
              <a:gd name="connsiteX4" fmla="*/ 0 w 2769194"/>
              <a:gd name="connsiteY4" fmla="*/ 1602667 h 1602667"/>
              <a:gd name="connsiteX5" fmla="*/ 0 w 2769194"/>
              <a:gd name="connsiteY5" fmla="*/ 807120 h 1602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69194" h="1602667">
                <a:moveTo>
                  <a:pt x="0" y="0"/>
                </a:moveTo>
                <a:lnTo>
                  <a:pt x="93250" y="101565"/>
                </a:lnTo>
                <a:cubicBezTo>
                  <a:pt x="702540" y="735306"/>
                  <a:pt x="1672588" y="1259605"/>
                  <a:pt x="2646213" y="1567071"/>
                </a:cubicBezTo>
                <a:lnTo>
                  <a:pt x="2769194" y="1602667"/>
                </a:lnTo>
                <a:lnTo>
                  <a:pt x="0" y="1602667"/>
                </a:lnTo>
                <a:lnTo>
                  <a:pt x="0" y="807120"/>
                </a:lnTo>
                <a:close/>
              </a:path>
            </a:pathLst>
          </a:custGeom>
          <a:gradFill flip="none" rotWithShape="1">
            <a:gsLst>
              <a:gs pos="60000">
                <a:schemeClr val="accent3">
                  <a:alpha val="45000"/>
                </a:schemeClr>
              </a:gs>
              <a:gs pos="99000">
                <a:schemeClr val="accent5">
                  <a:alpha val="66721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303B57-FF55-B795-FAE7-5EF26BFCBEF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115287" y="2597113"/>
            <a:ext cx="0" cy="16551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71699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29968"/>
            <a:ext cx="9144000" cy="1069848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0320" y="3803904"/>
            <a:ext cx="7068312" cy="758952"/>
          </a:xfrm>
        </p:spPr>
        <p:txBody>
          <a:bodyPr>
            <a:no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Freeform 3">
            <a:extLst>
              <a:ext uri="{FF2B5EF4-FFF2-40B4-BE49-F238E27FC236}">
                <a16:creationId xmlns:a16="http://schemas.microsoft.com/office/drawing/2014/main" id="{F1F20C20-DE23-6FE7-74A0-517218ACED7A}"/>
              </a:ext>
            </a:extLst>
          </p:cNvPr>
          <p:cNvSpPr/>
          <p:nvPr userDrawn="1"/>
        </p:nvSpPr>
        <p:spPr>
          <a:xfrm rot="10800000">
            <a:off x="-1" y="5019503"/>
            <a:ext cx="9676770" cy="18384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29177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 4">
            <a:extLst>
              <a:ext uri="{FF2B5EF4-FFF2-40B4-BE49-F238E27FC236}">
                <a16:creationId xmlns:a16="http://schemas.microsoft.com/office/drawing/2014/main" id="{98E2EA35-4179-2438-E1D1-02EFA8830FF9}"/>
              </a:ext>
            </a:extLst>
          </p:cNvPr>
          <p:cNvSpPr/>
          <p:nvPr userDrawn="1"/>
        </p:nvSpPr>
        <p:spPr>
          <a:xfrm flipV="1">
            <a:off x="2763044" y="6076116"/>
            <a:ext cx="3946673" cy="781884"/>
          </a:xfrm>
          <a:custGeom>
            <a:avLst/>
            <a:gdLst>
              <a:gd name="connsiteX0" fmla="*/ 1910385 w 3946673"/>
              <a:gd name="connsiteY0" fmla="*/ 781847 h 781884"/>
              <a:gd name="connsiteX1" fmla="*/ 3855031 w 3946673"/>
              <a:gd name="connsiteY1" fmla="*/ 44786 h 781884"/>
              <a:gd name="connsiteX2" fmla="*/ 3946673 w 3946673"/>
              <a:gd name="connsiteY2" fmla="*/ 0 h 781884"/>
              <a:gd name="connsiteX3" fmla="*/ 0 w 3946673"/>
              <a:gd name="connsiteY3" fmla="*/ 0 h 781884"/>
              <a:gd name="connsiteX4" fmla="*/ 54644 w 3946673"/>
              <a:gd name="connsiteY4" fmla="*/ 67939 h 781884"/>
              <a:gd name="connsiteX5" fmla="*/ 1910385 w 3946673"/>
              <a:gd name="connsiteY5" fmla="*/ 781847 h 781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6673" h="781884">
                <a:moveTo>
                  <a:pt x="1910385" y="781847"/>
                </a:moveTo>
                <a:cubicBezTo>
                  <a:pt x="2719463" y="777993"/>
                  <a:pt x="3240943" y="361686"/>
                  <a:pt x="3855031" y="44786"/>
                </a:cubicBezTo>
                <a:lnTo>
                  <a:pt x="3946673" y="0"/>
                </a:lnTo>
                <a:lnTo>
                  <a:pt x="0" y="0"/>
                </a:lnTo>
                <a:lnTo>
                  <a:pt x="54644" y="67939"/>
                </a:lnTo>
                <a:cubicBezTo>
                  <a:pt x="372182" y="426203"/>
                  <a:pt x="1020399" y="786086"/>
                  <a:pt x="1910385" y="781847"/>
                </a:cubicBezTo>
                <a:close/>
              </a:path>
            </a:pathLst>
          </a:custGeom>
          <a:gradFill>
            <a:gsLst>
              <a:gs pos="66000">
                <a:schemeClr val="accent4">
                  <a:lumMod val="75000"/>
                  <a:alpha val="46295"/>
                </a:schemeClr>
              </a:gs>
              <a:gs pos="33000">
                <a:schemeClr val="accent3">
                  <a:lumMod val="25000"/>
                  <a:alpha val="27934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5">
            <a:extLst>
              <a:ext uri="{FF2B5EF4-FFF2-40B4-BE49-F238E27FC236}">
                <a16:creationId xmlns:a16="http://schemas.microsoft.com/office/drawing/2014/main" id="{A7C0B16B-87E9-E92C-62F3-D1844BEE5B2D}"/>
              </a:ext>
            </a:extLst>
          </p:cNvPr>
          <p:cNvSpPr/>
          <p:nvPr userDrawn="1"/>
        </p:nvSpPr>
        <p:spPr>
          <a:xfrm rot="10800000">
            <a:off x="5393054" y="6015979"/>
            <a:ext cx="4758726" cy="842020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51F4118C-3B46-F20B-EF12-E16F7513844C}"/>
              </a:ext>
            </a:extLst>
          </p:cNvPr>
          <p:cNvSpPr/>
          <p:nvPr userDrawn="1"/>
        </p:nvSpPr>
        <p:spPr>
          <a:xfrm rot="10800000" flipH="1">
            <a:off x="-2688" y="5263861"/>
            <a:ext cx="12192000" cy="1599109"/>
          </a:xfrm>
          <a:custGeom>
            <a:avLst/>
            <a:gdLst>
              <a:gd name="connsiteX0" fmla="*/ 1373073 w 12192000"/>
              <a:gd name="connsiteY0" fmla="*/ 1599066 h 1599109"/>
              <a:gd name="connsiteX1" fmla="*/ 4901233 w 12192000"/>
              <a:gd name="connsiteY1" fmla="*/ 313816 h 1599109"/>
              <a:gd name="connsiteX2" fmla="*/ 7629483 w 12192000"/>
              <a:gd name="connsiteY2" fmla="*/ 1209099 h 1599109"/>
              <a:gd name="connsiteX3" fmla="*/ 7664573 w 12192000"/>
              <a:gd name="connsiteY3" fmla="*/ 1222798 h 1599109"/>
              <a:gd name="connsiteX4" fmla="*/ 7753536 w 12192000"/>
              <a:gd name="connsiteY4" fmla="*/ 1277391 h 1599109"/>
              <a:gd name="connsiteX5" fmla="*/ 9091947 w 12192000"/>
              <a:gd name="connsiteY5" fmla="*/ 1582567 h 1599109"/>
              <a:gd name="connsiteX6" fmla="*/ 12094171 w 12192000"/>
              <a:gd name="connsiteY6" fmla="*/ 359476 h 1599109"/>
              <a:gd name="connsiteX7" fmla="*/ 12192000 w 12192000"/>
              <a:gd name="connsiteY7" fmla="*/ 342643 h 1599109"/>
              <a:gd name="connsiteX8" fmla="*/ 12192000 w 12192000"/>
              <a:gd name="connsiteY8" fmla="*/ 0 h 1599109"/>
              <a:gd name="connsiteX9" fmla="*/ 0 w 12192000"/>
              <a:gd name="connsiteY9" fmla="*/ 0 h 1599109"/>
              <a:gd name="connsiteX10" fmla="*/ 0 w 12192000"/>
              <a:gd name="connsiteY10" fmla="*/ 1274406 h 1599109"/>
              <a:gd name="connsiteX11" fmla="*/ 34662 w 12192000"/>
              <a:gd name="connsiteY11" fmla="*/ 1293889 h 1599109"/>
              <a:gd name="connsiteX12" fmla="*/ 1373073 w 12192000"/>
              <a:gd name="connsiteY12" fmla="*/ 1599066 h 1599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192000" h="1599109">
                <a:moveTo>
                  <a:pt x="1373073" y="1599066"/>
                </a:moveTo>
                <a:cubicBezTo>
                  <a:pt x="2786156" y="1591793"/>
                  <a:pt x="3395560" y="338997"/>
                  <a:pt x="4901233" y="313816"/>
                </a:cubicBezTo>
                <a:cubicBezTo>
                  <a:pt x="6312803" y="290208"/>
                  <a:pt x="7142906" y="993618"/>
                  <a:pt x="7629483" y="1209099"/>
                </a:cubicBezTo>
                <a:lnTo>
                  <a:pt x="7664573" y="1222798"/>
                </a:lnTo>
                <a:lnTo>
                  <a:pt x="7753536" y="1277391"/>
                </a:lnTo>
                <a:cubicBezTo>
                  <a:pt x="8110655" y="1460232"/>
                  <a:pt x="8562041" y="1585295"/>
                  <a:pt x="9091947" y="1582567"/>
                </a:cubicBezTo>
                <a:cubicBezTo>
                  <a:pt x="10328396" y="1576205"/>
                  <a:pt x="10949524" y="616237"/>
                  <a:pt x="12094171" y="359476"/>
                </a:cubicBezTo>
                <a:lnTo>
                  <a:pt x="12192000" y="342643"/>
                </a:lnTo>
                <a:lnTo>
                  <a:pt x="12192000" y="0"/>
                </a:lnTo>
                <a:lnTo>
                  <a:pt x="0" y="0"/>
                </a:lnTo>
                <a:lnTo>
                  <a:pt x="0" y="1274406"/>
                </a:lnTo>
                <a:lnTo>
                  <a:pt x="34662" y="1293889"/>
                </a:lnTo>
                <a:cubicBezTo>
                  <a:pt x="391780" y="1476730"/>
                  <a:pt x="843167" y="1601794"/>
                  <a:pt x="1373073" y="159906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alpha val="69328"/>
                </a:schemeClr>
              </a:gs>
              <a:gs pos="85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D0F8AA9-2207-2D4C-C2E0-FEF14E2D9ACF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095999" y="2597191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2753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hart or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4F769D-48D3-2655-40A4-674F657B741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FA0756-78EA-68DD-4650-F40EF5F252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/>
              <a:t>Crypto: investing &amp; trading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5340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6">
            <a:extLst>
              <a:ext uri="{FF2B5EF4-FFF2-40B4-BE49-F238E27FC236}">
                <a16:creationId xmlns:a16="http://schemas.microsoft.com/office/drawing/2014/main" id="{77AD3460-2264-3A46-993B-9F2AACED0504}"/>
              </a:ext>
            </a:extLst>
          </p:cNvPr>
          <p:cNvSpPr/>
          <p:nvPr userDrawn="1"/>
        </p:nvSpPr>
        <p:spPr>
          <a:xfrm rot="10800000">
            <a:off x="5393054" y="5650992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Freeform 7">
            <a:extLst>
              <a:ext uri="{FF2B5EF4-FFF2-40B4-BE49-F238E27FC236}">
                <a16:creationId xmlns:a16="http://schemas.microsoft.com/office/drawing/2014/main" id="{BBBF3E9C-CCEA-98FA-7F69-55AF07558021}"/>
              </a:ext>
            </a:extLst>
          </p:cNvPr>
          <p:cNvSpPr/>
          <p:nvPr userDrawn="1"/>
        </p:nvSpPr>
        <p:spPr>
          <a:xfrm flipH="1">
            <a:off x="-2" y="0"/>
            <a:ext cx="11262111" cy="21396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1149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Freeform 9">
            <a:extLst>
              <a:ext uri="{FF2B5EF4-FFF2-40B4-BE49-F238E27FC236}">
                <a16:creationId xmlns:a16="http://schemas.microsoft.com/office/drawing/2014/main" id="{4F937A84-95EC-EB44-470A-C82AD8E99897}"/>
              </a:ext>
            </a:extLst>
          </p:cNvPr>
          <p:cNvSpPr/>
          <p:nvPr userDrawn="1"/>
        </p:nvSpPr>
        <p:spPr>
          <a:xfrm>
            <a:off x="-24334" y="0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3916598 w 12218982"/>
              <a:gd name="connsiteY10" fmla="*/ 272807 h 6860673"/>
              <a:gd name="connsiteX11" fmla="*/ 3863345 w 12218982"/>
              <a:gd name="connsiteY11" fmla="*/ 286233 h 6860673"/>
              <a:gd name="connsiteX12" fmla="*/ 3729781 w 12218982"/>
              <a:gd name="connsiteY12" fmla="*/ 323286 h 6860673"/>
              <a:gd name="connsiteX13" fmla="*/ 1717096 w 12218982"/>
              <a:gd name="connsiteY13" fmla="*/ 1451719 h 6860673"/>
              <a:gd name="connsiteX14" fmla="*/ 708597 w 12218982"/>
              <a:gd name="connsiteY14" fmla="*/ 2695590 h 6860673"/>
              <a:gd name="connsiteX15" fmla="*/ 486880 w 12218982"/>
              <a:gd name="connsiteY15" fmla="*/ 3274865 h 6860673"/>
              <a:gd name="connsiteX16" fmla="*/ 365997 w 12218982"/>
              <a:gd name="connsiteY16" fmla="*/ 3984708 h 6860673"/>
              <a:gd name="connsiteX17" fmla="*/ 341340 w 12218982"/>
              <a:gd name="connsiteY17" fmla="*/ 4301231 h 6860673"/>
              <a:gd name="connsiteX18" fmla="*/ 341340 w 12218982"/>
              <a:gd name="connsiteY18" fmla="*/ 5007890 h 6860673"/>
              <a:gd name="connsiteX19" fmla="*/ 343276 w 12218982"/>
              <a:gd name="connsiteY19" fmla="*/ 5047516 h 6860673"/>
              <a:gd name="connsiteX20" fmla="*/ 814636 w 12218982"/>
              <a:gd name="connsiteY20" fmla="*/ 6666819 h 6860673"/>
              <a:gd name="connsiteX21" fmla="*/ 915601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4862080" y="106647"/>
                  <a:pt x="4363654" y="168899"/>
                  <a:pt x="3916598" y="272807"/>
                </a:cubicBezTo>
                <a:lnTo>
                  <a:pt x="3863345" y="286233"/>
                </a:lnTo>
                <a:lnTo>
                  <a:pt x="3729781" y="323286"/>
                </a:lnTo>
                <a:cubicBezTo>
                  <a:pt x="3036967" y="532141"/>
                  <a:pt x="2352843" y="836886"/>
                  <a:pt x="1717096" y="1451719"/>
                </a:cubicBezTo>
                <a:cubicBezTo>
                  <a:pt x="1293264" y="1861607"/>
                  <a:pt x="966036" y="2282242"/>
                  <a:pt x="708597" y="2695590"/>
                </a:cubicBezTo>
                <a:cubicBezTo>
                  <a:pt x="593502" y="2938109"/>
                  <a:pt x="544310" y="3015870"/>
                  <a:pt x="486880" y="3274865"/>
                </a:cubicBezTo>
                <a:cubicBezTo>
                  <a:pt x="434927" y="3498394"/>
                  <a:pt x="385149" y="3635910"/>
                  <a:pt x="365997" y="3984708"/>
                </a:cubicBezTo>
                <a:lnTo>
                  <a:pt x="341340" y="4301231"/>
                </a:lnTo>
                <a:lnTo>
                  <a:pt x="341340" y="5007890"/>
                </a:lnTo>
                <a:cubicBezTo>
                  <a:pt x="341985" y="5021099"/>
                  <a:pt x="342631" y="5034307"/>
                  <a:pt x="343276" y="5047516"/>
                </a:cubicBezTo>
                <a:cubicBezTo>
                  <a:pt x="393784" y="5666740"/>
                  <a:pt x="577442" y="6188267"/>
                  <a:pt x="814636" y="6666819"/>
                </a:cubicBezTo>
                <a:lnTo>
                  <a:pt x="915601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25000"/>
                  <a:alpha val="60164"/>
                </a:schemeClr>
              </a:gs>
              <a:gs pos="77000">
                <a:schemeClr val="accent3">
                  <a:lumMod val="25000"/>
                  <a:alpha val="29492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4" name="Freeform 10">
            <a:extLst>
              <a:ext uri="{FF2B5EF4-FFF2-40B4-BE49-F238E27FC236}">
                <a16:creationId xmlns:a16="http://schemas.microsoft.com/office/drawing/2014/main" id="{A9BF091C-5F88-B50F-03BB-284950253993}"/>
              </a:ext>
            </a:extLst>
          </p:cNvPr>
          <p:cNvSpPr/>
          <p:nvPr userDrawn="1"/>
        </p:nvSpPr>
        <p:spPr>
          <a:xfrm flipV="1">
            <a:off x="204060" y="5377862"/>
            <a:ext cx="7471211" cy="1480138"/>
          </a:xfrm>
          <a:custGeom>
            <a:avLst/>
            <a:gdLst>
              <a:gd name="connsiteX0" fmla="*/ 1910385 w 3946673"/>
              <a:gd name="connsiteY0" fmla="*/ 781847 h 781884"/>
              <a:gd name="connsiteX1" fmla="*/ 3855031 w 3946673"/>
              <a:gd name="connsiteY1" fmla="*/ 44786 h 781884"/>
              <a:gd name="connsiteX2" fmla="*/ 3946673 w 3946673"/>
              <a:gd name="connsiteY2" fmla="*/ 0 h 781884"/>
              <a:gd name="connsiteX3" fmla="*/ 0 w 3946673"/>
              <a:gd name="connsiteY3" fmla="*/ 0 h 781884"/>
              <a:gd name="connsiteX4" fmla="*/ 54644 w 3946673"/>
              <a:gd name="connsiteY4" fmla="*/ 67939 h 781884"/>
              <a:gd name="connsiteX5" fmla="*/ 1910385 w 3946673"/>
              <a:gd name="connsiteY5" fmla="*/ 781847 h 781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6673" h="781884">
                <a:moveTo>
                  <a:pt x="1910385" y="781847"/>
                </a:moveTo>
                <a:cubicBezTo>
                  <a:pt x="2719463" y="777993"/>
                  <a:pt x="3240943" y="361686"/>
                  <a:pt x="3855031" y="44786"/>
                </a:cubicBezTo>
                <a:lnTo>
                  <a:pt x="3946673" y="0"/>
                </a:lnTo>
                <a:lnTo>
                  <a:pt x="0" y="0"/>
                </a:lnTo>
                <a:lnTo>
                  <a:pt x="54644" y="67939"/>
                </a:lnTo>
                <a:cubicBezTo>
                  <a:pt x="372182" y="426203"/>
                  <a:pt x="1020399" y="786086"/>
                  <a:pt x="1910385" y="781847"/>
                </a:cubicBezTo>
                <a:close/>
              </a:path>
            </a:pathLst>
          </a:custGeom>
          <a:gradFill>
            <a:gsLst>
              <a:gs pos="66000">
                <a:schemeClr val="tx2">
                  <a:alpha val="8123"/>
                </a:schemeClr>
              </a:gs>
              <a:gs pos="33000">
                <a:schemeClr val="accent6">
                  <a:alpha val="13919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5" name="Freeform 16">
            <a:extLst>
              <a:ext uri="{FF2B5EF4-FFF2-40B4-BE49-F238E27FC236}">
                <a16:creationId xmlns:a16="http://schemas.microsoft.com/office/drawing/2014/main" id="{3FF8B459-35F5-072D-56FA-415EEABE6DC2}"/>
              </a:ext>
            </a:extLst>
          </p:cNvPr>
          <p:cNvSpPr/>
          <p:nvPr userDrawn="1"/>
        </p:nvSpPr>
        <p:spPr>
          <a:xfrm rot="10800000">
            <a:off x="-30287" y="4822578"/>
            <a:ext cx="12230888" cy="2040391"/>
          </a:xfrm>
          <a:custGeom>
            <a:avLst/>
            <a:gdLst>
              <a:gd name="connsiteX0" fmla="*/ 1751979 w 12230888"/>
              <a:gd name="connsiteY0" fmla="*/ 2040336 h 2040391"/>
              <a:gd name="connsiteX1" fmla="*/ 44227 w 12230888"/>
              <a:gd name="connsiteY1" fmla="*/ 1650944 h 2040391"/>
              <a:gd name="connsiteX2" fmla="*/ 0 w 12230888"/>
              <a:gd name="connsiteY2" fmla="*/ 1626084 h 2040391"/>
              <a:gd name="connsiteX3" fmla="*/ 0 w 12230888"/>
              <a:gd name="connsiteY3" fmla="*/ 0 h 2040391"/>
              <a:gd name="connsiteX4" fmla="*/ 12230888 w 12230888"/>
              <a:gd name="connsiteY4" fmla="*/ 0 h 2040391"/>
              <a:gd name="connsiteX5" fmla="*/ 12230888 w 12230888"/>
              <a:gd name="connsiteY5" fmla="*/ 1945571 h 2040391"/>
              <a:gd name="connsiteX6" fmla="*/ 12158569 w 12230888"/>
              <a:gd name="connsiteY6" fmla="*/ 1963333 h 2040391"/>
              <a:gd name="connsiteX7" fmla="*/ 11600914 w 12230888"/>
              <a:gd name="connsiteY7" fmla="*/ 2019284 h 2040391"/>
              <a:gd name="connsiteX8" fmla="*/ 9893162 w 12230888"/>
              <a:gd name="connsiteY8" fmla="*/ 1629893 h 2040391"/>
              <a:gd name="connsiteX9" fmla="*/ 9779649 w 12230888"/>
              <a:gd name="connsiteY9" fmla="*/ 1560235 h 2040391"/>
              <a:gd name="connsiteX10" fmla="*/ 9734876 w 12230888"/>
              <a:gd name="connsiteY10" fmla="*/ 1542756 h 2040391"/>
              <a:gd name="connsiteX11" fmla="*/ 6253752 w 12230888"/>
              <a:gd name="connsiteY11" fmla="*/ 400415 h 2040391"/>
              <a:gd name="connsiteX12" fmla="*/ 1751979 w 12230888"/>
              <a:gd name="connsiteY12" fmla="*/ 2040336 h 2040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230888" h="2040391">
                <a:moveTo>
                  <a:pt x="1751979" y="2040336"/>
                </a:moveTo>
                <a:cubicBezTo>
                  <a:pt x="1075843" y="2043817"/>
                  <a:pt x="499894" y="1884241"/>
                  <a:pt x="44227" y="1650944"/>
                </a:cubicBezTo>
                <a:lnTo>
                  <a:pt x="0" y="1626084"/>
                </a:lnTo>
                <a:lnTo>
                  <a:pt x="0" y="0"/>
                </a:lnTo>
                <a:lnTo>
                  <a:pt x="12230888" y="0"/>
                </a:lnTo>
                <a:lnTo>
                  <a:pt x="12230888" y="1945571"/>
                </a:lnTo>
                <a:lnTo>
                  <a:pt x="12158569" y="1963333"/>
                </a:lnTo>
                <a:cubicBezTo>
                  <a:pt x="11983060" y="1998243"/>
                  <a:pt x="11798121" y="2018269"/>
                  <a:pt x="11600914" y="2019284"/>
                </a:cubicBezTo>
                <a:cubicBezTo>
                  <a:pt x="10924778" y="2022765"/>
                  <a:pt x="10348830" y="1863190"/>
                  <a:pt x="9893162" y="1629893"/>
                </a:cubicBezTo>
                <a:lnTo>
                  <a:pt x="9779649" y="1560235"/>
                </a:lnTo>
                <a:lnTo>
                  <a:pt x="9734876" y="1542756"/>
                </a:lnTo>
                <a:cubicBezTo>
                  <a:pt x="9114026" y="1267812"/>
                  <a:pt x="8054852" y="370292"/>
                  <a:pt x="6253752" y="400415"/>
                </a:cubicBezTo>
                <a:cubicBezTo>
                  <a:pt x="4332581" y="432545"/>
                  <a:pt x="3555009" y="2031056"/>
                  <a:pt x="1751979" y="204033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alpha val="23907"/>
                </a:schemeClr>
              </a:gs>
              <a:gs pos="85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6" name="Freeform 17">
            <a:extLst>
              <a:ext uri="{FF2B5EF4-FFF2-40B4-BE49-F238E27FC236}">
                <a16:creationId xmlns:a16="http://schemas.microsoft.com/office/drawing/2014/main" id="{73867BC1-390E-647F-B33F-8622748E6530}"/>
              </a:ext>
            </a:extLst>
          </p:cNvPr>
          <p:cNvSpPr/>
          <p:nvPr userDrawn="1"/>
        </p:nvSpPr>
        <p:spPr>
          <a:xfrm>
            <a:off x="0" y="0"/>
            <a:ext cx="12192000" cy="2035422"/>
          </a:xfrm>
          <a:custGeom>
            <a:avLst/>
            <a:gdLst>
              <a:gd name="connsiteX0" fmla="*/ 0 w 12192000"/>
              <a:gd name="connsiteY0" fmla="*/ 0 h 2035422"/>
              <a:gd name="connsiteX1" fmla="*/ 12192000 w 12192000"/>
              <a:gd name="connsiteY1" fmla="*/ 0 h 2035422"/>
              <a:gd name="connsiteX2" fmla="*/ 12192000 w 12192000"/>
              <a:gd name="connsiteY2" fmla="*/ 1759689 h 2035422"/>
              <a:gd name="connsiteX3" fmla="*/ 12103306 w 12192000"/>
              <a:gd name="connsiteY3" fmla="*/ 1729773 h 2035422"/>
              <a:gd name="connsiteX4" fmla="*/ 11659615 w 12192000"/>
              <a:gd name="connsiteY4" fmla="*/ 1535038 h 2035422"/>
              <a:gd name="connsiteX5" fmla="*/ 11521247 w 12192000"/>
              <a:gd name="connsiteY5" fmla="*/ 1450127 h 2035422"/>
              <a:gd name="connsiteX6" fmla="*/ 11466670 w 12192000"/>
              <a:gd name="connsiteY6" fmla="*/ 1428821 h 2035422"/>
              <a:gd name="connsiteX7" fmla="*/ 7223297 w 12192000"/>
              <a:gd name="connsiteY7" fmla="*/ 36346 h 2035422"/>
              <a:gd name="connsiteX8" fmla="*/ 1735787 w 12192000"/>
              <a:gd name="connsiteY8" fmla="*/ 2035354 h 2035422"/>
              <a:gd name="connsiteX9" fmla="*/ 97785 w 12192000"/>
              <a:gd name="connsiteY9" fmla="*/ 1755433 h 2035422"/>
              <a:gd name="connsiteX10" fmla="*/ 0 w 12192000"/>
              <a:gd name="connsiteY10" fmla="*/ 1715854 h 2035422"/>
              <a:gd name="connsiteX11" fmla="*/ 0 w 12192000"/>
              <a:gd name="connsiteY11" fmla="*/ 0 h 2035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2000" h="2035422">
                <a:moveTo>
                  <a:pt x="0" y="0"/>
                </a:moveTo>
                <a:lnTo>
                  <a:pt x="12192000" y="0"/>
                </a:lnTo>
                <a:lnTo>
                  <a:pt x="12192000" y="1759689"/>
                </a:lnTo>
                <a:lnTo>
                  <a:pt x="12103306" y="1729773"/>
                </a:lnTo>
                <a:cubicBezTo>
                  <a:pt x="11946501" y="1671612"/>
                  <a:pt x="11798476" y="1606133"/>
                  <a:pt x="11659615" y="1535038"/>
                </a:cubicBezTo>
                <a:lnTo>
                  <a:pt x="11521247" y="1450127"/>
                </a:lnTo>
                <a:lnTo>
                  <a:pt x="11466670" y="1428821"/>
                </a:lnTo>
                <a:cubicBezTo>
                  <a:pt x="10709874" y="1093673"/>
                  <a:pt x="9418777" y="-373"/>
                  <a:pt x="7223297" y="36346"/>
                </a:cubicBezTo>
                <a:cubicBezTo>
                  <a:pt x="4881454" y="75511"/>
                  <a:pt x="3933620" y="2024042"/>
                  <a:pt x="1735787" y="2035354"/>
                </a:cubicBezTo>
                <a:cubicBezTo>
                  <a:pt x="1117647" y="2038536"/>
                  <a:pt x="568201" y="1929916"/>
                  <a:pt x="97785" y="1755433"/>
                </a:cubicBezTo>
                <a:lnTo>
                  <a:pt x="0" y="1715854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25000"/>
                </a:schemeClr>
              </a:gs>
              <a:gs pos="99000">
                <a:schemeClr val="accent3">
                  <a:lumMod val="25000"/>
                </a:schemeClr>
              </a:gs>
              <a:gs pos="31000">
                <a:schemeClr val="accent6">
                  <a:alpha val="69328"/>
                </a:schemeClr>
              </a:gs>
              <a:gs pos="73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 18">
            <a:extLst>
              <a:ext uri="{FF2B5EF4-FFF2-40B4-BE49-F238E27FC236}">
                <a16:creationId xmlns:a16="http://schemas.microsoft.com/office/drawing/2014/main" id="{FA6C5756-59FF-66C3-2611-3D7AB2049ABE}"/>
              </a:ext>
            </a:extLst>
          </p:cNvPr>
          <p:cNvSpPr/>
          <p:nvPr userDrawn="1"/>
        </p:nvSpPr>
        <p:spPr>
          <a:xfrm flipH="1">
            <a:off x="-2" y="0"/>
            <a:ext cx="11262111" cy="21396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1149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8" name="Freeform 19">
            <a:extLst>
              <a:ext uri="{FF2B5EF4-FFF2-40B4-BE49-F238E27FC236}">
                <a16:creationId xmlns:a16="http://schemas.microsoft.com/office/drawing/2014/main" id="{EF6D3160-DA6D-8CDA-3A13-8A43EC05449D}"/>
              </a:ext>
            </a:extLst>
          </p:cNvPr>
          <p:cNvSpPr/>
          <p:nvPr userDrawn="1"/>
        </p:nvSpPr>
        <p:spPr>
          <a:xfrm>
            <a:off x="0" y="7399"/>
            <a:ext cx="4758726" cy="842020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2752344"/>
            <a:ext cx="7763256" cy="1600200"/>
          </a:xfrm>
        </p:spPr>
        <p:txBody>
          <a:bodyPr anchor="t">
            <a:noAutofit/>
          </a:bodyPr>
          <a:lstStyle>
            <a:lvl1pPr algn="ctr">
              <a:lnSpc>
                <a:spcPct val="100000"/>
              </a:lnSpc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32320" y="4233672"/>
            <a:ext cx="2843784" cy="448056"/>
          </a:xfrm>
        </p:spPr>
        <p:txBody>
          <a:bodyPr>
            <a:no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89227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100A0D9B-ADC5-C41B-130F-1EA1EDE9F2E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372600" y="3236976"/>
            <a:ext cx="2093976" cy="1856232"/>
          </a:xfrm>
          <a:custGeom>
            <a:avLst/>
            <a:gdLst>
              <a:gd name="connsiteX0" fmla="*/ 0 w 2093976"/>
              <a:gd name="connsiteY0" fmla="*/ 0 h 1856232"/>
              <a:gd name="connsiteX1" fmla="*/ 2093976 w 2093976"/>
              <a:gd name="connsiteY1" fmla="*/ 0 h 1856232"/>
              <a:gd name="connsiteX2" fmla="*/ 2093976 w 2093976"/>
              <a:gd name="connsiteY2" fmla="*/ 1695761 h 1856232"/>
              <a:gd name="connsiteX3" fmla="*/ 1933505 w 2093976"/>
              <a:gd name="connsiteY3" fmla="*/ 1856232 h 1856232"/>
              <a:gd name="connsiteX4" fmla="*/ 0 w 2093976"/>
              <a:gd name="connsiteY4" fmla="*/ 1856232 h 1856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93976" h="1856232">
                <a:moveTo>
                  <a:pt x="0" y="0"/>
                </a:moveTo>
                <a:lnTo>
                  <a:pt x="2093976" y="0"/>
                </a:lnTo>
                <a:lnTo>
                  <a:pt x="2093976" y="1695761"/>
                </a:lnTo>
                <a:cubicBezTo>
                  <a:pt x="2093976" y="1784387"/>
                  <a:pt x="2022131" y="1856232"/>
                  <a:pt x="1933505" y="1856232"/>
                </a:cubicBezTo>
                <a:lnTo>
                  <a:pt x="0" y="1856232"/>
                </a:lnTo>
                <a:close/>
              </a:path>
            </a:pathLst>
          </a:custGeom>
          <a:ln w="12700">
            <a:solidFill>
              <a:schemeClr val="bg1"/>
            </a:solidFill>
          </a:ln>
        </p:spPr>
        <p:txBody>
          <a:bodyPr wrap="square" lIns="256032" tIns="201168" rIns="27432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53694F-11E9-3CF0-DCDE-FC7C6FAF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5064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7" name="Text Placeholder 56">
            <a:extLst>
              <a:ext uri="{FF2B5EF4-FFF2-40B4-BE49-F238E27FC236}">
                <a16:creationId xmlns:a16="http://schemas.microsoft.com/office/drawing/2014/main" id="{9AF8AEFF-3F3B-8AFC-621B-F653E2F1B74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7339" y="2478024"/>
            <a:ext cx="2098157" cy="702770"/>
          </a:xfrm>
          <a:custGeom>
            <a:avLst/>
            <a:gdLst>
              <a:gd name="connsiteX0" fmla="*/ 169182 w 2098157"/>
              <a:gd name="connsiteY0" fmla="*/ 0 h 702770"/>
              <a:gd name="connsiteX1" fmla="*/ 2098157 w 2098157"/>
              <a:gd name="connsiteY1" fmla="*/ 0 h 702770"/>
              <a:gd name="connsiteX2" fmla="*/ 2098157 w 2098157"/>
              <a:gd name="connsiteY2" fmla="*/ 702770 h 702770"/>
              <a:gd name="connsiteX3" fmla="*/ 2097025 w 2098157"/>
              <a:gd name="connsiteY3" fmla="*/ 702770 h 702770"/>
              <a:gd name="connsiteX4" fmla="*/ 503974 w 2098157"/>
              <a:gd name="connsiteY4" fmla="*/ 702770 h 702770"/>
              <a:gd name="connsiteX5" fmla="*/ 0 w 2098157"/>
              <a:gd name="connsiteY5" fmla="*/ 702770 h 702770"/>
              <a:gd name="connsiteX6" fmla="*/ 0 w 2098157"/>
              <a:gd name="connsiteY6" fmla="*/ 202766 h 702770"/>
              <a:gd name="connsiteX7" fmla="*/ 136581 w 2098157"/>
              <a:gd name="connsiteY7" fmla="*/ 3900 h 702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8157" h="702770">
                <a:moveTo>
                  <a:pt x="169182" y="0"/>
                </a:moveTo>
                <a:lnTo>
                  <a:pt x="2098157" y="0"/>
                </a:lnTo>
                <a:lnTo>
                  <a:pt x="2098157" y="702770"/>
                </a:lnTo>
                <a:lnTo>
                  <a:pt x="2097025" y="702770"/>
                </a:lnTo>
                <a:lnTo>
                  <a:pt x="503974" y="702770"/>
                </a:lnTo>
                <a:lnTo>
                  <a:pt x="0" y="702770"/>
                </a:lnTo>
                <a:lnTo>
                  <a:pt x="0" y="202766"/>
                </a:lnTo>
                <a:cubicBezTo>
                  <a:pt x="0" y="104671"/>
                  <a:pt x="58634" y="22828"/>
                  <a:pt x="136581" y="3900"/>
                </a:cubicBezTo>
                <a:close/>
              </a:path>
            </a:pathLst>
          </a:custGeom>
          <a:solidFill>
            <a:schemeClr val="accent6"/>
          </a:solidFill>
          <a:ln w="12700">
            <a:solidFill>
              <a:schemeClr val="accent6"/>
            </a:solidFill>
          </a:ln>
        </p:spPr>
        <p:txBody>
          <a:bodyPr wrap="square" lIns="91440" tIns="45720" rIns="91440" bIns="4572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C0111168-089D-E125-6CBB-0B288CE8D5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520" y="3236976"/>
            <a:ext cx="2093976" cy="1856232"/>
          </a:xfrm>
          <a:custGeom>
            <a:avLst/>
            <a:gdLst>
              <a:gd name="connsiteX0" fmla="*/ 0 w 2093976"/>
              <a:gd name="connsiteY0" fmla="*/ 0 h 1856232"/>
              <a:gd name="connsiteX1" fmla="*/ 2093976 w 2093976"/>
              <a:gd name="connsiteY1" fmla="*/ 0 h 1856232"/>
              <a:gd name="connsiteX2" fmla="*/ 2093976 w 2093976"/>
              <a:gd name="connsiteY2" fmla="*/ 1856232 h 1856232"/>
              <a:gd name="connsiteX3" fmla="*/ 160471 w 2093976"/>
              <a:gd name="connsiteY3" fmla="*/ 1856232 h 1856232"/>
              <a:gd name="connsiteX4" fmla="*/ 0 w 2093976"/>
              <a:gd name="connsiteY4" fmla="*/ 1695761 h 1856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93976" h="1856232">
                <a:moveTo>
                  <a:pt x="0" y="0"/>
                </a:moveTo>
                <a:lnTo>
                  <a:pt x="2093976" y="0"/>
                </a:lnTo>
                <a:lnTo>
                  <a:pt x="2093976" y="1856232"/>
                </a:lnTo>
                <a:lnTo>
                  <a:pt x="160471" y="1856232"/>
                </a:lnTo>
                <a:cubicBezTo>
                  <a:pt x="71845" y="1856232"/>
                  <a:pt x="0" y="1784387"/>
                  <a:pt x="0" y="1695761"/>
                </a:cubicBezTo>
                <a:close/>
              </a:path>
            </a:pathLst>
          </a:custGeom>
          <a:ln w="12700">
            <a:solidFill>
              <a:schemeClr val="bg1"/>
            </a:solidFill>
          </a:ln>
        </p:spPr>
        <p:txBody>
          <a:bodyPr wrap="square" lIns="256032" tIns="201168" rIns="27432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20FBF32C-8DDB-F094-1C74-FDE91B64F9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4932" y="2478024"/>
            <a:ext cx="2103120" cy="704088"/>
          </a:xfr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5237567-8AEF-3966-7CED-5DA3ACD21E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9179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137587B-C03C-671F-AED7-4B974605AF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47488" y="2478024"/>
            <a:ext cx="2103120" cy="704088"/>
          </a:xfr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25D4A96A-10D9-D4AD-C775-61041F026B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5206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81308FE1-98CC-9FD0-5CF1-5A8E61C5BA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210044" y="2478024"/>
            <a:ext cx="2103120" cy="704088"/>
          </a:xfr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B6FB197B-711E-A949-62E5-216CBC83FFB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21233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76A5CBAC-0099-3E8F-E44D-7B999D70796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372600" y="2478025"/>
            <a:ext cx="2098157" cy="702769"/>
          </a:xfrm>
          <a:custGeom>
            <a:avLst/>
            <a:gdLst>
              <a:gd name="connsiteX0" fmla="*/ 0 w 2098157"/>
              <a:gd name="connsiteY0" fmla="*/ 0 h 702769"/>
              <a:gd name="connsiteX1" fmla="*/ 1928984 w 2098157"/>
              <a:gd name="connsiteY1" fmla="*/ 0 h 702769"/>
              <a:gd name="connsiteX2" fmla="*/ 1961576 w 2098157"/>
              <a:gd name="connsiteY2" fmla="*/ 3899 h 702769"/>
              <a:gd name="connsiteX3" fmla="*/ 2098157 w 2098157"/>
              <a:gd name="connsiteY3" fmla="*/ 202765 h 702769"/>
              <a:gd name="connsiteX4" fmla="*/ 2098157 w 2098157"/>
              <a:gd name="connsiteY4" fmla="*/ 702769 h 702769"/>
              <a:gd name="connsiteX5" fmla="*/ 1594183 w 2098157"/>
              <a:gd name="connsiteY5" fmla="*/ 702769 h 702769"/>
              <a:gd name="connsiteX6" fmla="*/ 1132 w 2098157"/>
              <a:gd name="connsiteY6" fmla="*/ 702769 h 702769"/>
              <a:gd name="connsiteX7" fmla="*/ 0 w 2098157"/>
              <a:gd name="connsiteY7" fmla="*/ 702769 h 7027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8157" h="702769">
                <a:moveTo>
                  <a:pt x="0" y="0"/>
                </a:moveTo>
                <a:lnTo>
                  <a:pt x="1928984" y="0"/>
                </a:lnTo>
                <a:lnTo>
                  <a:pt x="1961576" y="3899"/>
                </a:lnTo>
                <a:cubicBezTo>
                  <a:pt x="2039523" y="22827"/>
                  <a:pt x="2098157" y="104670"/>
                  <a:pt x="2098157" y="202765"/>
                </a:cubicBezTo>
                <a:lnTo>
                  <a:pt x="2098157" y="702769"/>
                </a:lnTo>
                <a:lnTo>
                  <a:pt x="1594183" y="702769"/>
                </a:lnTo>
                <a:lnTo>
                  <a:pt x="1132" y="702769"/>
                </a:lnTo>
                <a:lnTo>
                  <a:pt x="0" y="702769"/>
                </a:lnTo>
                <a:close/>
              </a:path>
            </a:pathLst>
          </a:custGeom>
          <a:solidFill>
            <a:schemeClr val="tx2"/>
          </a:solidFill>
          <a:ln w="12700">
            <a:solidFill>
              <a:schemeClr val="tx2"/>
            </a:solidFill>
          </a:ln>
        </p:spPr>
        <p:txBody>
          <a:bodyPr wrap="square" lIns="91440" tIns="45720" rIns="91440" bIns="4572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6900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3694F-11E9-3CF0-DCDE-FC7C6FAF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24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652500-B558-F785-439F-12315F43312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8A96B1-64D5-11B6-BD02-AD31F317296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C883D99-31C6-D5A2-D86A-FC9440CEA769}"/>
              </a:ext>
            </a:extLst>
          </p:cNvPr>
          <p:cNvCxnSpPr>
            <a:cxnSpLocks/>
          </p:cNvCxnSpPr>
          <p:nvPr userDrawn="1"/>
        </p:nvCxnSpPr>
        <p:spPr>
          <a:xfrm>
            <a:off x="1944007" y="3324115"/>
            <a:ext cx="2170451" cy="0"/>
          </a:xfrm>
          <a:prstGeom prst="line">
            <a:avLst/>
          </a:prstGeom>
          <a:ln w="12700">
            <a:solidFill>
              <a:schemeClr val="accent6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38AB5A6-6184-8A00-738A-9F575C1472CC}"/>
              </a:ext>
            </a:extLst>
          </p:cNvPr>
          <p:cNvCxnSpPr>
            <a:cxnSpLocks/>
          </p:cNvCxnSpPr>
          <p:nvPr userDrawn="1"/>
        </p:nvCxnSpPr>
        <p:spPr>
          <a:xfrm>
            <a:off x="4114458" y="3322646"/>
            <a:ext cx="2171700" cy="0"/>
          </a:xfrm>
          <a:prstGeom prst="line">
            <a:avLst/>
          </a:prstGeom>
          <a:ln w="12700">
            <a:solidFill>
              <a:schemeClr val="accent5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0BFB726-8911-1D40-8CAD-0678A3988661}"/>
              </a:ext>
            </a:extLst>
          </p:cNvPr>
          <p:cNvCxnSpPr>
            <a:cxnSpLocks/>
          </p:cNvCxnSpPr>
          <p:nvPr userDrawn="1"/>
        </p:nvCxnSpPr>
        <p:spPr>
          <a:xfrm>
            <a:off x="6286158" y="3322646"/>
            <a:ext cx="2161515" cy="14408"/>
          </a:xfrm>
          <a:prstGeom prst="line">
            <a:avLst/>
          </a:prstGeom>
          <a:ln w="12700">
            <a:solidFill>
              <a:schemeClr val="accent4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06BA5D-5C40-149B-0AE7-118CF43109F3}"/>
              </a:ext>
            </a:extLst>
          </p:cNvPr>
          <p:cNvCxnSpPr>
            <a:cxnSpLocks/>
          </p:cNvCxnSpPr>
          <p:nvPr userDrawn="1"/>
        </p:nvCxnSpPr>
        <p:spPr>
          <a:xfrm>
            <a:off x="8447673" y="3333307"/>
            <a:ext cx="2189197" cy="0"/>
          </a:xfrm>
          <a:prstGeom prst="line">
            <a:avLst/>
          </a:prstGeom>
          <a:ln w="12700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0E1F9F84-FEDF-EE4B-151E-0BA753B313F2}"/>
              </a:ext>
            </a:extLst>
          </p:cNvPr>
          <p:cNvSpPr/>
          <p:nvPr userDrawn="1"/>
        </p:nvSpPr>
        <p:spPr>
          <a:xfrm>
            <a:off x="1349145" y="2715964"/>
            <a:ext cx="1218817" cy="12188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D1979A-4075-FDBC-DC21-B473A894753D}"/>
              </a:ext>
            </a:extLst>
          </p:cNvPr>
          <p:cNvSpPr/>
          <p:nvPr userDrawn="1"/>
        </p:nvSpPr>
        <p:spPr>
          <a:xfrm>
            <a:off x="3525168" y="2721004"/>
            <a:ext cx="1218817" cy="1218817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253DC90-8B68-11F4-262C-EF788CC251ED}"/>
              </a:ext>
            </a:extLst>
          </p:cNvPr>
          <p:cNvSpPr/>
          <p:nvPr userDrawn="1"/>
        </p:nvSpPr>
        <p:spPr>
          <a:xfrm>
            <a:off x="5704017" y="2716977"/>
            <a:ext cx="1218817" cy="1218817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CEBAA34-A280-D694-891B-142A8D7FA33C}"/>
              </a:ext>
            </a:extLst>
          </p:cNvPr>
          <p:cNvSpPr/>
          <p:nvPr userDrawn="1"/>
        </p:nvSpPr>
        <p:spPr>
          <a:xfrm>
            <a:off x="7847695" y="2726015"/>
            <a:ext cx="1218817" cy="121881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EC576C9-CAB6-8D5D-5976-B4CC1FB6B5C0}"/>
              </a:ext>
            </a:extLst>
          </p:cNvPr>
          <p:cNvSpPr/>
          <p:nvPr userDrawn="1"/>
        </p:nvSpPr>
        <p:spPr>
          <a:xfrm>
            <a:off x="10049319" y="2718520"/>
            <a:ext cx="1218817" cy="121881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B3AAAB5-1B7C-5567-E7F2-E97DCAFEA821}"/>
              </a:ext>
            </a:extLst>
          </p:cNvPr>
          <p:cNvSpPr/>
          <p:nvPr userDrawn="1"/>
        </p:nvSpPr>
        <p:spPr>
          <a:xfrm flipH="1">
            <a:off x="1418423" y="2786515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6E861CF-DCF3-E6B9-1438-583DC69FFA06}"/>
              </a:ext>
            </a:extLst>
          </p:cNvPr>
          <p:cNvSpPr/>
          <p:nvPr userDrawn="1"/>
        </p:nvSpPr>
        <p:spPr>
          <a:xfrm flipH="1">
            <a:off x="3593035" y="2791555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F4D24E5-CE49-C81C-1933-88384A77E742}"/>
              </a:ext>
            </a:extLst>
          </p:cNvPr>
          <p:cNvSpPr/>
          <p:nvPr userDrawn="1"/>
        </p:nvSpPr>
        <p:spPr>
          <a:xfrm flipH="1">
            <a:off x="5771884" y="2787528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F1CA68B-CB89-15A1-13F9-3DD65297D0BD}"/>
              </a:ext>
            </a:extLst>
          </p:cNvPr>
          <p:cNvSpPr/>
          <p:nvPr userDrawn="1"/>
        </p:nvSpPr>
        <p:spPr>
          <a:xfrm flipH="1">
            <a:off x="7915562" y="2796566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AD773FD-C1E4-FDB0-FDF1-0925375BE2A5}"/>
              </a:ext>
            </a:extLst>
          </p:cNvPr>
          <p:cNvSpPr/>
          <p:nvPr userDrawn="1"/>
        </p:nvSpPr>
        <p:spPr>
          <a:xfrm flipH="1">
            <a:off x="10129886" y="2789071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ACA633AF-3209-BF0D-1450-6A91ACC853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8074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F70EFB68-D184-8E31-A027-F291D78776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8074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20FBF32C-8DDB-F094-1C74-FDE91B64F9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538728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5237567-8AEF-3966-7CED-5DA3ACD21E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538728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137587B-C03C-671F-AED7-4B974605AF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72414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25D4A96A-10D9-D4AD-C775-61041F026B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72414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81308FE1-98CC-9FD0-5CF1-5A8E61C5BA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7298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B6FB197B-711E-A949-62E5-216CBC83FFB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87298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BC5472B4-CBBF-AC70-5BA8-A0661E663D4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058400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C3CEEBDA-7860-91AD-704A-7A540E1E58F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0058400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DF918527-798D-3B40-E0EA-38C0AEBA6D7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648147" y="3018954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1" name="Picture Placeholder 29">
            <a:extLst>
              <a:ext uri="{FF2B5EF4-FFF2-40B4-BE49-F238E27FC236}">
                <a16:creationId xmlns:a16="http://schemas.microsoft.com/office/drawing/2014/main" id="{B0D40292-F2DF-0641-6B78-370AC5C5009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805117" y="3011109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2" name="Picture Placeholder 29">
            <a:extLst>
              <a:ext uri="{FF2B5EF4-FFF2-40B4-BE49-F238E27FC236}">
                <a16:creationId xmlns:a16="http://schemas.microsoft.com/office/drawing/2014/main" id="{503DD6AB-C9B3-EBD7-080A-FB219B38122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95989" y="3026158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3" name="Picture Placeholder 29">
            <a:extLst>
              <a:ext uri="{FF2B5EF4-FFF2-40B4-BE49-F238E27FC236}">
                <a16:creationId xmlns:a16="http://schemas.microsoft.com/office/drawing/2014/main" id="{E61A9741-3B1C-111D-B260-CF7E7F223F8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146207" y="3011109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4" name="Picture Placeholder 29">
            <a:extLst>
              <a:ext uri="{FF2B5EF4-FFF2-40B4-BE49-F238E27FC236}">
                <a16:creationId xmlns:a16="http://schemas.microsoft.com/office/drawing/2014/main" id="{E49C1AE1-BC78-2CE3-D292-61496AC727D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347831" y="3017032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3B71C9DC-B9E5-6C34-B451-BA2224CCDDE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2350008" y="4279392"/>
            <a:ext cx="146304" cy="146304"/>
          </a:xfrm>
          <a:prstGeom prst="ellipse">
            <a:avLst/>
          </a:prstGeom>
          <a:solidFill>
            <a:schemeClr val="accent6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0596D87F-0114-685D-7F97-873DBA557947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517136" y="4279392"/>
            <a:ext cx="146304" cy="146304"/>
          </a:xfrm>
          <a:prstGeom prst="ellipse">
            <a:avLst/>
          </a:prstGeom>
          <a:solidFill>
            <a:schemeClr val="accent5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5D4E3F00-5755-F2EF-97C8-0FE775CAE04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702552" y="4279392"/>
            <a:ext cx="146304" cy="146304"/>
          </a:xfrm>
          <a:prstGeom prst="ellipse">
            <a:avLst/>
          </a:prstGeom>
          <a:solidFill>
            <a:schemeClr val="accent4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29543A01-39BF-D362-26F8-BD1E7D0D3C8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842248" y="4279392"/>
            <a:ext cx="146304" cy="146304"/>
          </a:xfrm>
          <a:prstGeom prst="ellipse">
            <a:avLst/>
          </a:prstGeom>
          <a:solidFill>
            <a:schemeClr val="accent2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B6B72CD-75B9-D90F-4767-2141AEF3B201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1055096" y="4279392"/>
            <a:ext cx="146304" cy="146304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08319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10">
            <a:extLst>
              <a:ext uri="{FF2B5EF4-FFF2-40B4-BE49-F238E27FC236}">
                <a16:creationId xmlns:a16="http://schemas.microsoft.com/office/drawing/2014/main" id="{89A27E14-C943-C294-334B-4D6A7500F3B5}"/>
              </a:ext>
            </a:extLst>
          </p:cNvPr>
          <p:cNvSpPr/>
          <p:nvPr userDrawn="1"/>
        </p:nvSpPr>
        <p:spPr>
          <a:xfrm rot="5400000">
            <a:off x="7383937" y="2039848"/>
            <a:ext cx="6858000" cy="2778304"/>
          </a:xfrm>
          <a:custGeom>
            <a:avLst/>
            <a:gdLst>
              <a:gd name="connsiteX0" fmla="*/ 0 w 6858000"/>
              <a:gd name="connsiteY0" fmla="*/ 1050199 h 2778304"/>
              <a:gd name="connsiteX1" fmla="*/ 0 w 6858000"/>
              <a:gd name="connsiteY1" fmla="*/ 0 h 2778304"/>
              <a:gd name="connsiteX2" fmla="*/ 6858000 w 6858000"/>
              <a:gd name="connsiteY2" fmla="*/ 0 h 2778304"/>
              <a:gd name="connsiteX3" fmla="*/ 6858000 w 6858000"/>
              <a:gd name="connsiteY3" fmla="*/ 1193215 h 2778304"/>
              <a:gd name="connsiteX4" fmla="*/ 6790588 w 6858000"/>
              <a:gd name="connsiteY4" fmla="*/ 1211701 h 2778304"/>
              <a:gd name="connsiteX5" fmla="*/ 3050431 w 6858000"/>
              <a:gd name="connsiteY5" fmla="*/ 2778245 h 2778304"/>
              <a:gd name="connsiteX6" fmla="*/ 37813 w 6858000"/>
              <a:gd name="connsiteY6" fmla="*/ 1183549 h 2778304"/>
              <a:gd name="connsiteX7" fmla="*/ 0 w 6858000"/>
              <a:gd name="connsiteY7" fmla="*/ 1050199 h 2778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2778304">
                <a:moveTo>
                  <a:pt x="0" y="1050199"/>
                </a:moveTo>
                <a:lnTo>
                  <a:pt x="0" y="0"/>
                </a:lnTo>
                <a:lnTo>
                  <a:pt x="6858000" y="0"/>
                </a:lnTo>
                <a:lnTo>
                  <a:pt x="6858000" y="1193215"/>
                </a:lnTo>
                <a:lnTo>
                  <a:pt x="6790588" y="1211701"/>
                </a:lnTo>
                <a:cubicBezTo>
                  <a:pt x="5439260" y="1649845"/>
                  <a:pt x="4603740" y="2770251"/>
                  <a:pt x="3050431" y="2778245"/>
                </a:cubicBezTo>
                <a:cubicBezTo>
                  <a:pt x="1377637" y="2786855"/>
                  <a:pt x="283199" y="1854180"/>
                  <a:pt x="37813" y="1183549"/>
                </a:cubicBezTo>
                <a:lnTo>
                  <a:pt x="0" y="1050199"/>
                </a:lnTo>
                <a:close/>
              </a:path>
            </a:pathLst>
          </a:custGeom>
          <a:gradFill flip="none" rotWithShape="1">
            <a:gsLst>
              <a:gs pos="26000">
                <a:schemeClr val="accent3">
                  <a:lumMod val="25000"/>
                </a:schemeClr>
              </a:gs>
              <a:gs pos="73000">
                <a:schemeClr val="accent1">
                  <a:alpha val="33146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BE5C5BCA-F960-4024-7215-2D2EFD0FEBF3}"/>
              </a:ext>
            </a:extLst>
          </p:cNvPr>
          <p:cNvSpPr/>
          <p:nvPr userDrawn="1"/>
        </p:nvSpPr>
        <p:spPr>
          <a:xfrm rot="16200000" flipV="1">
            <a:off x="7907199" y="2573198"/>
            <a:ext cx="6858000" cy="1711602"/>
          </a:xfrm>
          <a:custGeom>
            <a:avLst/>
            <a:gdLst>
              <a:gd name="connsiteX0" fmla="*/ 6858000 w 6858000"/>
              <a:gd name="connsiteY0" fmla="*/ 1010661 h 1711602"/>
              <a:gd name="connsiteX1" fmla="*/ 6858000 w 6858000"/>
              <a:gd name="connsiteY1" fmla="*/ 0 h 1711602"/>
              <a:gd name="connsiteX2" fmla="*/ 0 w 6858000"/>
              <a:gd name="connsiteY2" fmla="*/ 0 h 1711602"/>
              <a:gd name="connsiteX3" fmla="*/ 0 w 6858000"/>
              <a:gd name="connsiteY3" fmla="*/ 983884 h 1711602"/>
              <a:gd name="connsiteX4" fmla="*/ 11078 w 6858000"/>
              <a:gd name="connsiteY4" fmla="*/ 997657 h 1711602"/>
              <a:gd name="connsiteX5" fmla="*/ 1866819 w 6858000"/>
              <a:gd name="connsiteY5" fmla="*/ 1711565 h 1711602"/>
              <a:gd name="connsiteX6" fmla="*/ 5098965 w 6858000"/>
              <a:gd name="connsiteY6" fmla="*/ 622006 h 1711602"/>
              <a:gd name="connsiteX7" fmla="*/ 6746500 w 6858000"/>
              <a:gd name="connsiteY7" fmla="*/ 959665 h 1711602"/>
              <a:gd name="connsiteX8" fmla="*/ 6858000 w 6858000"/>
              <a:gd name="connsiteY8" fmla="*/ 1010661 h 1711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1711602">
                <a:moveTo>
                  <a:pt x="6858000" y="1010661"/>
                </a:moveTo>
                <a:lnTo>
                  <a:pt x="6858000" y="0"/>
                </a:lnTo>
                <a:lnTo>
                  <a:pt x="0" y="0"/>
                </a:lnTo>
                <a:lnTo>
                  <a:pt x="0" y="983884"/>
                </a:lnTo>
                <a:lnTo>
                  <a:pt x="11078" y="997657"/>
                </a:lnTo>
                <a:cubicBezTo>
                  <a:pt x="328616" y="1355920"/>
                  <a:pt x="976833" y="1715803"/>
                  <a:pt x="1866819" y="1711565"/>
                </a:cubicBezTo>
                <a:cubicBezTo>
                  <a:pt x="3161344" y="1705400"/>
                  <a:pt x="3719617" y="643352"/>
                  <a:pt x="5098965" y="622006"/>
                </a:cubicBezTo>
                <a:cubicBezTo>
                  <a:pt x="5788640" y="611332"/>
                  <a:pt x="6326795" y="775968"/>
                  <a:pt x="6746500" y="959665"/>
                </a:cubicBezTo>
                <a:lnTo>
                  <a:pt x="6858000" y="1010661"/>
                </a:lnTo>
                <a:close/>
              </a:path>
            </a:pathLst>
          </a:custGeom>
          <a:gradFill>
            <a:gsLst>
              <a:gs pos="79000">
                <a:schemeClr val="accent4">
                  <a:lumMod val="75000"/>
                  <a:alpha val="79763"/>
                </a:schemeClr>
              </a:gs>
              <a:gs pos="37000">
                <a:schemeClr val="accent3">
                  <a:lumMod val="25000"/>
                  <a:alpha val="27934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3">
            <a:extLst>
              <a:ext uri="{FF2B5EF4-FFF2-40B4-BE49-F238E27FC236}">
                <a16:creationId xmlns:a16="http://schemas.microsoft.com/office/drawing/2014/main" id="{6F62D03F-D065-13FE-5D30-58C2523BD14D}"/>
              </a:ext>
            </a:extLst>
          </p:cNvPr>
          <p:cNvSpPr/>
          <p:nvPr userDrawn="1"/>
        </p:nvSpPr>
        <p:spPr>
          <a:xfrm rot="5400000">
            <a:off x="7877130" y="2543131"/>
            <a:ext cx="6858001" cy="1771739"/>
          </a:xfrm>
          <a:custGeom>
            <a:avLst/>
            <a:gdLst>
              <a:gd name="connsiteX0" fmla="*/ 0 w 6858001"/>
              <a:gd name="connsiteY0" fmla="*/ 1273784 h 1771739"/>
              <a:gd name="connsiteX1" fmla="*/ 0 w 6858001"/>
              <a:gd name="connsiteY1" fmla="*/ 0 h 1771739"/>
              <a:gd name="connsiteX2" fmla="*/ 6858001 w 6858001"/>
              <a:gd name="connsiteY2" fmla="*/ 0 h 1771739"/>
              <a:gd name="connsiteX3" fmla="*/ 6858001 w 6858001"/>
              <a:gd name="connsiteY3" fmla="*/ 34923 h 1771739"/>
              <a:gd name="connsiteX4" fmla="*/ 6735259 w 6858001"/>
              <a:gd name="connsiteY4" fmla="*/ 32862 h 1771739"/>
              <a:gd name="connsiteX5" fmla="*/ 1961998 w 6858001"/>
              <a:gd name="connsiteY5" fmla="*/ 1771680 h 1771739"/>
              <a:gd name="connsiteX6" fmla="*/ 151257 w 6858001"/>
              <a:gd name="connsiteY6" fmla="*/ 1358806 h 1771739"/>
              <a:gd name="connsiteX7" fmla="*/ 0 w 6858001"/>
              <a:gd name="connsiteY7" fmla="*/ 1273784 h 1771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1" h="1771739">
                <a:moveTo>
                  <a:pt x="0" y="1273784"/>
                </a:moveTo>
                <a:lnTo>
                  <a:pt x="0" y="0"/>
                </a:lnTo>
                <a:lnTo>
                  <a:pt x="6858001" y="0"/>
                </a:lnTo>
                <a:lnTo>
                  <a:pt x="6858001" y="34923"/>
                </a:lnTo>
                <a:lnTo>
                  <a:pt x="6735259" y="32862"/>
                </a:lnTo>
                <a:cubicBezTo>
                  <a:pt x="4698226" y="66929"/>
                  <a:pt x="3873763" y="1761840"/>
                  <a:pt x="1961998" y="1771680"/>
                </a:cubicBezTo>
                <a:cubicBezTo>
                  <a:pt x="1245087" y="1775370"/>
                  <a:pt x="634403" y="1606171"/>
                  <a:pt x="151257" y="1358806"/>
                </a:cubicBezTo>
                <a:lnTo>
                  <a:pt x="0" y="1273784"/>
                </a:lnTo>
                <a:close/>
              </a:path>
            </a:pathLst>
          </a:custGeom>
          <a:gradFill>
            <a:gsLst>
              <a:gs pos="32000">
                <a:schemeClr val="tx2">
                  <a:alpha val="48229"/>
                </a:schemeClr>
              </a:gs>
              <a:gs pos="100000">
                <a:schemeClr val="accent6">
                  <a:alpha val="4858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0D1FF5-7EF8-4250-A259-43050ABB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336" y="822960"/>
            <a:ext cx="8878824" cy="1069848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6192" y="2185416"/>
            <a:ext cx="3621024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3621024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541264" y="2185416"/>
            <a:ext cx="3621024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541264" y="2743200"/>
            <a:ext cx="3621024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1CCCC-1589-401D-AE98-FC287163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D9D7D-8D9A-473E-AF0D-EF1940D7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2460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4226C42-B02E-1D4B-77B4-BF0257C6041E}"/>
              </a:ext>
            </a:extLst>
          </p:cNvPr>
          <p:cNvSpPr/>
          <p:nvPr userDrawn="1"/>
        </p:nvSpPr>
        <p:spPr>
          <a:xfrm>
            <a:off x="19485" y="0"/>
            <a:ext cx="6721146" cy="6858000"/>
          </a:xfrm>
          <a:custGeom>
            <a:avLst/>
            <a:gdLst>
              <a:gd name="connsiteX0" fmla="*/ 0 w 6721146"/>
              <a:gd name="connsiteY0" fmla="*/ 0 h 6858000"/>
              <a:gd name="connsiteX1" fmla="*/ 399503 w 6721146"/>
              <a:gd name="connsiteY1" fmla="*/ 0 h 6858000"/>
              <a:gd name="connsiteX2" fmla="*/ 395119 w 6721146"/>
              <a:gd name="connsiteY2" fmla="*/ 19864 h 6858000"/>
              <a:gd name="connsiteX3" fmla="*/ 244176 w 6721146"/>
              <a:gd name="connsiteY3" fmla="*/ 529296 h 6858000"/>
              <a:gd name="connsiteX4" fmla="*/ 993095 w 6721146"/>
              <a:gd name="connsiteY4" fmla="*/ 5197987 h 6858000"/>
              <a:gd name="connsiteX5" fmla="*/ 4989455 w 6721146"/>
              <a:gd name="connsiteY5" fmla="*/ 6468602 h 6858000"/>
              <a:gd name="connsiteX6" fmla="*/ 6648701 w 6721146"/>
              <a:gd name="connsiteY6" fmla="*/ 6787937 h 6858000"/>
              <a:gd name="connsiteX7" fmla="*/ 6721146 w 6721146"/>
              <a:gd name="connsiteY7" fmla="*/ 6858000 h 6858000"/>
              <a:gd name="connsiteX8" fmla="*/ 0 w 6721146"/>
              <a:gd name="connsiteY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21146" h="6858000">
                <a:moveTo>
                  <a:pt x="0" y="0"/>
                </a:moveTo>
                <a:lnTo>
                  <a:pt x="399503" y="0"/>
                </a:lnTo>
                <a:lnTo>
                  <a:pt x="395119" y="19864"/>
                </a:lnTo>
                <a:cubicBezTo>
                  <a:pt x="355531" y="180505"/>
                  <a:pt x="305509" y="350292"/>
                  <a:pt x="244176" y="529296"/>
                </a:cubicBezTo>
                <a:cubicBezTo>
                  <a:pt x="-223599" y="2697668"/>
                  <a:pt x="276778" y="4254046"/>
                  <a:pt x="993095" y="5197987"/>
                </a:cubicBezTo>
                <a:cubicBezTo>
                  <a:pt x="1709415" y="6141924"/>
                  <a:pt x="3704883" y="6653220"/>
                  <a:pt x="4989455" y="6468602"/>
                </a:cubicBezTo>
                <a:cubicBezTo>
                  <a:pt x="5774573" y="6353740"/>
                  <a:pt x="6315041" y="6502080"/>
                  <a:pt x="6648701" y="6787937"/>
                </a:cubicBezTo>
                <a:lnTo>
                  <a:pt x="6721146" y="6858000"/>
                </a:lnTo>
                <a:lnTo>
                  <a:pt x="0" y="6858000"/>
                </a:lnTo>
                <a:close/>
              </a:path>
            </a:pathLst>
          </a:custGeom>
          <a:gradFill flip="none" rotWithShape="1">
            <a:gsLst>
              <a:gs pos="73000">
                <a:schemeClr val="accent3">
                  <a:lumMod val="25000"/>
                </a:schemeClr>
              </a:gs>
              <a:gs pos="0">
                <a:schemeClr val="accent1">
                  <a:alpha val="2964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260C6EA0-9137-97A8-7C78-0FCD8675F1B0}"/>
              </a:ext>
            </a:extLst>
          </p:cNvPr>
          <p:cNvSpPr/>
          <p:nvPr userDrawn="1"/>
        </p:nvSpPr>
        <p:spPr>
          <a:xfrm>
            <a:off x="8497" y="7662"/>
            <a:ext cx="4591137" cy="3588767"/>
          </a:xfrm>
          <a:custGeom>
            <a:avLst/>
            <a:gdLst>
              <a:gd name="connsiteX0" fmla="*/ 0 w 4591137"/>
              <a:gd name="connsiteY0" fmla="*/ 0 h 3588767"/>
              <a:gd name="connsiteX1" fmla="*/ 4591137 w 4591137"/>
              <a:gd name="connsiteY1" fmla="*/ 0 h 3588767"/>
              <a:gd name="connsiteX2" fmla="*/ 4458037 w 4591137"/>
              <a:gd name="connsiteY2" fmla="*/ 139038 h 3588767"/>
              <a:gd name="connsiteX3" fmla="*/ 3406398 w 4591137"/>
              <a:gd name="connsiteY3" fmla="*/ 1512312 h 3588767"/>
              <a:gd name="connsiteX4" fmla="*/ 202105 w 4591137"/>
              <a:gd name="connsiteY4" fmla="*/ 3554432 h 3588767"/>
              <a:gd name="connsiteX5" fmla="*/ 0 w 4591137"/>
              <a:gd name="connsiteY5" fmla="*/ 3506319 h 3588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1137" h="3588767">
                <a:moveTo>
                  <a:pt x="0" y="0"/>
                </a:moveTo>
                <a:lnTo>
                  <a:pt x="4591137" y="0"/>
                </a:lnTo>
                <a:lnTo>
                  <a:pt x="4458037" y="139038"/>
                </a:lnTo>
                <a:cubicBezTo>
                  <a:pt x="4038035" y="589101"/>
                  <a:pt x="3677988" y="1055885"/>
                  <a:pt x="3406398" y="1512312"/>
                </a:cubicBezTo>
                <a:cubicBezTo>
                  <a:pt x="2398561" y="3215836"/>
                  <a:pt x="1221089" y="3736280"/>
                  <a:pt x="202105" y="3554432"/>
                </a:cubicBezTo>
                <a:lnTo>
                  <a:pt x="0" y="3506319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25000"/>
                  <a:alpha val="55687"/>
                </a:schemeClr>
              </a:gs>
              <a:gs pos="99000">
                <a:schemeClr val="accent1">
                  <a:lumMod val="60000"/>
                  <a:lumOff val="40000"/>
                  <a:alpha val="20003"/>
                </a:schemeClr>
              </a:gs>
            </a:gsLst>
            <a:lin ang="189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24">
            <a:extLst>
              <a:ext uri="{FF2B5EF4-FFF2-40B4-BE49-F238E27FC236}">
                <a16:creationId xmlns:a16="http://schemas.microsoft.com/office/drawing/2014/main" id="{2698A246-2716-9361-4EDE-2498058A4C3A}"/>
              </a:ext>
            </a:extLst>
          </p:cNvPr>
          <p:cNvSpPr/>
          <p:nvPr userDrawn="1"/>
        </p:nvSpPr>
        <p:spPr>
          <a:xfrm>
            <a:off x="0" y="0"/>
            <a:ext cx="1893320" cy="2085274"/>
          </a:xfrm>
          <a:custGeom>
            <a:avLst/>
            <a:gdLst>
              <a:gd name="connsiteX0" fmla="*/ 0 w 1893320"/>
              <a:gd name="connsiteY0" fmla="*/ 0 h 2085274"/>
              <a:gd name="connsiteX1" fmla="*/ 1893320 w 1893320"/>
              <a:gd name="connsiteY1" fmla="*/ 0 h 2085274"/>
              <a:gd name="connsiteX2" fmla="*/ 1836420 w 1893320"/>
              <a:gd name="connsiteY2" fmla="*/ 89992 h 2085274"/>
              <a:gd name="connsiteX3" fmla="*/ 1471130 w 1893320"/>
              <a:gd name="connsiteY3" fmla="*/ 883842 h 2085274"/>
              <a:gd name="connsiteX4" fmla="*/ 90049 w 1893320"/>
              <a:gd name="connsiteY4" fmla="*/ 2071651 h 2085274"/>
              <a:gd name="connsiteX5" fmla="*/ 0 w 1893320"/>
              <a:gd name="connsiteY5" fmla="*/ 2052168 h 2085274"/>
              <a:gd name="connsiteX6" fmla="*/ 0 w 1893320"/>
              <a:gd name="connsiteY6" fmla="*/ 0 h 2085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93320" h="2085274">
                <a:moveTo>
                  <a:pt x="0" y="0"/>
                </a:moveTo>
                <a:lnTo>
                  <a:pt x="1893320" y="0"/>
                </a:lnTo>
                <a:lnTo>
                  <a:pt x="1836420" y="89992"/>
                </a:lnTo>
                <a:cubicBezTo>
                  <a:pt x="1676137" y="357859"/>
                  <a:pt x="1549717" y="629674"/>
                  <a:pt x="1471130" y="883842"/>
                </a:cubicBezTo>
                <a:cubicBezTo>
                  <a:pt x="1174602" y="1851540"/>
                  <a:pt x="614067" y="2156914"/>
                  <a:pt x="90049" y="2071651"/>
                </a:cubicBezTo>
                <a:lnTo>
                  <a:pt x="0" y="20521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>
              <a:lumMod val="50000"/>
              <a:alpha val="10742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9A7DD52-C2B0-2B91-92C0-905899BB578D}"/>
              </a:ext>
            </a:extLst>
          </p:cNvPr>
          <p:cNvSpPr/>
          <p:nvPr userDrawn="1"/>
        </p:nvSpPr>
        <p:spPr>
          <a:xfrm>
            <a:off x="2" y="5262792"/>
            <a:ext cx="2809260" cy="1595208"/>
          </a:xfrm>
          <a:custGeom>
            <a:avLst/>
            <a:gdLst>
              <a:gd name="connsiteX0" fmla="*/ 0 w 2809260"/>
              <a:gd name="connsiteY0" fmla="*/ 0 h 1595208"/>
              <a:gd name="connsiteX1" fmla="*/ 101140 w 2809260"/>
              <a:gd name="connsiteY1" fmla="*/ 117015 h 1595208"/>
              <a:gd name="connsiteX2" fmla="*/ 2208849 w 2809260"/>
              <a:gd name="connsiteY2" fmla="*/ 1381471 h 1595208"/>
              <a:gd name="connsiteX3" fmla="*/ 2746965 w 2809260"/>
              <a:gd name="connsiteY3" fmla="*/ 1562268 h 1595208"/>
              <a:gd name="connsiteX4" fmla="*/ 2809260 w 2809260"/>
              <a:gd name="connsiteY4" fmla="*/ 1595208 h 1595208"/>
              <a:gd name="connsiteX5" fmla="*/ 0 w 2809260"/>
              <a:gd name="connsiteY5" fmla="*/ 1595207 h 159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09260" h="1595208">
                <a:moveTo>
                  <a:pt x="0" y="0"/>
                </a:moveTo>
                <a:lnTo>
                  <a:pt x="101140" y="117015"/>
                </a:lnTo>
                <a:cubicBezTo>
                  <a:pt x="653434" y="714877"/>
                  <a:pt x="1509442" y="1220329"/>
                  <a:pt x="2208849" y="1381471"/>
                </a:cubicBezTo>
                <a:cubicBezTo>
                  <a:pt x="2416303" y="1428716"/>
                  <a:pt x="2594874" y="1490011"/>
                  <a:pt x="2746965" y="1562268"/>
                </a:cubicBezTo>
                <a:lnTo>
                  <a:pt x="2809260" y="1595208"/>
                </a:lnTo>
                <a:lnTo>
                  <a:pt x="0" y="1595207"/>
                </a:lnTo>
                <a:close/>
              </a:path>
            </a:pathLst>
          </a:custGeom>
          <a:gradFill flip="none" rotWithShape="1">
            <a:gsLst>
              <a:gs pos="98000">
                <a:schemeClr val="accent5">
                  <a:lumMod val="50000"/>
                  <a:alpha val="67000"/>
                </a:schemeClr>
              </a:gs>
              <a:gs pos="0">
                <a:schemeClr val="accent6">
                  <a:alpha val="4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29">
            <a:extLst>
              <a:ext uri="{FF2B5EF4-FFF2-40B4-BE49-F238E27FC236}">
                <a16:creationId xmlns:a16="http://schemas.microsoft.com/office/drawing/2014/main" id="{73541AB3-4000-4259-4112-06DA0F0728A5}"/>
              </a:ext>
            </a:extLst>
          </p:cNvPr>
          <p:cNvSpPr/>
          <p:nvPr userDrawn="1"/>
        </p:nvSpPr>
        <p:spPr>
          <a:xfrm>
            <a:off x="10193397" y="2730129"/>
            <a:ext cx="1979119" cy="4127871"/>
          </a:xfrm>
          <a:custGeom>
            <a:avLst/>
            <a:gdLst>
              <a:gd name="connsiteX0" fmla="*/ 1979119 w 1979119"/>
              <a:gd name="connsiteY0" fmla="*/ 0 h 4127871"/>
              <a:gd name="connsiteX1" fmla="*/ 1979119 w 1979119"/>
              <a:gd name="connsiteY1" fmla="*/ 4127871 h 4127871"/>
              <a:gd name="connsiteX2" fmla="*/ 0 w 1979119"/>
              <a:gd name="connsiteY2" fmla="*/ 4127871 h 4127871"/>
              <a:gd name="connsiteX3" fmla="*/ 113381 w 1979119"/>
              <a:gd name="connsiteY3" fmla="*/ 3939685 h 4127871"/>
              <a:gd name="connsiteX4" fmla="*/ 893390 w 1979119"/>
              <a:gd name="connsiteY4" fmla="*/ 1926136 h 4127871"/>
              <a:gd name="connsiteX5" fmla="*/ 1827429 w 1979119"/>
              <a:gd name="connsiteY5" fmla="*/ 103152 h 4127871"/>
              <a:gd name="connsiteX6" fmla="*/ 1979119 w 1979119"/>
              <a:gd name="connsiteY6" fmla="*/ 0 h 4127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979119" h="4127871">
                <a:moveTo>
                  <a:pt x="1979119" y="0"/>
                </a:moveTo>
                <a:lnTo>
                  <a:pt x="1979119" y="4127871"/>
                </a:lnTo>
                <a:lnTo>
                  <a:pt x="0" y="4127871"/>
                </a:lnTo>
                <a:lnTo>
                  <a:pt x="113381" y="3939685"/>
                </a:lnTo>
                <a:cubicBezTo>
                  <a:pt x="496433" y="3268400"/>
                  <a:pt x="776925" y="2555572"/>
                  <a:pt x="893390" y="1926136"/>
                </a:cubicBezTo>
                <a:cubicBezTo>
                  <a:pt x="1059875" y="1013485"/>
                  <a:pt x="1404160" y="429246"/>
                  <a:pt x="1827429" y="103152"/>
                </a:cubicBezTo>
                <a:lnTo>
                  <a:pt x="1979119" y="0"/>
                </a:lnTo>
                <a:close/>
              </a:path>
            </a:pathLst>
          </a:custGeom>
          <a:gradFill>
            <a:gsLst>
              <a:gs pos="83000">
                <a:schemeClr val="accent5">
                  <a:lumMod val="58000"/>
                  <a:alpha val="35019"/>
                </a:schemeClr>
              </a:gs>
              <a:gs pos="0">
                <a:schemeClr val="accent6">
                  <a:lumMod val="89923"/>
                  <a:lumOff val="10077"/>
                  <a:alpha val="3555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0D1FF5-7EF8-4250-A259-43050ABB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336" y="822960"/>
            <a:ext cx="8878824" cy="1069848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6192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754880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754880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D9D7D-8D9A-473E-AF0D-EF1940D7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1CCCC-1589-401D-AE98-FC287163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C963910-7C6F-7474-84FF-C53D235027B8}"/>
              </a:ext>
            </a:extLst>
          </p:cNvPr>
          <p:cNvCxnSpPr>
            <a:cxnSpLocks/>
          </p:cNvCxnSpPr>
          <p:nvPr userDrawn="1"/>
        </p:nvCxnSpPr>
        <p:spPr>
          <a:xfrm>
            <a:off x="594170" y="846661"/>
            <a:ext cx="0" cy="511101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43CEC7BC-C46D-D3AD-22D8-8737322B7E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973568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658FA801-D400-D7FB-6241-4A41BBAAA0D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73568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03394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15CD9-7B09-FB25-0368-96365B9DD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588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C6BE5A-F1AC-214F-638D-C6C21E51BF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127D4-BE09-1C43-0562-195F20C8A0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1740CAD-6CDA-9014-8875-BCECEECE0522}"/>
              </a:ext>
            </a:extLst>
          </p:cNvPr>
          <p:cNvSpPr/>
          <p:nvPr userDrawn="1"/>
        </p:nvSpPr>
        <p:spPr>
          <a:xfrm flipH="1">
            <a:off x="3791017" y="2349814"/>
            <a:ext cx="2058045" cy="205804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6E536D1-EF07-9062-CA32-986876ED933F}"/>
              </a:ext>
            </a:extLst>
          </p:cNvPr>
          <p:cNvSpPr/>
          <p:nvPr userDrawn="1"/>
        </p:nvSpPr>
        <p:spPr>
          <a:xfrm flipH="1">
            <a:off x="8929767" y="2349814"/>
            <a:ext cx="2058045" cy="205804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09D35C-DD66-8B6A-98FE-003262BBE72D}"/>
              </a:ext>
            </a:extLst>
          </p:cNvPr>
          <p:cNvSpPr/>
          <p:nvPr userDrawn="1"/>
        </p:nvSpPr>
        <p:spPr>
          <a:xfrm flipH="1">
            <a:off x="6342947" y="2349814"/>
            <a:ext cx="2058045" cy="205804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0E263D2-96A8-9EB3-2175-1DB2FD5CB609}"/>
              </a:ext>
            </a:extLst>
          </p:cNvPr>
          <p:cNvSpPr/>
          <p:nvPr userDrawn="1"/>
        </p:nvSpPr>
        <p:spPr>
          <a:xfrm flipH="1">
            <a:off x="1247942" y="2349814"/>
            <a:ext cx="2058045" cy="2058045"/>
          </a:xfrm>
          <a:prstGeom prst="ellipse">
            <a:avLst/>
          </a:prstGeom>
          <a:gradFill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3517CD-F786-4206-2455-E4C3BD9874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2524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978C389-1D90-6CEB-1D34-D69BF78983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42524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2B5D758-2B43-B448-79C9-1F09317F86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627120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65404FC1-F068-1D2B-A3D6-59F44099DD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627120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F0B1C4A-F0AC-3974-6F79-9CCF799976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96000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5C12C91B-3BBC-019A-22DF-DF71A287D5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96000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BB3FD4C7-50B9-E37D-A077-B15D8C6DB9A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24349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86092F0-1D91-8C7F-EEFE-A7D79FF89C1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24349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D38BBA9-DB40-81D9-4D13-4351576F9F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399285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endParaRPr lang="en-US" dirty="0"/>
          </a:p>
        </p:txBody>
      </p: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D4E44748-5631-A2C7-ADA1-FB2707923EE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94678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endParaRPr lang="en-US" dirty="0"/>
          </a:p>
        </p:txBody>
      </p:sp>
      <p:sp>
        <p:nvSpPr>
          <p:cNvPr id="23" name="Picture Placeholder 20">
            <a:extLst>
              <a:ext uri="{FF2B5EF4-FFF2-40B4-BE49-F238E27FC236}">
                <a16:creationId xmlns:a16="http://schemas.microsoft.com/office/drawing/2014/main" id="{8A56F66F-909F-8F64-B021-9820EB3F6B6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49871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endParaRPr lang="en-US" dirty="0"/>
          </a:p>
        </p:txBody>
      </p:sp>
      <p:sp>
        <p:nvSpPr>
          <p:cNvPr id="24" name="Picture Placeholder 20">
            <a:extLst>
              <a:ext uri="{FF2B5EF4-FFF2-40B4-BE49-F238E27FC236}">
                <a16:creationId xmlns:a16="http://schemas.microsoft.com/office/drawing/2014/main" id="{EB90D275-5951-BAE0-8859-71B60C94608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8553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2011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3CF1AC86-4E83-EED8-9FB5-635710111D45}"/>
              </a:ext>
            </a:extLst>
          </p:cNvPr>
          <p:cNvSpPr/>
          <p:nvPr userDrawn="1"/>
        </p:nvSpPr>
        <p:spPr>
          <a:xfrm flipH="1">
            <a:off x="1704107" y="4055522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03E890B-5D84-F4A6-E963-051A1C52577D}"/>
              </a:ext>
            </a:extLst>
          </p:cNvPr>
          <p:cNvSpPr/>
          <p:nvPr userDrawn="1"/>
        </p:nvSpPr>
        <p:spPr>
          <a:xfrm flipH="1">
            <a:off x="4228381" y="1853643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A321B0B-6EF1-E460-8E13-3BBE774FA148}"/>
              </a:ext>
            </a:extLst>
          </p:cNvPr>
          <p:cNvSpPr/>
          <p:nvPr userDrawn="1"/>
        </p:nvSpPr>
        <p:spPr>
          <a:xfrm flipH="1">
            <a:off x="6752655" y="4055275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98AB146-30D1-CD59-5D88-5097CF8561D1}"/>
              </a:ext>
            </a:extLst>
          </p:cNvPr>
          <p:cNvSpPr/>
          <p:nvPr userDrawn="1"/>
        </p:nvSpPr>
        <p:spPr>
          <a:xfrm flipH="1">
            <a:off x="9280950" y="4066155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4FE52614-CC2D-3550-FDBA-9D7D76ED0F72}"/>
              </a:ext>
            </a:extLst>
          </p:cNvPr>
          <p:cNvSpPr/>
          <p:nvPr userDrawn="1"/>
        </p:nvSpPr>
        <p:spPr>
          <a:xfrm flipH="1">
            <a:off x="4228381" y="4056366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19BEA3C-B965-CC70-315C-7C531CD7AA4A}"/>
              </a:ext>
            </a:extLst>
          </p:cNvPr>
          <p:cNvSpPr/>
          <p:nvPr userDrawn="1"/>
        </p:nvSpPr>
        <p:spPr>
          <a:xfrm flipH="1">
            <a:off x="9276929" y="1861862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BCCE6E9-C40E-A684-457C-F08C974BD59F}"/>
              </a:ext>
            </a:extLst>
          </p:cNvPr>
          <p:cNvSpPr/>
          <p:nvPr userDrawn="1"/>
        </p:nvSpPr>
        <p:spPr>
          <a:xfrm flipH="1">
            <a:off x="6752655" y="1855810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9B5F0D0-ABA3-5B0F-77C9-C5B64A613F84}"/>
              </a:ext>
            </a:extLst>
          </p:cNvPr>
          <p:cNvSpPr/>
          <p:nvPr userDrawn="1"/>
        </p:nvSpPr>
        <p:spPr>
          <a:xfrm flipH="1">
            <a:off x="1692043" y="1846020"/>
            <a:ext cx="1231495" cy="1231495"/>
          </a:xfrm>
          <a:prstGeom prst="ellipse">
            <a:avLst/>
          </a:prstGeom>
          <a:gradFill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15CD9-7B09-FB25-0368-96365B9DD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588" y="338328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C6BE5A-F1AC-214F-638D-C6C21E51BF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127D4-BE09-1C43-0562-195F20C8A0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3517CD-F786-4206-2455-E4C3BD9874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176854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978C389-1D90-6CEB-1D34-D69BF78983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76854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2B5D758-2B43-B448-79C9-1F09317F86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01128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65404FC1-F068-1D2B-A3D6-59F44099DD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01128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F0B1C4A-F0AC-3974-6F79-9CCF799976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25402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5C12C91B-3BBC-019A-22DF-DF71A287D5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225402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BB3FD4C7-50B9-E37D-A077-B15D8C6DB9A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49676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86092F0-1D91-8C7F-EEFE-A7D79FF89C1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49676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D38BBA9-DB40-81D9-4D13-4351576F9F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782010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endParaRPr lang="en-US" dirty="0"/>
          </a:p>
        </p:txBody>
      </p: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D4E44748-5631-A2C7-ADA1-FB2707923EE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318348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endParaRPr lang="en-US" dirty="0"/>
          </a:p>
        </p:txBody>
      </p:sp>
      <p:sp>
        <p:nvSpPr>
          <p:cNvPr id="23" name="Picture Placeholder 20">
            <a:extLst>
              <a:ext uri="{FF2B5EF4-FFF2-40B4-BE49-F238E27FC236}">
                <a16:creationId xmlns:a16="http://schemas.microsoft.com/office/drawing/2014/main" id="{8A56F66F-909F-8F64-B021-9820EB3F6B6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42622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endParaRPr lang="en-US" dirty="0"/>
          </a:p>
        </p:txBody>
      </p:sp>
      <p:sp>
        <p:nvSpPr>
          <p:cNvPr id="24" name="Picture Placeholder 20">
            <a:extLst>
              <a:ext uri="{FF2B5EF4-FFF2-40B4-BE49-F238E27FC236}">
                <a16:creationId xmlns:a16="http://schemas.microsoft.com/office/drawing/2014/main" id="{EB90D275-5951-BAE0-8859-71B60C94608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366896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endParaRPr lang="en-US" dirty="0"/>
          </a:p>
        </p:txBody>
      </p:sp>
      <p:sp>
        <p:nvSpPr>
          <p:cNvPr id="29" name="Picture Placeholder 20">
            <a:extLst>
              <a:ext uri="{FF2B5EF4-FFF2-40B4-BE49-F238E27FC236}">
                <a16:creationId xmlns:a16="http://schemas.microsoft.com/office/drawing/2014/main" id="{BA9EB14D-8336-06B5-51E3-FBCAF00F1F2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794074" y="4145489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endParaRPr lang="en-US" dirty="0"/>
          </a:p>
        </p:txBody>
      </p:sp>
      <p:sp>
        <p:nvSpPr>
          <p:cNvPr id="30" name="Picture Placeholder 20">
            <a:extLst>
              <a:ext uri="{FF2B5EF4-FFF2-40B4-BE49-F238E27FC236}">
                <a16:creationId xmlns:a16="http://schemas.microsoft.com/office/drawing/2014/main" id="{A1E65D12-1094-78B5-B37A-A03576991D1D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318348" y="4146333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endParaRPr lang="en-US" dirty="0"/>
          </a:p>
        </p:txBody>
      </p:sp>
      <p:sp>
        <p:nvSpPr>
          <p:cNvPr id="31" name="Picture Placeholder 20">
            <a:extLst>
              <a:ext uri="{FF2B5EF4-FFF2-40B4-BE49-F238E27FC236}">
                <a16:creationId xmlns:a16="http://schemas.microsoft.com/office/drawing/2014/main" id="{6ABE5CEC-34A4-CD5D-FA0D-D675A87984F5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842622" y="4145242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endParaRPr lang="en-US" dirty="0"/>
          </a:p>
        </p:txBody>
      </p:sp>
      <p:sp>
        <p:nvSpPr>
          <p:cNvPr id="32" name="Picture Placeholder 20">
            <a:extLst>
              <a:ext uri="{FF2B5EF4-FFF2-40B4-BE49-F238E27FC236}">
                <a16:creationId xmlns:a16="http://schemas.microsoft.com/office/drawing/2014/main" id="{5DA945B5-3444-7CAC-AA4A-55B04D039824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370917" y="4156122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endParaRPr lang="en-US" dirty="0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CB0DA5B5-9C84-7B23-EE8E-CEA555CD808E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176854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4" name="Text Placeholder 11">
            <a:extLst>
              <a:ext uri="{FF2B5EF4-FFF2-40B4-BE49-F238E27FC236}">
                <a16:creationId xmlns:a16="http://schemas.microsoft.com/office/drawing/2014/main" id="{99C62621-0080-5CDD-E5DD-2FCF2D548CE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176854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5" name="Text Placeholder 11">
            <a:extLst>
              <a:ext uri="{FF2B5EF4-FFF2-40B4-BE49-F238E27FC236}">
                <a16:creationId xmlns:a16="http://schemas.microsoft.com/office/drawing/2014/main" id="{B69DDE47-632B-987E-545E-BAB200D374ED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01128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A165DCBF-4EFD-7181-68BA-1625AC1C0D5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701128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3C7ECA2F-9EC3-26BD-B424-ECE80473DF3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225402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C9535F99-6134-8D03-FFEE-D1B3E007F2CC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225402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163BD863-99E7-C7C4-4762-8C168574E9A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749676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63678AE5-B810-D5BE-40B5-888AF4473157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749676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3458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F4F2FF2-B2D0-EAB9-0059-1E59CFF27936}"/>
              </a:ext>
            </a:extLst>
          </p:cNvPr>
          <p:cNvSpPr/>
          <p:nvPr userDrawn="1"/>
        </p:nvSpPr>
        <p:spPr>
          <a:xfrm>
            <a:off x="0" y="3079989"/>
            <a:ext cx="4744043" cy="3778013"/>
          </a:xfrm>
          <a:custGeom>
            <a:avLst/>
            <a:gdLst>
              <a:gd name="connsiteX0" fmla="*/ 552680 w 4744043"/>
              <a:gd name="connsiteY0" fmla="*/ 2 h 3778013"/>
              <a:gd name="connsiteX1" fmla="*/ 3368067 w 4744043"/>
              <a:gd name="connsiteY1" fmla="*/ 2076456 h 3778013"/>
              <a:gd name="connsiteX2" fmla="*/ 4603294 w 4744043"/>
              <a:gd name="connsiteY2" fmla="*/ 3641510 h 3778013"/>
              <a:gd name="connsiteX3" fmla="*/ 4744043 w 4744043"/>
              <a:gd name="connsiteY3" fmla="*/ 3778013 h 3778013"/>
              <a:gd name="connsiteX4" fmla="*/ 0 w 4744043"/>
              <a:gd name="connsiteY4" fmla="*/ 3778013 h 3778013"/>
              <a:gd name="connsiteX5" fmla="*/ 0 w 4744043"/>
              <a:gd name="connsiteY5" fmla="*/ 73323 h 3778013"/>
              <a:gd name="connsiteX6" fmla="*/ 163773 w 4744043"/>
              <a:gd name="connsiteY6" fmla="*/ 34335 h 3778013"/>
              <a:gd name="connsiteX7" fmla="*/ 552680 w 4744043"/>
              <a:gd name="connsiteY7" fmla="*/ 2 h 3778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744043" h="3778013">
                <a:moveTo>
                  <a:pt x="552680" y="2"/>
                </a:moveTo>
                <a:cubicBezTo>
                  <a:pt x="1474475" y="1086"/>
                  <a:pt x="2486209" y="585872"/>
                  <a:pt x="3368067" y="2076456"/>
                </a:cubicBezTo>
                <a:cubicBezTo>
                  <a:pt x="3678455" y="2598086"/>
                  <a:pt x="4104379" y="3133243"/>
                  <a:pt x="4603294" y="3641510"/>
                </a:cubicBezTo>
                <a:lnTo>
                  <a:pt x="4744043" y="3778013"/>
                </a:lnTo>
                <a:lnTo>
                  <a:pt x="0" y="3778013"/>
                </a:lnTo>
                <a:lnTo>
                  <a:pt x="0" y="73323"/>
                </a:lnTo>
                <a:lnTo>
                  <a:pt x="163773" y="34335"/>
                </a:lnTo>
                <a:cubicBezTo>
                  <a:pt x="291146" y="11604"/>
                  <a:pt x="420996" y="-154"/>
                  <a:pt x="552680" y="2"/>
                </a:cubicBezTo>
                <a:close/>
              </a:path>
            </a:pathLst>
          </a:custGeom>
          <a:gradFill flip="none" rotWithShape="1">
            <a:gsLst>
              <a:gs pos="41000">
                <a:schemeClr val="accent3">
                  <a:lumMod val="25000"/>
                  <a:alpha val="67969"/>
                </a:schemeClr>
              </a:gs>
              <a:gs pos="100000">
                <a:schemeClr val="accent2">
                  <a:alpha val="29022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B193F7C-DAB3-79A0-9B6F-012F23BAF8BD}"/>
              </a:ext>
            </a:extLst>
          </p:cNvPr>
          <p:cNvSpPr/>
          <p:nvPr userDrawn="1"/>
        </p:nvSpPr>
        <p:spPr>
          <a:xfrm>
            <a:off x="1" y="0"/>
            <a:ext cx="6552595" cy="3112082"/>
          </a:xfrm>
          <a:custGeom>
            <a:avLst/>
            <a:gdLst>
              <a:gd name="connsiteX0" fmla="*/ 6552595 w 6552595"/>
              <a:gd name="connsiteY0" fmla="*/ 0 h 3112082"/>
              <a:gd name="connsiteX1" fmla="*/ 6479403 w 6552595"/>
              <a:gd name="connsiteY1" fmla="*/ 116338 h 3112082"/>
              <a:gd name="connsiteX2" fmla="*/ 4627940 w 6552595"/>
              <a:gd name="connsiteY2" fmla="*/ 645238 h 3112082"/>
              <a:gd name="connsiteX3" fmla="*/ 631580 w 6552595"/>
              <a:gd name="connsiteY3" fmla="*/ 1915852 h 3112082"/>
              <a:gd name="connsiteX4" fmla="*/ 46252 w 6552595"/>
              <a:gd name="connsiteY4" fmla="*/ 2980209 h 3112082"/>
              <a:gd name="connsiteX5" fmla="*/ 0 w 6552595"/>
              <a:gd name="connsiteY5" fmla="*/ 3112082 h 3112082"/>
              <a:gd name="connsiteX6" fmla="*/ 0 w 6552595"/>
              <a:gd name="connsiteY6" fmla="*/ 1037361 h 3112082"/>
              <a:gd name="connsiteX7" fmla="*/ 0 w 6552595"/>
              <a:gd name="connsiteY7" fmla="*/ 0 h 3112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52595" h="3112082">
                <a:moveTo>
                  <a:pt x="6552595" y="0"/>
                </a:moveTo>
                <a:lnTo>
                  <a:pt x="6479403" y="116338"/>
                </a:lnTo>
                <a:cubicBezTo>
                  <a:pt x="6181653" y="532833"/>
                  <a:pt x="5587528" y="785625"/>
                  <a:pt x="4627940" y="645238"/>
                </a:cubicBezTo>
                <a:cubicBezTo>
                  <a:pt x="3343367" y="460619"/>
                  <a:pt x="1347900" y="971915"/>
                  <a:pt x="631580" y="1915852"/>
                </a:cubicBezTo>
                <a:cubicBezTo>
                  <a:pt x="407731" y="2210834"/>
                  <a:pt x="204970" y="2565624"/>
                  <a:pt x="46252" y="2980209"/>
                </a:cubicBezTo>
                <a:lnTo>
                  <a:pt x="0" y="3112082"/>
                </a:lnTo>
                <a:lnTo>
                  <a:pt x="0" y="1037361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76000">
                <a:schemeClr val="accent3">
                  <a:lumMod val="25000"/>
                </a:schemeClr>
              </a:gs>
              <a:gs pos="0">
                <a:schemeClr val="accent1">
                  <a:alpha val="56738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9D045F5-266F-9ADF-9692-2DA7DB16DFFE}"/>
              </a:ext>
            </a:extLst>
          </p:cNvPr>
          <p:cNvSpPr/>
          <p:nvPr userDrawn="1"/>
        </p:nvSpPr>
        <p:spPr>
          <a:xfrm>
            <a:off x="10269564" y="0"/>
            <a:ext cx="1922436" cy="5772376"/>
          </a:xfrm>
          <a:custGeom>
            <a:avLst/>
            <a:gdLst>
              <a:gd name="connsiteX0" fmla="*/ 0 w 1922436"/>
              <a:gd name="connsiteY0" fmla="*/ 0 h 5772376"/>
              <a:gd name="connsiteX1" fmla="*/ 1922436 w 1922436"/>
              <a:gd name="connsiteY1" fmla="*/ 0 h 5772376"/>
              <a:gd name="connsiteX2" fmla="*/ 1922436 w 1922436"/>
              <a:gd name="connsiteY2" fmla="*/ 5770832 h 5772376"/>
              <a:gd name="connsiteX3" fmla="*/ 1785843 w 1922436"/>
              <a:gd name="connsiteY3" fmla="*/ 5772376 h 5772376"/>
              <a:gd name="connsiteX4" fmla="*/ 167636 w 1922436"/>
              <a:gd name="connsiteY4" fmla="*/ 2958760 h 5772376"/>
              <a:gd name="connsiteX5" fmla="*/ 11457 w 1922436"/>
              <a:gd name="connsiteY5" fmla="*/ 41049 h 5772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22436" h="5772376">
                <a:moveTo>
                  <a:pt x="0" y="0"/>
                </a:moveTo>
                <a:lnTo>
                  <a:pt x="1922436" y="0"/>
                </a:lnTo>
                <a:lnTo>
                  <a:pt x="1922436" y="5770832"/>
                </a:lnTo>
                <a:lnTo>
                  <a:pt x="1785843" y="5772376"/>
                </a:lnTo>
                <a:cubicBezTo>
                  <a:pt x="715486" y="5737436"/>
                  <a:pt x="-199675" y="4895626"/>
                  <a:pt x="167636" y="2958760"/>
                </a:cubicBezTo>
                <a:cubicBezTo>
                  <a:pt x="324540" y="2119813"/>
                  <a:pt x="262661" y="1037667"/>
                  <a:pt x="11457" y="41049"/>
                </a:cubicBezTo>
                <a:close/>
              </a:path>
            </a:pathLst>
          </a:custGeom>
          <a:gradFill flip="none" rotWithShape="1">
            <a:gsLst>
              <a:gs pos="10000">
                <a:schemeClr val="accent2">
                  <a:alpha val="9960"/>
                </a:schemeClr>
              </a:gs>
              <a:gs pos="100000">
                <a:schemeClr val="accent1">
                  <a:alpha val="47557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494E50-F563-24E6-92E6-F9E55D1F3D50}"/>
              </a:ext>
            </a:extLst>
          </p:cNvPr>
          <p:cNvSpPr/>
          <p:nvPr userDrawn="1"/>
        </p:nvSpPr>
        <p:spPr>
          <a:xfrm>
            <a:off x="10861332" y="0"/>
            <a:ext cx="1330669" cy="3088658"/>
          </a:xfrm>
          <a:custGeom>
            <a:avLst/>
            <a:gdLst>
              <a:gd name="connsiteX0" fmla="*/ 0 w 1330669"/>
              <a:gd name="connsiteY0" fmla="*/ 0 h 3088658"/>
              <a:gd name="connsiteX1" fmla="*/ 1330669 w 1330669"/>
              <a:gd name="connsiteY1" fmla="*/ 0 h 3088658"/>
              <a:gd name="connsiteX2" fmla="*/ 1330669 w 1330669"/>
              <a:gd name="connsiteY2" fmla="*/ 3088658 h 3088658"/>
              <a:gd name="connsiteX3" fmla="*/ 1265038 w 1330669"/>
              <a:gd name="connsiteY3" fmla="*/ 3075052 h 3088658"/>
              <a:gd name="connsiteX4" fmla="*/ 84101 w 1330669"/>
              <a:gd name="connsiteY4" fmla="*/ 918166 h 3088658"/>
              <a:gd name="connsiteX5" fmla="*/ 3100 w 1330669"/>
              <a:gd name="connsiteY5" fmla="*/ 15153 h 3088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30669" h="3088658">
                <a:moveTo>
                  <a:pt x="0" y="0"/>
                </a:moveTo>
                <a:lnTo>
                  <a:pt x="1330669" y="0"/>
                </a:lnTo>
                <a:lnTo>
                  <a:pt x="1330669" y="3088658"/>
                </a:lnTo>
                <a:lnTo>
                  <a:pt x="1265038" y="3075052"/>
                </a:lnTo>
                <a:cubicBezTo>
                  <a:pt x="597017" y="2898062"/>
                  <a:pt x="64513" y="2241595"/>
                  <a:pt x="84101" y="918166"/>
                </a:cubicBezTo>
                <a:cubicBezTo>
                  <a:pt x="87550" y="637183"/>
                  <a:pt x="59230" y="331259"/>
                  <a:pt x="3100" y="15153"/>
                </a:cubicBezTo>
                <a:close/>
              </a:path>
            </a:pathLst>
          </a:custGeom>
          <a:solidFill>
            <a:schemeClr val="accent1">
              <a:alpha val="50635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glass card">
            <a:extLst>
              <a:ext uri="{FF2B5EF4-FFF2-40B4-BE49-F238E27FC236}">
                <a16:creationId xmlns:a16="http://schemas.microsoft.com/office/drawing/2014/main" id="{D9024B22-C102-71C1-8593-95259EC18972}"/>
              </a:ext>
            </a:extLst>
          </p:cNvPr>
          <p:cNvSpPr/>
          <p:nvPr userDrawn="1"/>
        </p:nvSpPr>
        <p:spPr>
          <a:xfrm>
            <a:off x="1474384" y="1005155"/>
            <a:ext cx="9243233" cy="4978750"/>
          </a:xfrm>
          <a:prstGeom prst="roundRect">
            <a:avLst>
              <a:gd name="adj" fmla="val 6806"/>
            </a:avLst>
          </a:prstGeom>
          <a:gradFill>
            <a:gsLst>
              <a:gs pos="99000">
                <a:schemeClr val="bg1">
                  <a:alpha val="3000"/>
                </a:schemeClr>
              </a:gs>
              <a:gs pos="46000">
                <a:schemeClr val="bg1">
                  <a:alpha val="17037"/>
                </a:schemeClr>
              </a:gs>
              <a:gs pos="6000">
                <a:schemeClr val="bg1">
                  <a:alpha val="13000"/>
                </a:schemeClr>
              </a:gs>
            </a:gsLst>
            <a:path path="circle">
              <a:fillToRect l="100000" t="100000"/>
            </a:path>
          </a:gradFill>
          <a:ln w="6350">
            <a:noFill/>
          </a:ln>
          <a:effectLst>
            <a:outerShdw blurRad="63500" dist="38100" dir="5400000" sx="1000" sy="1000" algn="t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2157984"/>
            <a:ext cx="7735824" cy="1069848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685032"/>
            <a:ext cx="7735824" cy="113385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303B57-FF55-B795-FAE7-5EF26BFCBEF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115287" y="2597113"/>
            <a:ext cx="0" cy="16551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A78F28F-70CE-7FE2-ACE1-FA2D7C1CE590}"/>
              </a:ext>
            </a:extLst>
          </p:cNvPr>
          <p:cNvSpPr/>
          <p:nvPr userDrawn="1"/>
        </p:nvSpPr>
        <p:spPr>
          <a:xfrm>
            <a:off x="0" y="0"/>
            <a:ext cx="2862855" cy="1527696"/>
          </a:xfrm>
          <a:custGeom>
            <a:avLst/>
            <a:gdLst>
              <a:gd name="connsiteX0" fmla="*/ 0 w 2862855"/>
              <a:gd name="connsiteY0" fmla="*/ 0 h 1527696"/>
              <a:gd name="connsiteX1" fmla="*/ 2862855 w 2862855"/>
              <a:gd name="connsiteY1" fmla="*/ 0 h 1527696"/>
              <a:gd name="connsiteX2" fmla="*/ 2757362 w 2862855"/>
              <a:gd name="connsiteY2" fmla="*/ 85011 h 1527696"/>
              <a:gd name="connsiteX3" fmla="*/ 1949659 w 2862855"/>
              <a:gd name="connsiteY3" fmla="*/ 424032 h 1527696"/>
              <a:gd name="connsiteX4" fmla="*/ 170555 w 2862855"/>
              <a:gd name="connsiteY4" fmla="*/ 1373059 h 1527696"/>
              <a:gd name="connsiteX5" fmla="*/ 0 w 2862855"/>
              <a:gd name="connsiteY5" fmla="*/ 1527696 h 1527696"/>
              <a:gd name="connsiteX6" fmla="*/ 0 w 2862855"/>
              <a:gd name="connsiteY6" fmla="*/ 872969 h 1527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862855" h="1527696">
                <a:moveTo>
                  <a:pt x="0" y="0"/>
                </a:moveTo>
                <a:lnTo>
                  <a:pt x="2862855" y="0"/>
                </a:lnTo>
                <a:lnTo>
                  <a:pt x="2757362" y="85011"/>
                </a:lnTo>
                <a:cubicBezTo>
                  <a:pt x="2560942" y="227521"/>
                  <a:pt x="2295416" y="345289"/>
                  <a:pt x="1949659" y="424032"/>
                </a:cubicBezTo>
                <a:cubicBezTo>
                  <a:pt x="1377417" y="555874"/>
                  <a:pt x="700343" y="918207"/>
                  <a:pt x="170555" y="1373059"/>
                </a:cubicBezTo>
                <a:lnTo>
                  <a:pt x="0" y="1527696"/>
                </a:lnTo>
                <a:lnTo>
                  <a:pt x="0" y="872969"/>
                </a:lnTo>
                <a:close/>
              </a:path>
            </a:pathLst>
          </a:custGeom>
          <a:gradFill flip="none" rotWithShape="1">
            <a:gsLst>
              <a:gs pos="100000">
                <a:schemeClr val="accent3">
                  <a:lumMod val="25000"/>
                  <a:alpha val="40000"/>
                </a:schemeClr>
              </a:gs>
              <a:gs pos="0">
                <a:schemeClr val="accent4">
                  <a:alpha val="69786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294AB31D-FEF2-F3B0-D726-81CE48F895EA}"/>
              </a:ext>
            </a:extLst>
          </p:cNvPr>
          <p:cNvSpPr/>
          <p:nvPr userDrawn="1"/>
        </p:nvSpPr>
        <p:spPr>
          <a:xfrm>
            <a:off x="2" y="4761091"/>
            <a:ext cx="3131151" cy="2096908"/>
          </a:xfrm>
          <a:custGeom>
            <a:avLst/>
            <a:gdLst>
              <a:gd name="connsiteX0" fmla="*/ 186163 w 3131151"/>
              <a:gd name="connsiteY0" fmla="*/ 0 h 2096908"/>
              <a:gd name="connsiteX1" fmla="*/ 2469297 w 3131151"/>
              <a:gd name="connsiteY1" fmla="*/ 1411265 h 2096908"/>
              <a:gd name="connsiteX2" fmla="*/ 3026909 w 3131151"/>
              <a:gd name="connsiteY2" fmla="*/ 2004423 h 2096908"/>
              <a:gd name="connsiteX3" fmla="*/ 3131151 w 3131151"/>
              <a:gd name="connsiteY3" fmla="*/ 2096908 h 2096908"/>
              <a:gd name="connsiteX4" fmla="*/ 0 w 3131151"/>
              <a:gd name="connsiteY4" fmla="*/ 2096908 h 2096908"/>
              <a:gd name="connsiteX5" fmla="*/ 0 w 3131151"/>
              <a:gd name="connsiteY5" fmla="*/ 4640 h 2096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31151" h="2096908">
                <a:moveTo>
                  <a:pt x="186163" y="0"/>
                </a:moveTo>
                <a:cubicBezTo>
                  <a:pt x="883663" y="24692"/>
                  <a:pt x="1675023" y="432572"/>
                  <a:pt x="2469297" y="1411265"/>
                </a:cubicBezTo>
                <a:cubicBezTo>
                  <a:pt x="2632187" y="1610943"/>
                  <a:pt x="2819757" y="1809855"/>
                  <a:pt x="3026909" y="2004423"/>
                </a:cubicBezTo>
                <a:lnTo>
                  <a:pt x="3131151" y="2096908"/>
                </a:lnTo>
                <a:lnTo>
                  <a:pt x="0" y="2096908"/>
                </a:lnTo>
                <a:lnTo>
                  <a:pt x="0" y="4640"/>
                </a:lnTo>
                <a:close/>
              </a:path>
            </a:pathLst>
          </a:custGeom>
          <a:gradFill flip="none" rotWithShape="1">
            <a:gsLst>
              <a:gs pos="47000">
                <a:schemeClr val="accent6">
                  <a:alpha val="51365"/>
                </a:schemeClr>
              </a:gs>
              <a:gs pos="100000">
                <a:schemeClr val="accent4">
                  <a:alpha val="24386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38430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FA2E8-50A1-4465-AC33-6FAC0E773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2824" y="1856232"/>
            <a:ext cx="4718304" cy="1069848"/>
          </a:xfrm>
        </p:spPr>
        <p:txBody>
          <a:bodyPr anchor="b">
            <a:noAutofit/>
          </a:bodyPr>
          <a:lstStyle>
            <a:lvl1pPr>
              <a:defRPr sz="4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5DE34-CDB7-41F7-A95A-592B99558C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01968" y="3374136"/>
            <a:ext cx="4709160" cy="2395728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reeform 14">
            <a:extLst>
              <a:ext uri="{FF2B5EF4-FFF2-40B4-BE49-F238E27FC236}">
                <a16:creationId xmlns:a16="http://schemas.microsoft.com/office/drawing/2014/main" id="{907BDD9A-3C2A-A21B-A425-1BB45BF5C103}"/>
              </a:ext>
            </a:extLst>
          </p:cNvPr>
          <p:cNvSpPr/>
          <p:nvPr userDrawn="1"/>
        </p:nvSpPr>
        <p:spPr>
          <a:xfrm rot="5400000" flipH="1" flipV="1">
            <a:off x="-1248967" y="1248969"/>
            <a:ext cx="6858000" cy="4360065"/>
          </a:xfrm>
          <a:custGeom>
            <a:avLst/>
            <a:gdLst>
              <a:gd name="connsiteX0" fmla="*/ 6858000 w 6858000"/>
              <a:gd name="connsiteY0" fmla="*/ 0 h 4360065"/>
              <a:gd name="connsiteX1" fmla="*/ 6858000 w 6858000"/>
              <a:gd name="connsiteY1" fmla="*/ 4019634 h 4360065"/>
              <a:gd name="connsiteX2" fmla="*/ 6786526 w 6858000"/>
              <a:gd name="connsiteY2" fmla="*/ 3987694 h 4360065"/>
              <a:gd name="connsiteX3" fmla="*/ 4380589 w 6858000"/>
              <a:gd name="connsiteY3" fmla="*/ 3270469 h 4360065"/>
              <a:gd name="connsiteX4" fmla="*/ 1148443 w 6858000"/>
              <a:gd name="connsiteY4" fmla="*/ 4360028 h 4360065"/>
              <a:gd name="connsiteX5" fmla="*/ 93033 w 6858000"/>
              <a:gd name="connsiteY5" fmla="*/ 4174462 h 4360065"/>
              <a:gd name="connsiteX6" fmla="*/ 0 w 6858000"/>
              <a:gd name="connsiteY6" fmla="*/ 4134599 h 4360065"/>
              <a:gd name="connsiteX7" fmla="*/ 0 w 6858000"/>
              <a:gd name="connsiteY7" fmla="*/ 0 h 4360065"/>
              <a:gd name="connsiteX8" fmla="*/ 6858000 w 6858000"/>
              <a:gd name="connsiteY8" fmla="*/ 0 h 4360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4360065">
                <a:moveTo>
                  <a:pt x="6858000" y="0"/>
                </a:moveTo>
                <a:lnTo>
                  <a:pt x="6858000" y="4019634"/>
                </a:lnTo>
                <a:lnTo>
                  <a:pt x="6786526" y="3987694"/>
                </a:lnTo>
                <a:cubicBezTo>
                  <a:pt x="6330423" y="3769997"/>
                  <a:pt x="5587519" y="3251791"/>
                  <a:pt x="4380589" y="3270469"/>
                </a:cubicBezTo>
                <a:cubicBezTo>
                  <a:pt x="3001241" y="3291816"/>
                  <a:pt x="2442968" y="4353863"/>
                  <a:pt x="1148443" y="4360028"/>
                </a:cubicBezTo>
                <a:cubicBezTo>
                  <a:pt x="743904" y="4361955"/>
                  <a:pt x="389317" y="4288650"/>
                  <a:pt x="93033" y="4174462"/>
                </a:cubicBezTo>
                <a:lnTo>
                  <a:pt x="0" y="4134599"/>
                </a:lnTo>
                <a:lnTo>
                  <a:pt x="0" y="0"/>
                </a:lnTo>
                <a:lnTo>
                  <a:pt x="6858000" y="0"/>
                </a:lnTo>
                <a:close/>
              </a:path>
            </a:pathLst>
          </a:custGeom>
          <a:solidFill>
            <a:schemeClr val="accent4">
              <a:alpha val="1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16">
            <a:extLst>
              <a:ext uri="{FF2B5EF4-FFF2-40B4-BE49-F238E27FC236}">
                <a16:creationId xmlns:a16="http://schemas.microsoft.com/office/drawing/2014/main" id="{989D7F61-B47A-97D5-F725-EC5EFE81187A}"/>
              </a:ext>
            </a:extLst>
          </p:cNvPr>
          <p:cNvSpPr/>
          <p:nvPr userDrawn="1"/>
        </p:nvSpPr>
        <p:spPr>
          <a:xfrm rot="16200000" flipH="1">
            <a:off x="-952024" y="952025"/>
            <a:ext cx="6858000" cy="4953950"/>
          </a:xfrm>
          <a:custGeom>
            <a:avLst/>
            <a:gdLst>
              <a:gd name="connsiteX0" fmla="*/ 0 w 6858000"/>
              <a:gd name="connsiteY0" fmla="*/ 0 h 4953950"/>
              <a:gd name="connsiteX1" fmla="*/ 0 w 6858000"/>
              <a:gd name="connsiteY1" fmla="*/ 4289773 h 4953950"/>
              <a:gd name="connsiteX2" fmla="*/ 181159 w 6858000"/>
              <a:gd name="connsiteY2" fmla="*/ 4411259 h 4953950"/>
              <a:gd name="connsiteX3" fmla="*/ 2222746 w 6858000"/>
              <a:gd name="connsiteY3" fmla="*/ 4953891 h 4953950"/>
              <a:gd name="connsiteX4" fmla="*/ 6808516 w 6858000"/>
              <a:gd name="connsiteY4" fmla="*/ 3223031 h 4953950"/>
              <a:gd name="connsiteX5" fmla="*/ 6858000 w 6858000"/>
              <a:gd name="connsiteY5" fmla="*/ 3220931 h 4953950"/>
              <a:gd name="connsiteX6" fmla="*/ 6858000 w 6858000"/>
              <a:gd name="connsiteY6" fmla="*/ 0 h 4953950"/>
              <a:gd name="connsiteX7" fmla="*/ 0 w 6858000"/>
              <a:gd name="connsiteY7" fmla="*/ 0 h 495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4953950">
                <a:moveTo>
                  <a:pt x="0" y="0"/>
                </a:moveTo>
                <a:lnTo>
                  <a:pt x="0" y="4289773"/>
                </a:lnTo>
                <a:lnTo>
                  <a:pt x="181159" y="4411259"/>
                </a:lnTo>
                <a:cubicBezTo>
                  <a:pt x="694541" y="4727180"/>
                  <a:pt x="1386349" y="4958196"/>
                  <a:pt x="2222746" y="4953891"/>
                </a:cubicBezTo>
                <a:cubicBezTo>
                  <a:pt x="4074768" y="4944360"/>
                  <a:pt x="4906383" y="3353427"/>
                  <a:pt x="6808516" y="3223031"/>
                </a:cubicBezTo>
                <a:lnTo>
                  <a:pt x="6858000" y="3220931"/>
                </a:lnTo>
                <a:lnTo>
                  <a:pt x="6858000" y="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20000">
                <a:schemeClr val="accent6">
                  <a:alpha val="52965"/>
                </a:schemeClr>
              </a:gs>
              <a:gs pos="90000">
                <a:schemeClr val="accent5">
                  <a:lumMod val="50000"/>
                  <a:alpha val="72473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17">
            <a:extLst>
              <a:ext uri="{FF2B5EF4-FFF2-40B4-BE49-F238E27FC236}">
                <a16:creationId xmlns:a16="http://schemas.microsoft.com/office/drawing/2014/main" id="{A70008D0-0FB3-5B8D-3060-6EDD9E247095}"/>
              </a:ext>
            </a:extLst>
          </p:cNvPr>
          <p:cNvSpPr/>
          <p:nvPr userDrawn="1"/>
        </p:nvSpPr>
        <p:spPr>
          <a:xfrm rot="16200000" flipH="1">
            <a:off x="-1513890" y="1513891"/>
            <a:ext cx="6858000" cy="3830219"/>
          </a:xfrm>
          <a:custGeom>
            <a:avLst/>
            <a:gdLst>
              <a:gd name="connsiteX0" fmla="*/ 0 w 6858000"/>
              <a:gd name="connsiteY0" fmla="*/ 0 h 3830219"/>
              <a:gd name="connsiteX1" fmla="*/ 0 w 6858000"/>
              <a:gd name="connsiteY1" fmla="*/ 2994317 h 3830219"/>
              <a:gd name="connsiteX2" fmla="*/ 150933 w 6858000"/>
              <a:gd name="connsiteY2" fmla="*/ 2952927 h 3830219"/>
              <a:gd name="connsiteX3" fmla="*/ 533317 w 6858000"/>
              <a:gd name="connsiteY3" fmla="*/ 2907735 h 3830219"/>
              <a:gd name="connsiteX4" fmla="*/ 2516906 w 6858000"/>
              <a:gd name="connsiteY4" fmla="*/ 3558655 h 3830219"/>
              <a:gd name="connsiteX5" fmla="*/ 2542419 w 6858000"/>
              <a:gd name="connsiteY5" fmla="*/ 3568616 h 3830219"/>
              <a:gd name="connsiteX6" fmla="*/ 2607100 w 6858000"/>
              <a:gd name="connsiteY6" fmla="*/ 3608308 h 3830219"/>
              <a:gd name="connsiteX7" fmla="*/ 3580199 w 6858000"/>
              <a:gd name="connsiteY7" fmla="*/ 3830188 h 3830219"/>
              <a:gd name="connsiteX8" fmla="*/ 6145368 w 6858000"/>
              <a:gd name="connsiteY8" fmla="*/ 2895740 h 3830219"/>
              <a:gd name="connsiteX9" fmla="*/ 6711794 w 6858000"/>
              <a:gd name="connsiteY9" fmla="*/ 2941805 h 3830219"/>
              <a:gd name="connsiteX10" fmla="*/ 6858000 w 6858000"/>
              <a:gd name="connsiteY10" fmla="*/ 2973381 h 3830219"/>
              <a:gd name="connsiteX11" fmla="*/ 6858000 w 6858000"/>
              <a:gd name="connsiteY11" fmla="*/ 0 h 3830219"/>
              <a:gd name="connsiteX12" fmla="*/ 0 w 6858000"/>
              <a:gd name="connsiteY12" fmla="*/ 0 h 3830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58000" h="3830219">
                <a:moveTo>
                  <a:pt x="0" y="0"/>
                </a:moveTo>
                <a:lnTo>
                  <a:pt x="0" y="2994317"/>
                </a:lnTo>
                <a:lnTo>
                  <a:pt x="150933" y="2952927"/>
                </a:lnTo>
                <a:cubicBezTo>
                  <a:pt x="269822" y="2926258"/>
                  <a:pt x="396478" y="2910024"/>
                  <a:pt x="533317" y="2907735"/>
                </a:cubicBezTo>
                <a:cubicBezTo>
                  <a:pt x="1559606" y="2890571"/>
                  <a:pt x="2163137" y="3401988"/>
                  <a:pt x="2516906" y="3558655"/>
                </a:cubicBezTo>
                <a:lnTo>
                  <a:pt x="2542419" y="3568616"/>
                </a:lnTo>
                <a:lnTo>
                  <a:pt x="2607100" y="3608308"/>
                </a:lnTo>
                <a:cubicBezTo>
                  <a:pt x="2866745" y="3741243"/>
                  <a:pt x="3194928" y="3832171"/>
                  <a:pt x="3580199" y="3830188"/>
                </a:cubicBezTo>
                <a:cubicBezTo>
                  <a:pt x="4607589" y="3824901"/>
                  <a:pt x="5050658" y="2914049"/>
                  <a:pt x="6145368" y="2895740"/>
                </a:cubicBezTo>
                <a:cubicBezTo>
                  <a:pt x="6350626" y="2892307"/>
                  <a:pt x="6538973" y="2910018"/>
                  <a:pt x="6711794" y="2941805"/>
                </a:cubicBezTo>
                <a:lnTo>
                  <a:pt x="6858000" y="2973381"/>
                </a:lnTo>
                <a:lnTo>
                  <a:pt x="6858000" y="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45000">
                <a:schemeClr val="accent6">
                  <a:alpha val="29951"/>
                </a:schemeClr>
              </a:gs>
              <a:gs pos="99000">
                <a:schemeClr val="accent4">
                  <a:lumMod val="75000"/>
                  <a:alpha val="2734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CA6FFAC-0E5C-DA2F-C0F9-D5602F928AEC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7545111" y="2275586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26350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F7D74-558F-4816-9367-4004FFA2B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69ADF-8CD9-4E77-BB8D-70D8824C5A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5F077D-E901-4AA9-B062-1C37FF407B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7B5E76-E101-4994-92F5-1F540EB16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49F242-2699-411D-B3F7-3D6D480E4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06943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5ED18-7A07-47F1-8056-CD86B076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356206-85FD-45F5-A1F7-128DB34C8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03763F-C8CD-4BCB-9A0A-B10F000BC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9475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C6CA6E-C1AB-4B24-80C7-A4B12640B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5EFB41-7AD3-4519-95E7-416BFA1AE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51072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BD6A3-F987-4FCC-A6EF-2EF0D33C0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F06A0-63CE-4272-B90E-4F20296BFB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467220-06E3-427A-B4D3-9B0030E09D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AEF53B-C85C-47DB-ADE4-C1D9FA682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D4FD38-14E5-4C36-B948-8BF3F794E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20054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08F2A-1C19-4116-80DF-E24EDDF28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A489A7-7CA6-4CC9-B634-FCB2E102C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5F80D-1DB9-4E0A-8F68-924FC1C9C3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DA4DA3-10C7-48A6-9B15-38222B8CA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84E7EE-5B3B-427E-9807-020AEF8C7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165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832104"/>
            <a:ext cx="10881360" cy="10698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984" y="2212848"/>
            <a:ext cx="10332720" cy="35478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29184" y="411480"/>
            <a:ext cx="521208" cy="31089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 b="0" i="0">
                <a:solidFill>
                  <a:schemeClr val="bg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66344" y="6190488"/>
            <a:ext cx="2331720" cy="2743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 b="0" i="0">
                <a:solidFill>
                  <a:schemeClr val="bg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r>
              <a:rPr lang="en-US"/>
              <a:t>Crypto: investing &amp; trading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BA4A2D6-617E-EEA3-E4EE-5BDB472F6A43}"/>
              </a:ext>
            </a:extLst>
          </p:cNvPr>
          <p:cNvCxnSpPr>
            <a:cxnSpLocks/>
          </p:cNvCxnSpPr>
          <p:nvPr userDrawn="1"/>
        </p:nvCxnSpPr>
        <p:spPr>
          <a:xfrm>
            <a:off x="594170" y="846661"/>
            <a:ext cx="0" cy="511101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70" r:id="rId7"/>
    <p:sldLayoutId id="2147483669" r:id="rId8"/>
    <p:sldLayoutId id="2147483653" r:id="rId9"/>
    <p:sldLayoutId id="2147483665" r:id="rId10"/>
    <p:sldLayoutId id="2147483666" r:id="rId11"/>
    <p:sldLayoutId id="2147483667" r:id="rId12"/>
    <p:sldLayoutId id="2147483668" r:id="rId13"/>
    <p:sldLayoutId id="2147483651" r:id="rId14"/>
    <p:sldLayoutId id="2147483652" r:id="rId15"/>
    <p:sldLayoutId id="2147483654" r:id="rId16"/>
    <p:sldLayoutId id="2147483655" r:id="rId17"/>
    <p:sldLayoutId id="2147483656" r:id="rId18"/>
    <p:sldLayoutId id="214748365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 cap="all" spc="600" baseline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347472" algn="l" defTabSz="914400" rtl="0" eaLnBrk="1" latinLnBrk="0" hangingPunct="1">
        <a:lnSpc>
          <a:spcPct val="90000"/>
        </a:lnSpc>
        <a:spcBef>
          <a:spcPts val="1000"/>
        </a:spcBef>
        <a:buClr>
          <a:schemeClr val="accent6"/>
        </a:buClr>
        <a:buFont typeface="Courier New" panose="02070309020205020404" pitchFamily="49" charset="0"/>
        <a:buChar char="o"/>
        <a:defRPr sz="2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1pPr>
      <a:lvl2pPr marL="6858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24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2pPr>
      <a:lvl3pPr marL="11430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20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3pPr>
      <a:lvl4pPr marL="16002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1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4pPr>
      <a:lvl5pPr marL="20574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1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70DB4-0446-EF22-E8E0-3A5B83923A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Tw Cen MT"/>
                <a:cs typeface="Tw Cen MT"/>
              </a:rPr>
              <a:t>RETRIEVAL-AUGMENTED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Tw Cen MT"/>
                <a:cs typeface="Tw Cen MT"/>
              </a:rPr>
              <a:t>GENERATION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6329B1-2D04-0F3A-1081-C5117D8CE1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en-US" sz="2400" b="0" dirty="0">
                <a:solidFill>
                  <a:srgbClr val="FFFFFF"/>
                </a:solidFill>
                <a:latin typeface="Segoe UI Light"/>
                <a:cs typeface="Segoe UI Light"/>
              </a:rPr>
              <a:t>Day 5  ·  Module 12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2000" b="0" dirty="0" err="1">
                <a:solidFill>
                  <a:srgbClr val="A8BBDD"/>
                </a:solidFill>
                <a:latin typeface="Segoe UI Light"/>
                <a:cs typeface="Segoe UI Light"/>
              </a:rPr>
              <a:t>Leumit</a:t>
            </a:r>
            <a:r>
              <a:rPr lang="en-US" sz="2000" b="0" dirty="0">
                <a:solidFill>
                  <a:srgbClr val="A8BBDD"/>
                </a:solidFill>
                <a:latin typeface="Segoe UI Light"/>
                <a:cs typeface="Segoe UI Light"/>
              </a:rPr>
              <a:t> AI-Augmented Software Development Workshop</a:t>
            </a:r>
          </a:p>
        </p:txBody>
      </p:sp>
    </p:spTree>
    <p:extLst>
      <p:ext uri="{BB962C8B-B14F-4D97-AF65-F5344CB8AC3E}">
        <p14:creationId xmlns:p14="http://schemas.microsoft.com/office/powerpoint/2010/main" val="1723491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310B5-D907-A977-7A9C-69F8BEB7BB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w Cen MT"/>
                <a:cs typeface="Tw Cen MT"/>
              </a:rPr>
              <a:t>WHAT WE’LL BUILD TODAY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5FF0B8-5B51-7376-0271-8D849CA3F8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 algn="ctr">
              <a:lnSpc>
                <a:spcPct val="120000"/>
              </a:lnSpc>
              <a:buNone/>
            </a:pPr>
            <a:r>
              <a:rPr lang="en-US" sz="2200" b="0" dirty="0">
                <a:solidFill>
                  <a:srgbClr val="FFFFFF"/>
                </a:solidFill>
                <a:latin typeface="Segoe UI Light"/>
                <a:cs typeface="Segoe UI Light"/>
              </a:rPr>
              <a:t>A C# console app that answers questions about a real website — grounded in its actual pages, not the model’s knowledge</a:t>
            </a:r>
          </a:p>
        </p:txBody>
      </p:sp>
    </p:spTree>
    <p:extLst>
      <p:ext uri="{BB962C8B-B14F-4D97-AF65-F5344CB8AC3E}">
        <p14:creationId xmlns:p14="http://schemas.microsoft.com/office/powerpoint/2010/main" val="548476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F7E09-6A9E-9FCC-7867-895F21ABE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w Cen MT"/>
                <a:cs typeface="Tw Cen MT"/>
              </a:rPr>
              <a:t>AGENDA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57728F-9EA1-A705-8E4D-B7823E4F4C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158D4-7B61-0A48-E33F-792278D057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228600" indent="-228600" algn="l">
              <a:lnSpc>
                <a:spcPct val="115000"/>
              </a:lnSpc>
              <a:spcAft>
                <a:spcPts val="10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400" b="0" dirty="0">
                <a:solidFill>
                  <a:srgbClr val="FFFFFF"/>
                </a:solidFill>
                <a:latin typeface="Segoe UI Light"/>
                <a:cs typeface="Segoe UI Light"/>
              </a:rPr>
              <a:t>Why RAG?</a:t>
            </a:r>
          </a:p>
          <a:p>
            <a:pPr marL="228600" indent="-228600" algn="l">
              <a:lnSpc>
                <a:spcPct val="115000"/>
              </a:lnSpc>
              <a:spcAft>
                <a:spcPts val="10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400" b="0" dirty="0">
                <a:solidFill>
                  <a:srgbClr val="FFFFFF"/>
                </a:solidFill>
                <a:latin typeface="Segoe UI Light"/>
                <a:cs typeface="Segoe UI Light"/>
              </a:rPr>
              <a:t>How RAG works</a:t>
            </a:r>
          </a:p>
          <a:p>
            <a:pPr marL="228600" indent="-228600" algn="l">
              <a:lnSpc>
                <a:spcPct val="115000"/>
              </a:lnSpc>
              <a:spcAft>
                <a:spcPts val="10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400" b="0" dirty="0">
                <a:solidFill>
                  <a:srgbClr val="FFFFFF"/>
                </a:solidFill>
                <a:latin typeface="Segoe UI Light"/>
                <a:cs typeface="Segoe UI Light"/>
              </a:rPr>
              <a:t>Our stack</a:t>
            </a:r>
          </a:p>
          <a:p>
            <a:pPr marL="228600" indent="-228600" algn="l">
              <a:lnSpc>
                <a:spcPct val="115000"/>
              </a:lnSpc>
              <a:spcAft>
                <a:spcPts val="10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400" b="0" dirty="0">
                <a:solidFill>
                  <a:srgbClr val="FFFFFF"/>
                </a:solidFill>
                <a:latin typeface="Segoe UI Light"/>
                <a:cs typeface="Segoe UI Light"/>
              </a:rPr>
              <a:t>Build it step by step</a:t>
            </a:r>
          </a:p>
          <a:p>
            <a:pPr marL="228600" indent="-228600" algn="l">
              <a:lnSpc>
                <a:spcPct val="115000"/>
              </a:lnSpc>
              <a:spcAft>
                <a:spcPts val="10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400" b="0" dirty="0">
                <a:solidFill>
                  <a:srgbClr val="FFFFFF"/>
                </a:solidFill>
                <a:latin typeface="Segoe UI Light"/>
                <a:cs typeface="Segoe UI Light"/>
              </a:rPr>
              <a:t>Run it &amp; go to production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D0AE42-75AF-229C-2692-C10ADA4FFA8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A8BBDD"/>
                </a:solidFill>
                <a:latin typeface="Segoe UI Light"/>
                <a:cs typeface="Segoe UI Light"/>
              </a:rPr>
              <a:t>RAG  ·  Module 1</a:t>
            </a:r>
          </a:p>
        </p:txBody>
      </p:sp>
    </p:spTree>
    <p:extLst>
      <p:ext uri="{BB962C8B-B14F-4D97-AF65-F5344CB8AC3E}">
        <p14:creationId xmlns:p14="http://schemas.microsoft.com/office/powerpoint/2010/main" val="3548027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E73D4-535B-6DCC-2268-43A5E9E12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w Cen MT"/>
                <a:cs typeface="Tw Cen MT"/>
              </a:rPr>
              <a:t>WHAT RAG SOLVES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59FCA3-0124-0FA6-220B-D72E8F803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4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30852F-3FB7-6D2E-F6AC-1F6B9CAD2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92CDF0"/>
                </a:solidFill>
                <a:latin typeface="Segoe UI Light"/>
                <a:cs typeface="Segoe UI Light"/>
              </a:rPr>
              <a:t>Stale data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135D3F1-0C33-3404-5D49-E70C9D100F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The model was trained months or years ago</a:t>
            </a:r>
          </a:p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It cannot know anything newer than its training data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E5F7BD8-DA37-58AB-1F45-D0F045DF4B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92CDF0"/>
                </a:solidFill>
                <a:latin typeface="Segoe UI Light"/>
                <a:cs typeface="Segoe UI Light"/>
              </a:rPr>
              <a:t>Hallucination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24F2AAC-B18D-1D49-15F1-2D69101664A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Autofit/>
          </a:bodyPr>
          <a:lstStyle/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Asked something it doesn’t know, a model may invent an answer</a:t>
            </a:r>
          </a:p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Grounding on real text sharply reduces this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E68EFF0-69C3-F9AE-1107-E08A22BCF9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92CDF0"/>
                </a:solidFill>
                <a:latin typeface="Segoe UI Light"/>
                <a:cs typeface="Segoe UI Light"/>
              </a:rPr>
              <a:t>Your data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4D6980BD-0225-0DD6-3D62-B0B1E983AB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73568" y="2743200"/>
            <a:ext cx="3068680" cy="2578608"/>
          </a:xfrm>
        </p:spPr>
        <p:txBody>
          <a:bodyPr>
            <a:noAutofit/>
          </a:bodyPr>
          <a:lstStyle/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It has never seen your docs, contracts or wiki</a:t>
            </a:r>
          </a:p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Retraining is expensive — retrieving is cheap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07ABA7-FC97-4D42-C4BC-897A88CF3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A8BBDD"/>
                </a:solidFill>
                <a:latin typeface="Segoe UI Light"/>
                <a:cs typeface="Segoe UI Light"/>
              </a:rPr>
              <a:t>RAG  ·  Module 1</a:t>
            </a:r>
          </a:p>
        </p:txBody>
      </p:sp>
    </p:spTree>
    <p:extLst>
      <p:ext uri="{BB962C8B-B14F-4D97-AF65-F5344CB8AC3E}">
        <p14:creationId xmlns:p14="http://schemas.microsoft.com/office/powerpoint/2010/main" val="18770809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4C44EC9-F730-00B6-E479-530EC276D8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1497321" y="2736484"/>
            <a:ext cx="1512407" cy="938717"/>
            <a:chOff x="4779792" y="2384561"/>
            <a:chExt cx="3365480" cy="2088878"/>
          </a:xfrm>
          <a:solidFill>
            <a:schemeClr val="accent6">
              <a:alpha val="50231"/>
            </a:schemeClr>
          </a:solidFill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8B6D2F8E-4F98-B89F-E4FB-DD9F900821E1}"/>
                </a:ext>
              </a:extLst>
            </p:cNvPr>
            <p:cNvSpPr/>
            <p:nvPr/>
          </p:nvSpPr>
          <p:spPr>
            <a:xfrm flipH="1">
              <a:off x="6582137" y="2384561"/>
              <a:ext cx="1563135" cy="2088878"/>
            </a:xfrm>
            <a:custGeom>
              <a:avLst/>
              <a:gdLst>
                <a:gd name="connsiteX0" fmla="*/ 520700 w 1041400"/>
                <a:gd name="connsiteY0" fmla="*/ 0 h 1391663"/>
                <a:gd name="connsiteX1" fmla="*/ 0 w 1041400"/>
                <a:gd name="connsiteY1" fmla="*/ 520700 h 1391663"/>
                <a:gd name="connsiteX2" fmla="*/ 601 w 1041400"/>
                <a:gd name="connsiteY2" fmla="*/ 526665 h 1391663"/>
                <a:gd name="connsiteX3" fmla="*/ 0 w 1041400"/>
                <a:gd name="connsiteY3" fmla="*/ 530884 h 1391663"/>
                <a:gd name="connsiteX4" fmla="*/ 839841 w 1041400"/>
                <a:gd name="connsiteY4" fmla="*/ 1391663 h 1391663"/>
                <a:gd name="connsiteX5" fmla="*/ 596988 w 1041400"/>
                <a:gd name="connsiteY5" fmla="*/ 1070463 h 1391663"/>
                <a:gd name="connsiteX6" fmla="*/ 595327 w 1041400"/>
                <a:gd name="connsiteY6" fmla="*/ 1033877 h 1391663"/>
                <a:gd name="connsiteX7" fmla="*/ 625639 w 1041400"/>
                <a:gd name="connsiteY7" fmla="*/ 1030821 h 1391663"/>
                <a:gd name="connsiteX8" fmla="*/ 1041400 w 1041400"/>
                <a:gd name="connsiteY8" fmla="*/ 520700 h 1391663"/>
                <a:gd name="connsiteX9" fmla="*/ 520700 w 1041400"/>
                <a:gd name="connsiteY9" fmla="*/ 0 h 1391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41400" h="1391663">
                  <a:moveTo>
                    <a:pt x="520700" y="0"/>
                  </a:moveTo>
                  <a:cubicBezTo>
                    <a:pt x="233125" y="0"/>
                    <a:pt x="0" y="233125"/>
                    <a:pt x="0" y="520700"/>
                  </a:cubicBezTo>
                  <a:lnTo>
                    <a:pt x="601" y="526665"/>
                  </a:lnTo>
                  <a:lnTo>
                    <a:pt x="0" y="530884"/>
                  </a:lnTo>
                  <a:cubicBezTo>
                    <a:pt x="1270" y="763309"/>
                    <a:pt x="141037" y="1339599"/>
                    <a:pt x="839841" y="1391663"/>
                  </a:cubicBezTo>
                  <a:cubicBezTo>
                    <a:pt x="756282" y="1328754"/>
                    <a:pt x="622088" y="1243235"/>
                    <a:pt x="596988" y="1070463"/>
                  </a:cubicBezTo>
                  <a:lnTo>
                    <a:pt x="595327" y="1033877"/>
                  </a:lnTo>
                  <a:lnTo>
                    <a:pt x="625639" y="1030821"/>
                  </a:lnTo>
                  <a:cubicBezTo>
                    <a:pt x="862914" y="982268"/>
                    <a:pt x="1041400" y="772328"/>
                    <a:pt x="1041400" y="520700"/>
                  </a:cubicBezTo>
                  <a:cubicBezTo>
                    <a:pt x="1041400" y="233125"/>
                    <a:pt x="808275" y="0"/>
                    <a:pt x="520700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99EBD7AD-ED91-CC5F-0110-3EE43A60F946}"/>
                </a:ext>
              </a:extLst>
            </p:cNvPr>
            <p:cNvSpPr/>
            <p:nvPr/>
          </p:nvSpPr>
          <p:spPr>
            <a:xfrm flipH="1">
              <a:off x="4779792" y="2384561"/>
              <a:ext cx="1563135" cy="2088878"/>
            </a:xfrm>
            <a:custGeom>
              <a:avLst/>
              <a:gdLst>
                <a:gd name="connsiteX0" fmla="*/ 520700 w 1041400"/>
                <a:gd name="connsiteY0" fmla="*/ 0 h 1391663"/>
                <a:gd name="connsiteX1" fmla="*/ 0 w 1041400"/>
                <a:gd name="connsiteY1" fmla="*/ 520700 h 1391663"/>
                <a:gd name="connsiteX2" fmla="*/ 601 w 1041400"/>
                <a:gd name="connsiteY2" fmla="*/ 526665 h 1391663"/>
                <a:gd name="connsiteX3" fmla="*/ 0 w 1041400"/>
                <a:gd name="connsiteY3" fmla="*/ 530884 h 1391663"/>
                <a:gd name="connsiteX4" fmla="*/ 839841 w 1041400"/>
                <a:gd name="connsiteY4" fmla="*/ 1391663 h 1391663"/>
                <a:gd name="connsiteX5" fmla="*/ 596988 w 1041400"/>
                <a:gd name="connsiteY5" fmla="*/ 1070463 h 1391663"/>
                <a:gd name="connsiteX6" fmla="*/ 595327 w 1041400"/>
                <a:gd name="connsiteY6" fmla="*/ 1033877 h 1391663"/>
                <a:gd name="connsiteX7" fmla="*/ 625639 w 1041400"/>
                <a:gd name="connsiteY7" fmla="*/ 1030821 h 1391663"/>
                <a:gd name="connsiteX8" fmla="*/ 1041400 w 1041400"/>
                <a:gd name="connsiteY8" fmla="*/ 520700 h 1391663"/>
                <a:gd name="connsiteX9" fmla="*/ 520700 w 1041400"/>
                <a:gd name="connsiteY9" fmla="*/ 0 h 1391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41400" h="1391663">
                  <a:moveTo>
                    <a:pt x="520700" y="0"/>
                  </a:moveTo>
                  <a:cubicBezTo>
                    <a:pt x="233125" y="0"/>
                    <a:pt x="0" y="233125"/>
                    <a:pt x="0" y="520700"/>
                  </a:cubicBezTo>
                  <a:lnTo>
                    <a:pt x="601" y="526665"/>
                  </a:lnTo>
                  <a:lnTo>
                    <a:pt x="0" y="530884"/>
                  </a:lnTo>
                  <a:cubicBezTo>
                    <a:pt x="1270" y="763309"/>
                    <a:pt x="141037" y="1339599"/>
                    <a:pt x="839841" y="1391663"/>
                  </a:cubicBezTo>
                  <a:cubicBezTo>
                    <a:pt x="756282" y="1328754"/>
                    <a:pt x="622088" y="1243235"/>
                    <a:pt x="596988" y="1070463"/>
                  </a:cubicBezTo>
                  <a:lnTo>
                    <a:pt x="595327" y="1033877"/>
                  </a:lnTo>
                  <a:lnTo>
                    <a:pt x="625639" y="1030821"/>
                  </a:lnTo>
                  <a:cubicBezTo>
                    <a:pt x="862914" y="982268"/>
                    <a:pt x="1041400" y="772328"/>
                    <a:pt x="1041400" y="520700"/>
                  </a:cubicBezTo>
                  <a:cubicBezTo>
                    <a:pt x="1041400" y="233125"/>
                    <a:pt x="808275" y="0"/>
                    <a:pt x="520700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6B0BED4-B4D2-A8C2-9E8E-FA7D1819E1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199707" y="3205843"/>
            <a:ext cx="1512408" cy="938718"/>
            <a:chOff x="4779792" y="2384561"/>
            <a:chExt cx="3365480" cy="2088878"/>
          </a:xfrm>
          <a:solidFill>
            <a:schemeClr val="accent1">
              <a:alpha val="48174"/>
            </a:schemeClr>
          </a:solidFill>
        </p:grpSpPr>
        <p:sp>
          <p:nvSpPr>
            <p:cNvPr id="8" name="Freeform 1">
              <a:extLst>
                <a:ext uri="{FF2B5EF4-FFF2-40B4-BE49-F238E27FC236}">
                  <a16:creationId xmlns:a16="http://schemas.microsoft.com/office/drawing/2014/main" id="{B542C6FD-B908-03BB-DE9D-1E76EE849265}"/>
                </a:ext>
              </a:extLst>
            </p:cNvPr>
            <p:cNvSpPr/>
            <p:nvPr/>
          </p:nvSpPr>
          <p:spPr>
            <a:xfrm flipH="1">
              <a:off x="6582137" y="2384561"/>
              <a:ext cx="1563135" cy="2088878"/>
            </a:xfrm>
            <a:custGeom>
              <a:avLst/>
              <a:gdLst>
                <a:gd name="connsiteX0" fmla="*/ 520700 w 1041400"/>
                <a:gd name="connsiteY0" fmla="*/ 0 h 1391663"/>
                <a:gd name="connsiteX1" fmla="*/ 0 w 1041400"/>
                <a:gd name="connsiteY1" fmla="*/ 520700 h 1391663"/>
                <a:gd name="connsiteX2" fmla="*/ 601 w 1041400"/>
                <a:gd name="connsiteY2" fmla="*/ 526665 h 1391663"/>
                <a:gd name="connsiteX3" fmla="*/ 0 w 1041400"/>
                <a:gd name="connsiteY3" fmla="*/ 530884 h 1391663"/>
                <a:gd name="connsiteX4" fmla="*/ 839841 w 1041400"/>
                <a:gd name="connsiteY4" fmla="*/ 1391663 h 1391663"/>
                <a:gd name="connsiteX5" fmla="*/ 596988 w 1041400"/>
                <a:gd name="connsiteY5" fmla="*/ 1070463 h 1391663"/>
                <a:gd name="connsiteX6" fmla="*/ 595327 w 1041400"/>
                <a:gd name="connsiteY6" fmla="*/ 1033877 h 1391663"/>
                <a:gd name="connsiteX7" fmla="*/ 625639 w 1041400"/>
                <a:gd name="connsiteY7" fmla="*/ 1030821 h 1391663"/>
                <a:gd name="connsiteX8" fmla="*/ 1041400 w 1041400"/>
                <a:gd name="connsiteY8" fmla="*/ 520700 h 1391663"/>
                <a:gd name="connsiteX9" fmla="*/ 520700 w 1041400"/>
                <a:gd name="connsiteY9" fmla="*/ 0 h 1391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41400" h="1391663">
                  <a:moveTo>
                    <a:pt x="520700" y="0"/>
                  </a:moveTo>
                  <a:cubicBezTo>
                    <a:pt x="233125" y="0"/>
                    <a:pt x="0" y="233125"/>
                    <a:pt x="0" y="520700"/>
                  </a:cubicBezTo>
                  <a:lnTo>
                    <a:pt x="601" y="526665"/>
                  </a:lnTo>
                  <a:lnTo>
                    <a:pt x="0" y="530884"/>
                  </a:lnTo>
                  <a:cubicBezTo>
                    <a:pt x="1270" y="763309"/>
                    <a:pt x="141037" y="1339599"/>
                    <a:pt x="839841" y="1391663"/>
                  </a:cubicBezTo>
                  <a:cubicBezTo>
                    <a:pt x="756282" y="1328754"/>
                    <a:pt x="622088" y="1243235"/>
                    <a:pt x="596988" y="1070463"/>
                  </a:cubicBezTo>
                  <a:lnTo>
                    <a:pt x="595327" y="1033877"/>
                  </a:lnTo>
                  <a:lnTo>
                    <a:pt x="625639" y="1030821"/>
                  </a:lnTo>
                  <a:cubicBezTo>
                    <a:pt x="862914" y="982268"/>
                    <a:pt x="1041400" y="772328"/>
                    <a:pt x="1041400" y="520700"/>
                  </a:cubicBezTo>
                  <a:cubicBezTo>
                    <a:pt x="1041400" y="233125"/>
                    <a:pt x="808275" y="0"/>
                    <a:pt x="520700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 21">
              <a:extLst>
                <a:ext uri="{FF2B5EF4-FFF2-40B4-BE49-F238E27FC236}">
                  <a16:creationId xmlns:a16="http://schemas.microsoft.com/office/drawing/2014/main" id="{594F7F18-2B8D-7493-904B-1BD252DFC677}"/>
                </a:ext>
              </a:extLst>
            </p:cNvPr>
            <p:cNvSpPr/>
            <p:nvPr/>
          </p:nvSpPr>
          <p:spPr>
            <a:xfrm flipH="1">
              <a:off x="4779792" y="2384561"/>
              <a:ext cx="1563135" cy="2088878"/>
            </a:xfrm>
            <a:custGeom>
              <a:avLst/>
              <a:gdLst>
                <a:gd name="connsiteX0" fmla="*/ 520700 w 1041400"/>
                <a:gd name="connsiteY0" fmla="*/ 0 h 1391663"/>
                <a:gd name="connsiteX1" fmla="*/ 0 w 1041400"/>
                <a:gd name="connsiteY1" fmla="*/ 520700 h 1391663"/>
                <a:gd name="connsiteX2" fmla="*/ 601 w 1041400"/>
                <a:gd name="connsiteY2" fmla="*/ 526665 h 1391663"/>
                <a:gd name="connsiteX3" fmla="*/ 0 w 1041400"/>
                <a:gd name="connsiteY3" fmla="*/ 530884 h 1391663"/>
                <a:gd name="connsiteX4" fmla="*/ 839841 w 1041400"/>
                <a:gd name="connsiteY4" fmla="*/ 1391663 h 1391663"/>
                <a:gd name="connsiteX5" fmla="*/ 596988 w 1041400"/>
                <a:gd name="connsiteY5" fmla="*/ 1070463 h 1391663"/>
                <a:gd name="connsiteX6" fmla="*/ 595327 w 1041400"/>
                <a:gd name="connsiteY6" fmla="*/ 1033877 h 1391663"/>
                <a:gd name="connsiteX7" fmla="*/ 625639 w 1041400"/>
                <a:gd name="connsiteY7" fmla="*/ 1030821 h 1391663"/>
                <a:gd name="connsiteX8" fmla="*/ 1041400 w 1041400"/>
                <a:gd name="connsiteY8" fmla="*/ 520700 h 1391663"/>
                <a:gd name="connsiteX9" fmla="*/ 520700 w 1041400"/>
                <a:gd name="connsiteY9" fmla="*/ 0 h 1391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41400" h="1391663">
                  <a:moveTo>
                    <a:pt x="520700" y="0"/>
                  </a:moveTo>
                  <a:cubicBezTo>
                    <a:pt x="233125" y="0"/>
                    <a:pt x="0" y="233125"/>
                    <a:pt x="0" y="520700"/>
                  </a:cubicBezTo>
                  <a:lnTo>
                    <a:pt x="601" y="526665"/>
                  </a:lnTo>
                  <a:lnTo>
                    <a:pt x="0" y="530884"/>
                  </a:lnTo>
                  <a:cubicBezTo>
                    <a:pt x="1270" y="763309"/>
                    <a:pt x="141037" y="1339599"/>
                    <a:pt x="839841" y="1391663"/>
                  </a:cubicBezTo>
                  <a:cubicBezTo>
                    <a:pt x="756282" y="1328754"/>
                    <a:pt x="622088" y="1243235"/>
                    <a:pt x="596988" y="1070463"/>
                  </a:cubicBezTo>
                  <a:lnTo>
                    <a:pt x="595327" y="1033877"/>
                  </a:lnTo>
                  <a:lnTo>
                    <a:pt x="625639" y="1030821"/>
                  </a:lnTo>
                  <a:cubicBezTo>
                    <a:pt x="862914" y="982268"/>
                    <a:pt x="1041400" y="772328"/>
                    <a:pt x="1041400" y="520700"/>
                  </a:cubicBezTo>
                  <a:cubicBezTo>
                    <a:pt x="1041400" y="233125"/>
                    <a:pt x="808275" y="0"/>
                    <a:pt x="520700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04F090D-C862-CF85-1001-A82E543655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Tw Cen MT"/>
                <a:cs typeface="Tw Cen MT"/>
              </a:rPr>
              <a:t>AN OPEN-BOOK EXAM FOR THE MODEL.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E82C04-6445-9E02-B0E8-8D809278C3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en-US" sz="2200" b="0" dirty="0">
                <a:solidFill>
                  <a:srgbClr val="FFFFFF"/>
                </a:solidFill>
                <a:latin typeface="Segoe UI Light"/>
                <a:cs typeface="Segoe UI Light"/>
              </a:rPr>
              <a:t>— That’s all it is.</a:t>
            </a:r>
          </a:p>
        </p:txBody>
      </p:sp>
    </p:spTree>
    <p:extLst>
      <p:ext uri="{BB962C8B-B14F-4D97-AF65-F5344CB8AC3E}">
        <p14:creationId xmlns:p14="http://schemas.microsoft.com/office/powerpoint/2010/main" val="12132100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lideNum 101"/>
          <p:cNvSpPr txBox="1"/>
          <p:nvPr/>
        </p:nvSpPr>
        <p:spPr>
          <a:xfrm>
            <a:off x="411480" y="256032"/>
            <a:ext cx="731520" cy="32004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>
              <a:buNone/>
            </a:pPr>
            <a:fld id="{294A09A9-5501-47C1-A89A-A340965A2BE2}" type="slidenum">
              <a:rPr lang="en-US" sz="1400" dirty="0">
                <a:solidFill>
                  <a:srgbClr val="A8BBDD"/>
                </a:solidFill>
                <a:latin typeface="Segoe UI Light"/>
              </a:rPr>
              <a:pPr>
                <a:buNone/>
              </a:pPr>
              <a:t>6</a:t>
            </a:fld>
            <a:endParaRPr lang="en-US" sz="1400" dirty="0">
              <a:solidFill>
                <a:srgbClr val="A8BBDD"/>
              </a:solidFill>
              <a:latin typeface="Segoe UI Light"/>
            </a:endParaRPr>
          </a:p>
        </p:txBody>
      </p:sp>
      <p:sp>
        <p:nvSpPr>
          <p:cNvPr id="102" name="TextBox 102"/>
          <p:cNvSpPr txBox="1"/>
          <p:nvPr/>
        </p:nvSpPr>
        <p:spPr>
          <a:xfrm>
            <a:off x="640080" y="384048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w Cen MT"/>
                <a:cs typeface="Tw Cen MT"/>
              </a:rPr>
              <a:t>RAG IN ONE PICTURE</a:t>
            </a:r>
          </a:p>
        </p:txBody>
      </p:sp>
      <p:sp>
        <p:nvSpPr>
          <p:cNvPr id="130" name="TextBox 130"/>
          <p:cNvSpPr txBox="1"/>
          <p:nvPr/>
        </p:nvSpPr>
        <p:spPr>
          <a:xfrm>
            <a:off x="754380" y="1010412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endParaRPr lang="en-US" sz="2000" b="0" dirty="0">
              <a:solidFill>
                <a:srgbClr val="C3B9F2"/>
              </a:solidFill>
              <a:latin typeface="Segoe UI Light"/>
              <a:cs typeface="Segoe UI Light"/>
            </a:endParaRPr>
          </a:p>
        </p:txBody>
      </p:sp>
      <p:sp>
        <p:nvSpPr>
          <p:cNvPr id="131" name="TextBox 131"/>
          <p:cNvSpPr txBox="1"/>
          <p:nvPr/>
        </p:nvSpPr>
        <p:spPr>
          <a:xfrm>
            <a:off x="411480" y="6327648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A8BBDD"/>
                </a:solidFill>
                <a:latin typeface="Segoe UI Light"/>
                <a:cs typeface="Segoe UI Light"/>
              </a:rPr>
              <a:t>RAG  ·  Module 1</a:t>
            </a:r>
          </a:p>
        </p:txBody>
      </p:sp>
      <p:sp>
        <p:nvSpPr>
          <p:cNvPr id="4" name="Card 104">
            <a:extLst>
              <a:ext uri="{FF2B5EF4-FFF2-40B4-BE49-F238E27FC236}">
                <a16:creationId xmlns:a16="http://schemas.microsoft.com/office/drawing/2014/main" id="{FF36BA10-0D10-55BD-FA94-AD228ECAB08B}"/>
              </a:ext>
            </a:extLst>
          </p:cNvPr>
          <p:cNvSpPr/>
          <p:nvPr/>
        </p:nvSpPr>
        <p:spPr>
          <a:xfrm>
            <a:off x="9843636" y="4206240"/>
            <a:ext cx="2046611" cy="1663065"/>
          </a:xfrm>
          <a:prstGeom prst="roundRect">
            <a:avLst>
              <a:gd name="adj" fmla="val 3000"/>
            </a:avLst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b="1" dirty="0"/>
              <a:t>Large Language</a:t>
            </a:r>
            <a:br>
              <a:rPr lang="en-US" b="1" dirty="0"/>
            </a:br>
            <a:r>
              <a:rPr lang="en-US" b="1" dirty="0"/>
              <a:t>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691A71-5EAB-9868-7F0E-DF13D360A50B}"/>
              </a:ext>
            </a:extLst>
          </p:cNvPr>
          <p:cNvSpPr txBox="1"/>
          <p:nvPr/>
        </p:nvSpPr>
        <p:spPr>
          <a:xfrm>
            <a:off x="1018509" y="4445759"/>
            <a:ext cx="11288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Question?</a:t>
            </a:r>
          </a:p>
        </p:txBody>
      </p:sp>
      <p:sp>
        <p:nvSpPr>
          <p:cNvPr id="7" name="Cylinder 6">
            <a:extLst>
              <a:ext uri="{FF2B5EF4-FFF2-40B4-BE49-F238E27FC236}">
                <a16:creationId xmlns:a16="http://schemas.microsoft.com/office/drawing/2014/main" id="{92066829-95DE-CC26-B877-1507F0D99E56}"/>
              </a:ext>
            </a:extLst>
          </p:cNvPr>
          <p:cNvSpPr/>
          <p:nvPr/>
        </p:nvSpPr>
        <p:spPr>
          <a:xfrm>
            <a:off x="6618328" y="1650492"/>
            <a:ext cx="2286000" cy="1204220"/>
          </a:xfrm>
          <a:prstGeom prst="can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Vector Store</a:t>
            </a: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0D4B6D8C-3141-31EE-BC71-73A9AED92109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107644" y="2996202"/>
            <a:ext cx="1780674" cy="1513172"/>
          </a:xfrm>
          <a:prstGeom prst="bentConnector3">
            <a:avLst>
              <a:gd name="adj1" fmla="val 527"/>
            </a:avLst>
          </a:prstGeom>
          <a:ln w="38100">
            <a:solidFill>
              <a:srgbClr val="F0168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861CAC9B-EF8B-9046-2AA6-23D4FC98E564}"/>
              </a:ext>
            </a:extLst>
          </p:cNvPr>
          <p:cNvCxnSpPr>
            <a:cxnSpLocks/>
          </p:cNvCxnSpPr>
          <p:nvPr/>
        </p:nvCxnSpPr>
        <p:spPr>
          <a:xfrm rot="16200000" flipH="1">
            <a:off x="8088231" y="2887720"/>
            <a:ext cx="1788414" cy="1722400"/>
          </a:xfrm>
          <a:prstGeom prst="bentConnector3">
            <a:avLst>
              <a:gd name="adj1" fmla="val 100703"/>
            </a:avLst>
          </a:prstGeom>
          <a:ln w="38100">
            <a:solidFill>
              <a:srgbClr val="F0168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E1DFDF4-657E-674A-07FD-354EC34CA3CB}"/>
              </a:ext>
            </a:extLst>
          </p:cNvPr>
          <p:cNvSpPr txBox="1"/>
          <p:nvPr/>
        </p:nvSpPr>
        <p:spPr>
          <a:xfrm>
            <a:off x="1102666" y="5241047"/>
            <a:ext cx="936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Answer!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34FB812-2EC9-38D4-09AA-EAF8FC12E83F}"/>
              </a:ext>
            </a:extLst>
          </p:cNvPr>
          <p:cNvSpPr txBox="1"/>
          <p:nvPr/>
        </p:nvSpPr>
        <p:spPr>
          <a:xfrm>
            <a:off x="4476337" y="2897862"/>
            <a:ext cx="1360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Embedding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76671E-0D37-C926-6C82-9ED90256B855}"/>
              </a:ext>
            </a:extLst>
          </p:cNvPr>
          <p:cNvSpPr txBox="1"/>
          <p:nvPr/>
        </p:nvSpPr>
        <p:spPr>
          <a:xfrm>
            <a:off x="8164971" y="2915481"/>
            <a:ext cx="16786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Relevant Chunk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B05C48A-0441-A902-7A2B-0D8EC5261002}"/>
              </a:ext>
            </a:extLst>
          </p:cNvPr>
          <p:cNvSpPr txBox="1"/>
          <p:nvPr/>
        </p:nvSpPr>
        <p:spPr>
          <a:xfrm>
            <a:off x="8573046" y="3889076"/>
            <a:ext cx="1234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Chunk and</a:t>
            </a:r>
            <a:b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</a:b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Question</a:t>
            </a:r>
          </a:p>
        </p:txBody>
      </p:sp>
      <p:sp>
        <p:nvSpPr>
          <p:cNvPr id="37" name="Card 104">
            <a:extLst>
              <a:ext uri="{FF2B5EF4-FFF2-40B4-BE49-F238E27FC236}">
                <a16:creationId xmlns:a16="http://schemas.microsoft.com/office/drawing/2014/main" id="{41D87674-9E7D-2941-785D-211315A66E06}"/>
              </a:ext>
            </a:extLst>
          </p:cNvPr>
          <p:cNvSpPr/>
          <p:nvPr/>
        </p:nvSpPr>
        <p:spPr>
          <a:xfrm>
            <a:off x="3020568" y="1597309"/>
            <a:ext cx="1975178" cy="1204220"/>
          </a:xfrm>
          <a:prstGeom prst="roundRect">
            <a:avLst>
              <a:gd name="adj" fmla="val 3000"/>
            </a:avLst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b="1" dirty="0"/>
              <a:t>Embedding</a:t>
            </a:r>
            <a:br>
              <a:rPr lang="en-US" b="1" dirty="0"/>
            </a:br>
            <a:r>
              <a:rPr lang="en-US" b="1" dirty="0"/>
              <a:t>Model</a:t>
            </a:r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6BF5FB63-1053-E7B5-EB11-C0B06306E346}"/>
              </a:ext>
            </a:extLst>
          </p:cNvPr>
          <p:cNvCxnSpPr>
            <a:cxnSpLocks/>
          </p:cNvCxnSpPr>
          <p:nvPr/>
        </p:nvCxnSpPr>
        <p:spPr>
          <a:xfrm flipV="1">
            <a:off x="5105405" y="2854712"/>
            <a:ext cx="2145856" cy="1788413"/>
          </a:xfrm>
          <a:prstGeom prst="bentConnector3">
            <a:avLst>
              <a:gd name="adj1" fmla="val 99714"/>
            </a:avLst>
          </a:prstGeom>
          <a:ln w="38100">
            <a:solidFill>
              <a:srgbClr val="F0168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6CCF3AC0-CC8C-1BC7-EBEB-5D9A50158E28}"/>
              </a:ext>
            </a:extLst>
          </p:cNvPr>
          <p:cNvCxnSpPr>
            <a:cxnSpLocks/>
          </p:cNvCxnSpPr>
          <p:nvPr/>
        </p:nvCxnSpPr>
        <p:spPr>
          <a:xfrm rot="16200000" flipH="1">
            <a:off x="3864740" y="3389762"/>
            <a:ext cx="1828897" cy="652429"/>
          </a:xfrm>
          <a:prstGeom prst="bentConnector3">
            <a:avLst>
              <a:gd name="adj1" fmla="val 100414"/>
            </a:avLst>
          </a:prstGeom>
          <a:ln w="38100">
            <a:solidFill>
              <a:srgbClr val="F01689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17D74E9-22A0-B7D6-A546-99E58A926FDD}"/>
              </a:ext>
            </a:extLst>
          </p:cNvPr>
          <p:cNvCxnSpPr/>
          <p:nvPr/>
        </p:nvCxnSpPr>
        <p:spPr>
          <a:xfrm flipH="1">
            <a:off x="2147344" y="5440953"/>
            <a:ext cx="7660335" cy="0"/>
          </a:xfrm>
          <a:prstGeom prst="straightConnector1">
            <a:avLst/>
          </a:prstGeom>
          <a:ln w="38100">
            <a:solidFill>
              <a:srgbClr val="F0168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BA06B41-DB9B-B217-0F5E-97242DC22CE3}"/>
              </a:ext>
            </a:extLst>
          </p:cNvPr>
          <p:cNvSpPr txBox="1"/>
          <p:nvPr/>
        </p:nvSpPr>
        <p:spPr>
          <a:xfrm>
            <a:off x="7415274" y="4292019"/>
            <a:ext cx="4800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6"/>
                </a:solidFill>
              </a:rPr>
              <a:t>+</a:t>
            </a:r>
            <a:endParaRPr lang="en-US" b="1" dirty="0">
              <a:solidFill>
                <a:schemeClr val="accent6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973347F-2ACC-9127-391F-92457D381026}"/>
              </a:ext>
            </a:extLst>
          </p:cNvPr>
          <p:cNvSpPr/>
          <p:nvPr/>
        </p:nvSpPr>
        <p:spPr>
          <a:xfrm>
            <a:off x="2532752" y="3995869"/>
            <a:ext cx="5904682" cy="2129487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RAG</a:t>
            </a:r>
            <a:endParaRPr lang="LID4096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  <p:bldP spid="23" grpId="0"/>
      <p:bldP spid="27" grpId="0"/>
      <p:bldP spid="29" grpId="0"/>
      <p:bldP spid="31" grpId="0"/>
      <p:bldP spid="37" grpId="0" animBg="1"/>
      <p:bldP spid="7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A80CA-BAC4-6504-9F8A-39D3F06D0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lideNum 101">
            <a:extLst>
              <a:ext uri="{FF2B5EF4-FFF2-40B4-BE49-F238E27FC236}">
                <a16:creationId xmlns:a16="http://schemas.microsoft.com/office/drawing/2014/main" id="{68ADBA45-6EE2-AD6A-4724-CD0015FED637}"/>
              </a:ext>
            </a:extLst>
          </p:cNvPr>
          <p:cNvSpPr txBox="1"/>
          <p:nvPr/>
        </p:nvSpPr>
        <p:spPr>
          <a:xfrm>
            <a:off x="411480" y="256032"/>
            <a:ext cx="731520" cy="32004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>
              <a:buNone/>
            </a:pPr>
            <a:fld id="{294A09A9-5501-47C1-A89A-A340965A2BE2}" type="slidenum">
              <a:rPr lang="en-US" sz="1400" dirty="0">
                <a:solidFill>
                  <a:srgbClr val="A8BBDD"/>
                </a:solidFill>
                <a:latin typeface="Segoe UI Light"/>
              </a:rPr>
              <a:pPr>
                <a:buNone/>
              </a:pPr>
              <a:t>7</a:t>
            </a:fld>
            <a:endParaRPr lang="en-US" sz="1400" dirty="0">
              <a:solidFill>
                <a:srgbClr val="A8BBDD"/>
              </a:solidFill>
              <a:latin typeface="Segoe UI Light"/>
            </a:endParaRPr>
          </a:p>
        </p:txBody>
      </p:sp>
      <p:sp>
        <p:nvSpPr>
          <p:cNvPr id="102" name="TextBox 102">
            <a:extLst>
              <a:ext uri="{FF2B5EF4-FFF2-40B4-BE49-F238E27FC236}">
                <a16:creationId xmlns:a16="http://schemas.microsoft.com/office/drawing/2014/main" id="{170372E3-926A-1951-909B-DFB315EAB1E1}"/>
              </a:ext>
            </a:extLst>
          </p:cNvPr>
          <p:cNvSpPr txBox="1"/>
          <p:nvPr/>
        </p:nvSpPr>
        <p:spPr>
          <a:xfrm>
            <a:off x="640080" y="384048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w Cen MT"/>
                <a:cs typeface="Tw Cen MT"/>
              </a:rPr>
              <a:t>RAG IN ONE PICTURE</a:t>
            </a:r>
          </a:p>
        </p:txBody>
      </p:sp>
      <p:sp>
        <p:nvSpPr>
          <p:cNvPr id="103" name="TextBox 103">
            <a:extLst>
              <a:ext uri="{FF2B5EF4-FFF2-40B4-BE49-F238E27FC236}">
                <a16:creationId xmlns:a16="http://schemas.microsoft.com/office/drawing/2014/main" id="{88157200-DEAC-4FDB-C195-C2FA285C3A93}"/>
              </a:ext>
            </a:extLst>
          </p:cNvPr>
          <p:cNvSpPr txBox="1"/>
          <p:nvPr/>
        </p:nvSpPr>
        <p:spPr>
          <a:xfrm>
            <a:off x="640080" y="14173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6A6F4"/>
                </a:solidFill>
                <a:latin typeface="Segoe UI Light"/>
                <a:cs typeface="Segoe UI Light"/>
              </a:rPr>
              <a:t>INGEST  ·  once, up front</a:t>
            </a:r>
          </a:p>
        </p:txBody>
      </p:sp>
      <p:sp>
        <p:nvSpPr>
          <p:cNvPr id="104" name="Card 104">
            <a:extLst>
              <a:ext uri="{FF2B5EF4-FFF2-40B4-BE49-F238E27FC236}">
                <a16:creationId xmlns:a16="http://schemas.microsoft.com/office/drawing/2014/main" id="{F268BF7C-18BD-04F6-3B52-A9ACBAAF3127}"/>
              </a:ext>
            </a:extLst>
          </p:cNvPr>
          <p:cNvSpPr/>
          <p:nvPr/>
        </p:nvSpPr>
        <p:spPr>
          <a:xfrm>
            <a:off x="640080" y="1847088"/>
            <a:ext cx="2450592" cy="932688"/>
          </a:xfrm>
          <a:prstGeom prst="roundRect">
            <a:avLst>
              <a:gd name="adj" fmla="val 3000"/>
            </a:avLst>
          </a:prstGeom>
          <a:solidFill>
            <a:srgbClr val="1B3468"/>
          </a:solidFill>
          <a:ln w="9525">
            <a:solidFill>
              <a:srgbClr val="92CD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Box 105">
            <a:extLst>
              <a:ext uri="{FF2B5EF4-FFF2-40B4-BE49-F238E27FC236}">
                <a16:creationId xmlns:a16="http://schemas.microsoft.com/office/drawing/2014/main" id="{25C3F634-6037-5198-1CB4-BBDC46D5F59C}"/>
              </a:ext>
            </a:extLst>
          </p:cNvPr>
          <p:cNvSpPr txBox="1"/>
          <p:nvPr/>
        </p:nvSpPr>
        <p:spPr>
          <a:xfrm>
            <a:off x="749808" y="1975104"/>
            <a:ext cx="2231136" cy="6766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egoe UI Light"/>
                <a:cs typeface="Segoe UI Light"/>
              </a:rPr>
              <a:t>Documents</a:t>
            </a:r>
          </a:p>
        </p:txBody>
      </p:sp>
      <p:sp>
        <p:nvSpPr>
          <p:cNvPr id="106" name="Arrow 106">
            <a:extLst>
              <a:ext uri="{FF2B5EF4-FFF2-40B4-BE49-F238E27FC236}">
                <a16:creationId xmlns:a16="http://schemas.microsoft.com/office/drawing/2014/main" id="{F9E07002-ED65-D988-C3EA-406C463B4F45}"/>
              </a:ext>
            </a:extLst>
          </p:cNvPr>
          <p:cNvSpPr/>
          <p:nvPr/>
        </p:nvSpPr>
        <p:spPr>
          <a:xfrm>
            <a:off x="3145536" y="2194560"/>
            <a:ext cx="301752" cy="23774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F6A6F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7" name="Card 107">
            <a:extLst>
              <a:ext uri="{FF2B5EF4-FFF2-40B4-BE49-F238E27FC236}">
                <a16:creationId xmlns:a16="http://schemas.microsoft.com/office/drawing/2014/main" id="{C987377C-4543-75E5-D37F-573BEABEFFA2}"/>
              </a:ext>
            </a:extLst>
          </p:cNvPr>
          <p:cNvSpPr/>
          <p:nvPr/>
        </p:nvSpPr>
        <p:spPr>
          <a:xfrm>
            <a:off x="3502152" y="1847088"/>
            <a:ext cx="2450592" cy="932688"/>
          </a:xfrm>
          <a:prstGeom prst="roundRect">
            <a:avLst>
              <a:gd name="adj" fmla="val 3000"/>
            </a:avLst>
          </a:prstGeom>
          <a:solidFill>
            <a:srgbClr val="1B3468"/>
          </a:solidFill>
          <a:ln w="9525">
            <a:solidFill>
              <a:srgbClr val="92CD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Box 108">
            <a:extLst>
              <a:ext uri="{FF2B5EF4-FFF2-40B4-BE49-F238E27FC236}">
                <a16:creationId xmlns:a16="http://schemas.microsoft.com/office/drawing/2014/main" id="{DEA1F2B9-3432-A453-293E-FD4EE6EFBB41}"/>
              </a:ext>
            </a:extLst>
          </p:cNvPr>
          <p:cNvSpPr txBox="1"/>
          <p:nvPr/>
        </p:nvSpPr>
        <p:spPr>
          <a:xfrm>
            <a:off x="3611880" y="1975104"/>
            <a:ext cx="2231136" cy="6766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egoe UI Light"/>
                <a:cs typeface="Segoe UI Light"/>
              </a:rPr>
              <a:t>Chunk</a:t>
            </a:r>
          </a:p>
        </p:txBody>
      </p:sp>
      <p:sp>
        <p:nvSpPr>
          <p:cNvPr id="109" name="Arrow 109">
            <a:extLst>
              <a:ext uri="{FF2B5EF4-FFF2-40B4-BE49-F238E27FC236}">
                <a16:creationId xmlns:a16="http://schemas.microsoft.com/office/drawing/2014/main" id="{7B0DC195-6EB8-A00E-731A-6992939F0EB5}"/>
              </a:ext>
            </a:extLst>
          </p:cNvPr>
          <p:cNvSpPr/>
          <p:nvPr/>
        </p:nvSpPr>
        <p:spPr>
          <a:xfrm>
            <a:off x="6007608" y="2194560"/>
            <a:ext cx="301752" cy="23774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F6A6F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0" name="Card 110">
            <a:extLst>
              <a:ext uri="{FF2B5EF4-FFF2-40B4-BE49-F238E27FC236}">
                <a16:creationId xmlns:a16="http://schemas.microsoft.com/office/drawing/2014/main" id="{A8F7E65F-9A55-DA43-A594-D2AF91B12E5C}"/>
              </a:ext>
            </a:extLst>
          </p:cNvPr>
          <p:cNvSpPr/>
          <p:nvPr/>
        </p:nvSpPr>
        <p:spPr>
          <a:xfrm>
            <a:off x="6364224" y="1847088"/>
            <a:ext cx="2450592" cy="932688"/>
          </a:xfrm>
          <a:prstGeom prst="roundRect">
            <a:avLst>
              <a:gd name="adj" fmla="val 3000"/>
            </a:avLst>
          </a:prstGeom>
          <a:solidFill>
            <a:srgbClr val="1B3468"/>
          </a:solidFill>
          <a:ln w="9525">
            <a:solidFill>
              <a:srgbClr val="92CD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1" name="TextBox 111">
            <a:extLst>
              <a:ext uri="{FF2B5EF4-FFF2-40B4-BE49-F238E27FC236}">
                <a16:creationId xmlns:a16="http://schemas.microsoft.com/office/drawing/2014/main" id="{3BF37B33-482D-AC1B-018E-DF26477CB401}"/>
              </a:ext>
            </a:extLst>
          </p:cNvPr>
          <p:cNvSpPr txBox="1"/>
          <p:nvPr/>
        </p:nvSpPr>
        <p:spPr>
          <a:xfrm>
            <a:off x="6473952" y="1975104"/>
            <a:ext cx="2231136" cy="6766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egoe UI Light"/>
                <a:cs typeface="Segoe UI Light"/>
              </a:rPr>
              <a:t>Embed</a:t>
            </a:r>
          </a:p>
        </p:txBody>
      </p:sp>
      <p:sp>
        <p:nvSpPr>
          <p:cNvPr id="112" name="Arrow 112">
            <a:extLst>
              <a:ext uri="{FF2B5EF4-FFF2-40B4-BE49-F238E27FC236}">
                <a16:creationId xmlns:a16="http://schemas.microsoft.com/office/drawing/2014/main" id="{0F43D3AB-F7E3-973F-3E48-2F44254F2A64}"/>
              </a:ext>
            </a:extLst>
          </p:cNvPr>
          <p:cNvSpPr/>
          <p:nvPr/>
        </p:nvSpPr>
        <p:spPr>
          <a:xfrm>
            <a:off x="8869680" y="2194560"/>
            <a:ext cx="301752" cy="23774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F6A6F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3" name="Card 113">
            <a:extLst>
              <a:ext uri="{FF2B5EF4-FFF2-40B4-BE49-F238E27FC236}">
                <a16:creationId xmlns:a16="http://schemas.microsoft.com/office/drawing/2014/main" id="{F3FAF567-C440-D0A0-21EB-E6682E915038}"/>
              </a:ext>
            </a:extLst>
          </p:cNvPr>
          <p:cNvSpPr/>
          <p:nvPr/>
        </p:nvSpPr>
        <p:spPr>
          <a:xfrm>
            <a:off x="9226296" y="1847088"/>
            <a:ext cx="2450592" cy="932688"/>
          </a:xfrm>
          <a:prstGeom prst="roundRect">
            <a:avLst>
              <a:gd name="adj" fmla="val 3000"/>
            </a:avLst>
          </a:prstGeom>
          <a:solidFill>
            <a:srgbClr val="1B3468"/>
          </a:solidFill>
          <a:ln w="9525">
            <a:solidFill>
              <a:srgbClr val="92CD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4" name="TextBox 114">
            <a:extLst>
              <a:ext uri="{FF2B5EF4-FFF2-40B4-BE49-F238E27FC236}">
                <a16:creationId xmlns:a16="http://schemas.microsoft.com/office/drawing/2014/main" id="{57A58384-77B1-13C3-C656-1F0DDEFFEF9B}"/>
              </a:ext>
            </a:extLst>
          </p:cNvPr>
          <p:cNvSpPr txBox="1"/>
          <p:nvPr/>
        </p:nvSpPr>
        <p:spPr>
          <a:xfrm>
            <a:off x="9336024" y="1975104"/>
            <a:ext cx="2231136" cy="6766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egoe UI Light"/>
                <a:cs typeface="Segoe UI Light"/>
              </a:rPr>
              <a:t>Vector store</a:t>
            </a:r>
          </a:p>
        </p:txBody>
      </p:sp>
      <p:sp>
        <p:nvSpPr>
          <p:cNvPr id="115" name="TextBox 115">
            <a:extLst>
              <a:ext uri="{FF2B5EF4-FFF2-40B4-BE49-F238E27FC236}">
                <a16:creationId xmlns:a16="http://schemas.microsoft.com/office/drawing/2014/main" id="{5DE8CF4F-F551-4F62-9AF4-EDF426485326}"/>
              </a:ext>
            </a:extLst>
          </p:cNvPr>
          <p:cNvSpPr txBox="1"/>
          <p:nvPr/>
        </p:nvSpPr>
        <p:spPr>
          <a:xfrm>
            <a:off x="640080" y="3310128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64DFED"/>
                </a:solidFill>
                <a:latin typeface="Segoe UI Light"/>
                <a:cs typeface="Segoe UI Light"/>
              </a:rPr>
              <a:t>QUERY  ·  every question</a:t>
            </a:r>
          </a:p>
        </p:txBody>
      </p:sp>
      <p:sp>
        <p:nvSpPr>
          <p:cNvPr id="116" name="Card 116">
            <a:extLst>
              <a:ext uri="{FF2B5EF4-FFF2-40B4-BE49-F238E27FC236}">
                <a16:creationId xmlns:a16="http://schemas.microsoft.com/office/drawing/2014/main" id="{22DF35A1-DA4D-773B-0A7A-77D48F4F5522}"/>
              </a:ext>
            </a:extLst>
          </p:cNvPr>
          <p:cNvSpPr/>
          <p:nvPr/>
        </p:nvSpPr>
        <p:spPr>
          <a:xfrm>
            <a:off x="640080" y="3739896"/>
            <a:ext cx="1965960" cy="932688"/>
          </a:xfrm>
          <a:prstGeom prst="roundRect">
            <a:avLst>
              <a:gd name="adj" fmla="val 3000"/>
            </a:avLst>
          </a:prstGeom>
          <a:solidFill>
            <a:srgbClr val="1B3468"/>
          </a:solidFill>
          <a:ln w="9525">
            <a:solidFill>
              <a:srgbClr val="92CD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7" name="TextBox 117">
            <a:extLst>
              <a:ext uri="{FF2B5EF4-FFF2-40B4-BE49-F238E27FC236}">
                <a16:creationId xmlns:a16="http://schemas.microsoft.com/office/drawing/2014/main" id="{6EAA3B3E-4ECB-8488-5DAB-F151FB1D3BD1}"/>
              </a:ext>
            </a:extLst>
          </p:cNvPr>
          <p:cNvSpPr txBox="1"/>
          <p:nvPr/>
        </p:nvSpPr>
        <p:spPr>
          <a:xfrm>
            <a:off x="749808" y="3867912"/>
            <a:ext cx="1746504" cy="6766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egoe UI Light"/>
                <a:cs typeface="Segoe UI Light"/>
              </a:rPr>
              <a:t>Question</a:t>
            </a:r>
          </a:p>
        </p:txBody>
      </p:sp>
      <p:sp>
        <p:nvSpPr>
          <p:cNvPr id="118" name="Arrow 118">
            <a:extLst>
              <a:ext uri="{FF2B5EF4-FFF2-40B4-BE49-F238E27FC236}">
                <a16:creationId xmlns:a16="http://schemas.microsoft.com/office/drawing/2014/main" id="{9BEF12DC-52D2-F912-7AF8-92E15F8FD02D}"/>
              </a:ext>
            </a:extLst>
          </p:cNvPr>
          <p:cNvSpPr/>
          <p:nvPr/>
        </p:nvSpPr>
        <p:spPr>
          <a:xfrm>
            <a:off x="2660904" y="4087368"/>
            <a:ext cx="210312" cy="23774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64DFE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9" name="Card 119">
            <a:extLst>
              <a:ext uri="{FF2B5EF4-FFF2-40B4-BE49-F238E27FC236}">
                <a16:creationId xmlns:a16="http://schemas.microsoft.com/office/drawing/2014/main" id="{20F117FA-C374-3EA8-776E-46603E239239}"/>
              </a:ext>
            </a:extLst>
          </p:cNvPr>
          <p:cNvSpPr/>
          <p:nvPr/>
        </p:nvSpPr>
        <p:spPr>
          <a:xfrm>
            <a:off x="2926080" y="3739896"/>
            <a:ext cx="1965960" cy="932688"/>
          </a:xfrm>
          <a:prstGeom prst="roundRect">
            <a:avLst>
              <a:gd name="adj" fmla="val 3000"/>
            </a:avLst>
          </a:prstGeom>
          <a:solidFill>
            <a:srgbClr val="1B3468"/>
          </a:solidFill>
          <a:ln w="9525">
            <a:solidFill>
              <a:srgbClr val="92CD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0" name="TextBox 120">
            <a:extLst>
              <a:ext uri="{FF2B5EF4-FFF2-40B4-BE49-F238E27FC236}">
                <a16:creationId xmlns:a16="http://schemas.microsoft.com/office/drawing/2014/main" id="{88F6FB1D-4875-082C-CD98-D4F7253C3046}"/>
              </a:ext>
            </a:extLst>
          </p:cNvPr>
          <p:cNvSpPr txBox="1"/>
          <p:nvPr/>
        </p:nvSpPr>
        <p:spPr>
          <a:xfrm>
            <a:off x="3035808" y="3867912"/>
            <a:ext cx="1746504" cy="6766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egoe UI Light"/>
                <a:cs typeface="Segoe UI Light"/>
              </a:rPr>
              <a:t>Embed</a:t>
            </a:r>
          </a:p>
        </p:txBody>
      </p:sp>
      <p:sp>
        <p:nvSpPr>
          <p:cNvPr id="121" name="Arrow 121">
            <a:extLst>
              <a:ext uri="{FF2B5EF4-FFF2-40B4-BE49-F238E27FC236}">
                <a16:creationId xmlns:a16="http://schemas.microsoft.com/office/drawing/2014/main" id="{764CF219-7998-7F2F-25FB-7E715C40CC9A}"/>
              </a:ext>
            </a:extLst>
          </p:cNvPr>
          <p:cNvSpPr/>
          <p:nvPr/>
        </p:nvSpPr>
        <p:spPr>
          <a:xfrm>
            <a:off x="4946904" y="4087368"/>
            <a:ext cx="210312" cy="23774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64DFE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2" name="Card 122">
            <a:extLst>
              <a:ext uri="{FF2B5EF4-FFF2-40B4-BE49-F238E27FC236}">
                <a16:creationId xmlns:a16="http://schemas.microsoft.com/office/drawing/2014/main" id="{6CDE3AD5-FF55-C724-BD9D-DBE5814EAE0C}"/>
              </a:ext>
            </a:extLst>
          </p:cNvPr>
          <p:cNvSpPr/>
          <p:nvPr/>
        </p:nvSpPr>
        <p:spPr>
          <a:xfrm>
            <a:off x="5212080" y="3739896"/>
            <a:ext cx="1965960" cy="932688"/>
          </a:xfrm>
          <a:prstGeom prst="roundRect">
            <a:avLst>
              <a:gd name="adj" fmla="val 3000"/>
            </a:avLst>
          </a:prstGeom>
          <a:solidFill>
            <a:srgbClr val="1B3468"/>
          </a:solidFill>
          <a:ln w="9525">
            <a:solidFill>
              <a:srgbClr val="92CD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3" name="TextBox 123">
            <a:extLst>
              <a:ext uri="{FF2B5EF4-FFF2-40B4-BE49-F238E27FC236}">
                <a16:creationId xmlns:a16="http://schemas.microsoft.com/office/drawing/2014/main" id="{36B9DE2C-6C54-5015-D021-8D2B7F91D254}"/>
              </a:ext>
            </a:extLst>
          </p:cNvPr>
          <p:cNvSpPr txBox="1"/>
          <p:nvPr/>
        </p:nvSpPr>
        <p:spPr>
          <a:xfrm>
            <a:off x="5321808" y="3867912"/>
            <a:ext cx="1746504" cy="6766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egoe UI Light"/>
                <a:cs typeface="Segoe UI Light"/>
              </a:rPr>
              <a:t>Search</a:t>
            </a:r>
          </a:p>
        </p:txBody>
      </p:sp>
      <p:sp>
        <p:nvSpPr>
          <p:cNvPr id="124" name="Arrow 124">
            <a:extLst>
              <a:ext uri="{FF2B5EF4-FFF2-40B4-BE49-F238E27FC236}">
                <a16:creationId xmlns:a16="http://schemas.microsoft.com/office/drawing/2014/main" id="{A036EC73-8A32-45BA-2802-771FC9F60B4A}"/>
              </a:ext>
            </a:extLst>
          </p:cNvPr>
          <p:cNvSpPr/>
          <p:nvPr/>
        </p:nvSpPr>
        <p:spPr>
          <a:xfrm>
            <a:off x="7232904" y="4087368"/>
            <a:ext cx="210312" cy="23774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64DFE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5" name="Card 125">
            <a:extLst>
              <a:ext uri="{FF2B5EF4-FFF2-40B4-BE49-F238E27FC236}">
                <a16:creationId xmlns:a16="http://schemas.microsoft.com/office/drawing/2014/main" id="{0C640866-CC9D-7030-99BC-1113F19B90E7}"/>
              </a:ext>
            </a:extLst>
          </p:cNvPr>
          <p:cNvSpPr/>
          <p:nvPr/>
        </p:nvSpPr>
        <p:spPr>
          <a:xfrm>
            <a:off x="7498080" y="3739896"/>
            <a:ext cx="1965960" cy="932688"/>
          </a:xfrm>
          <a:prstGeom prst="roundRect">
            <a:avLst>
              <a:gd name="adj" fmla="val 3000"/>
            </a:avLst>
          </a:prstGeom>
          <a:solidFill>
            <a:srgbClr val="1B3468"/>
          </a:solidFill>
          <a:ln w="9525">
            <a:solidFill>
              <a:srgbClr val="92CD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Box 126">
            <a:extLst>
              <a:ext uri="{FF2B5EF4-FFF2-40B4-BE49-F238E27FC236}">
                <a16:creationId xmlns:a16="http://schemas.microsoft.com/office/drawing/2014/main" id="{AA38311E-E864-3516-6AC9-21D55E105CA4}"/>
              </a:ext>
            </a:extLst>
          </p:cNvPr>
          <p:cNvSpPr txBox="1"/>
          <p:nvPr/>
        </p:nvSpPr>
        <p:spPr>
          <a:xfrm>
            <a:off x="7607808" y="3867912"/>
            <a:ext cx="1746504" cy="6766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egoe UI Light"/>
                <a:cs typeface="Segoe UI Light"/>
              </a:rPr>
              <a:t>+ Context</a:t>
            </a:r>
          </a:p>
        </p:txBody>
      </p:sp>
      <p:sp>
        <p:nvSpPr>
          <p:cNvPr id="127" name="Arrow 127">
            <a:extLst>
              <a:ext uri="{FF2B5EF4-FFF2-40B4-BE49-F238E27FC236}">
                <a16:creationId xmlns:a16="http://schemas.microsoft.com/office/drawing/2014/main" id="{40BDB362-94DF-F45A-E3E9-F5E216016528}"/>
              </a:ext>
            </a:extLst>
          </p:cNvPr>
          <p:cNvSpPr/>
          <p:nvPr/>
        </p:nvSpPr>
        <p:spPr>
          <a:xfrm>
            <a:off x="9518904" y="4087368"/>
            <a:ext cx="210312" cy="23774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64DFE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8" name="Card 128">
            <a:extLst>
              <a:ext uri="{FF2B5EF4-FFF2-40B4-BE49-F238E27FC236}">
                <a16:creationId xmlns:a16="http://schemas.microsoft.com/office/drawing/2014/main" id="{05EBC2A6-84BB-8CB0-3BBD-09756CE44CFA}"/>
              </a:ext>
            </a:extLst>
          </p:cNvPr>
          <p:cNvSpPr/>
          <p:nvPr/>
        </p:nvSpPr>
        <p:spPr>
          <a:xfrm>
            <a:off x="9784080" y="3739896"/>
            <a:ext cx="1965960" cy="932688"/>
          </a:xfrm>
          <a:prstGeom prst="roundRect">
            <a:avLst>
              <a:gd name="adj" fmla="val 3000"/>
            </a:avLst>
          </a:prstGeom>
          <a:solidFill>
            <a:srgbClr val="1B3468"/>
          </a:solidFill>
          <a:ln w="9525">
            <a:solidFill>
              <a:srgbClr val="92CD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9" name="TextBox 129">
            <a:extLst>
              <a:ext uri="{FF2B5EF4-FFF2-40B4-BE49-F238E27FC236}">
                <a16:creationId xmlns:a16="http://schemas.microsoft.com/office/drawing/2014/main" id="{46887890-5D8B-51B8-4CA9-2197C1EB3635}"/>
              </a:ext>
            </a:extLst>
          </p:cNvPr>
          <p:cNvSpPr txBox="1"/>
          <p:nvPr/>
        </p:nvSpPr>
        <p:spPr>
          <a:xfrm>
            <a:off x="9893808" y="3867912"/>
            <a:ext cx="1746504" cy="6766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egoe UI Light"/>
                <a:cs typeface="Segoe UI Light"/>
              </a:rPr>
              <a:t>Answer</a:t>
            </a:r>
          </a:p>
        </p:txBody>
      </p:sp>
      <p:sp>
        <p:nvSpPr>
          <p:cNvPr id="130" name="TextBox 130">
            <a:extLst>
              <a:ext uri="{FF2B5EF4-FFF2-40B4-BE49-F238E27FC236}">
                <a16:creationId xmlns:a16="http://schemas.microsoft.com/office/drawing/2014/main" id="{E9BF5D75-B2E9-D37D-239D-24E5AF55E22C}"/>
              </a:ext>
            </a:extLst>
          </p:cNvPr>
          <p:cNvSpPr txBox="1"/>
          <p:nvPr/>
        </p:nvSpPr>
        <p:spPr>
          <a:xfrm>
            <a:off x="640080" y="507492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2000" b="0" dirty="0">
                <a:solidFill>
                  <a:srgbClr val="C3B9F2"/>
                </a:solidFill>
                <a:latin typeface="Segoe UI Light"/>
                <a:cs typeface="Segoe UI Light"/>
              </a:rPr>
              <a:t>The model never changes. Only the context we hand it does.</a:t>
            </a:r>
          </a:p>
        </p:txBody>
      </p:sp>
      <p:sp>
        <p:nvSpPr>
          <p:cNvPr id="131" name="TextBox 131">
            <a:extLst>
              <a:ext uri="{FF2B5EF4-FFF2-40B4-BE49-F238E27FC236}">
                <a16:creationId xmlns:a16="http://schemas.microsoft.com/office/drawing/2014/main" id="{C2CD4DF8-EA47-2C8A-933F-79974B660A2B}"/>
              </a:ext>
            </a:extLst>
          </p:cNvPr>
          <p:cNvSpPr txBox="1"/>
          <p:nvPr/>
        </p:nvSpPr>
        <p:spPr>
          <a:xfrm>
            <a:off x="411480" y="6327648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A8BBDD"/>
                </a:solidFill>
                <a:latin typeface="Segoe UI Light"/>
                <a:cs typeface="Segoe UI Light"/>
              </a:rPr>
              <a:t>RAG  ·  Module 1</a:t>
            </a:r>
          </a:p>
        </p:txBody>
      </p:sp>
    </p:spTree>
    <p:extLst>
      <p:ext uri="{BB962C8B-B14F-4D97-AF65-F5344CB8AC3E}">
        <p14:creationId xmlns:p14="http://schemas.microsoft.com/office/powerpoint/2010/main" val="11442352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lideNum 132"/>
          <p:cNvSpPr txBox="1"/>
          <p:nvPr/>
        </p:nvSpPr>
        <p:spPr>
          <a:xfrm>
            <a:off x="411480" y="256032"/>
            <a:ext cx="731520" cy="32004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>
              <a:buNone/>
            </a:pPr>
            <a:fld id="{294A09A9-5501-47C1-A89A-A340965A2BE2}" type="slidenum">
              <a:rPr lang="en-US" sz="1400" dirty="0">
                <a:solidFill>
                  <a:srgbClr val="A8BBDD"/>
                </a:solidFill>
                <a:latin typeface="Segoe UI Light"/>
              </a:rPr>
              <a:pPr>
                <a:buNone/>
              </a:pPr>
              <a:t>8</a:t>
            </a:fld>
            <a:endParaRPr lang="en-US" sz="1400" dirty="0">
              <a:solidFill>
                <a:srgbClr val="A8BBDD"/>
              </a:solidFill>
              <a:latin typeface="Segoe UI Light"/>
            </a:endParaRPr>
          </a:p>
        </p:txBody>
      </p:sp>
      <p:sp>
        <p:nvSpPr>
          <p:cNvPr id="133" name="TextBox 133"/>
          <p:cNvSpPr txBox="1"/>
          <p:nvPr/>
        </p:nvSpPr>
        <p:spPr>
          <a:xfrm>
            <a:off x="640080" y="384048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w Cen MT"/>
                <a:cs typeface="Tw Cen MT"/>
              </a:rPr>
              <a:t>EMBEDDINGS: TEXT AS NUMBERS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2100" b="0" dirty="0">
                <a:solidFill>
                  <a:srgbClr val="FFFFFF"/>
                </a:solidFill>
                <a:latin typeface="Segoe UI Light"/>
                <a:cs typeface="Segoe UI Light"/>
              </a:rPr>
              <a:t>An embedding model turns any text into a fixed-length list of numbers.</a:t>
            </a:r>
          </a:p>
        </p:txBody>
      </p:sp>
      <p:sp>
        <p:nvSpPr>
          <p:cNvPr id="135" name="Card 135"/>
          <p:cNvSpPr/>
          <p:nvPr/>
        </p:nvSpPr>
        <p:spPr>
          <a:xfrm>
            <a:off x="640080" y="2103120"/>
            <a:ext cx="10881360" cy="749808"/>
          </a:xfrm>
          <a:prstGeom prst="roundRect">
            <a:avLst>
              <a:gd name="adj" fmla="val 3000"/>
            </a:avLst>
          </a:prstGeom>
          <a:solidFill>
            <a:srgbClr val="1B346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6" name="TextBox 136"/>
          <p:cNvSpPr txBox="1"/>
          <p:nvPr/>
        </p:nvSpPr>
        <p:spPr>
          <a:xfrm>
            <a:off x="914400" y="228600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900" b="0" dirty="0">
                <a:solidFill>
                  <a:srgbClr val="FFFFFF"/>
                </a:solidFill>
                <a:latin typeface="Segoe UI Light"/>
                <a:cs typeface="Segoe UI Light"/>
              </a:rPr>
              <a:t>“How do I book a doctor?”</a:t>
            </a:r>
          </a:p>
        </p:txBody>
      </p:sp>
      <p:sp>
        <p:nvSpPr>
          <p:cNvPr id="137" name="Arrow 137"/>
          <p:cNvSpPr/>
          <p:nvPr/>
        </p:nvSpPr>
        <p:spPr>
          <a:xfrm>
            <a:off x="5806440" y="2386584"/>
            <a:ext cx="457200" cy="182880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92CD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8" name="TextBox 138"/>
          <p:cNvSpPr txBox="1"/>
          <p:nvPr/>
        </p:nvSpPr>
        <p:spPr>
          <a:xfrm>
            <a:off x="6492240" y="228600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900" b="0" dirty="0">
                <a:solidFill>
                  <a:srgbClr val="92CDF0"/>
                </a:solidFill>
                <a:latin typeface="Consolas"/>
                <a:cs typeface="Consolas"/>
              </a:rPr>
              <a:t>[ 0.021, -0.144, 0.087, … ]</a:t>
            </a:r>
          </a:p>
        </p:txBody>
      </p:sp>
      <p:sp>
        <p:nvSpPr>
          <p:cNvPr id="139" name="Card 139"/>
          <p:cNvSpPr/>
          <p:nvPr/>
        </p:nvSpPr>
        <p:spPr>
          <a:xfrm>
            <a:off x="640080" y="3017520"/>
            <a:ext cx="10881360" cy="749808"/>
          </a:xfrm>
          <a:prstGeom prst="roundRect">
            <a:avLst>
              <a:gd name="adj" fmla="val 3000"/>
            </a:avLst>
          </a:prstGeom>
          <a:solidFill>
            <a:srgbClr val="1B346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0" name="TextBox 140"/>
          <p:cNvSpPr txBox="1"/>
          <p:nvPr/>
        </p:nvSpPr>
        <p:spPr>
          <a:xfrm>
            <a:off x="914400" y="320040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900" b="0" dirty="0">
                <a:solidFill>
                  <a:srgbClr val="FFFFFF"/>
                </a:solidFill>
                <a:latin typeface="Segoe UI Light"/>
                <a:cs typeface="Segoe UI Light"/>
              </a:rPr>
              <a:t>“Scheduling an appointment”</a:t>
            </a:r>
          </a:p>
        </p:txBody>
      </p:sp>
      <p:sp>
        <p:nvSpPr>
          <p:cNvPr id="141" name="Arrow 141"/>
          <p:cNvSpPr/>
          <p:nvPr/>
        </p:nvSpPr>
        <p:spPr>
          <a:xfrm>
            <a:off x="5806440" y="3300984"/>
            <a:ext cx="457200" cy="182880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92CD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2" name="TextBox 142"/>
          <p:cNvSpPr txBox="1"/>
          <p:nvPr/>
        </p:nvSpPr>
        <p:spPr>
          <a:xfrm>
            <a:off x="6492240" y="320040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900" b="0" dirty="0">
                <a:solidFill>
                  <a:srgbClr val="92CDF0"/>
                </a:solidFill>
                <a:latin typeface="Consolas"/>
                <a:cs typeface="Consolas"/>
              </a:rPr>
              <a:t>[ 0.019, -0.139, 0.091, … ]</a:t>
            </a:r>
          </a:p>
        </p:txBody>
      </p:sp>
      <p:sp>
        <p:nvSpPr>
          <p:cNvPr id="143" name="Card 143"/>
          <p:cNvSpPr/>
          <p:nvPr/>
        </p:nvSpPr>
        <p:spPr>
          <a:xfrm>
            <a:off x="640080" y="3931920"/>
            <a:ext cx="10881360" cy="749808"/>
          </a:xfrm>
          <a:prstGeom prst="roundRect">
            <a:avLst>
              <a:gd name="adj" fmla="val 3000"/>
            </a:avLst>
          </a:prstGeom>
          <a:solidFill>
            <a:srgbClr val="1B346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4" name="TextBox 144"/>
          <p:cNvSpPr txBox="1"/>
          <p:nvPr/>
        </p:nvSpPr>
        <p:spPr>
          <a:xfrm>
            <a:off x="914400" y="411480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900" b="0" dirty="0">
                <a:solidFill>
                  <a:srgbClr val="FFFFFF"/>
                </a:solidFill>
                <a:latin typeface="Segoe UI Light"/>
                <a:cs typeface="Segoe UI Light"/>
              </a:rPr>
              <a:t>“Parking at the airport”</a:t>
            </a:r>
          </a:p>
        </p:txBody>
      </p:sp>
      <p:sp>
        <p:nvSpPr>
          <p:cNvPr id="145" name="Arrow 145"/>
          <p:cNvSpPr/>
          <p:nvPr/>
        </p:nvSpPr>
        <p:spPr>
          <a:xfrm>
            <a:off x="5806440" y="4215384"/>
            <a:ext cx="457200" cy="182880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A8BBD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6" name="TextBox 146"/>
          <p:cNvSpPr txBox="1"/>
          <p:nvPr/>
        </p:nvSpPr>
        <p:spPr>
          <a:xfrm>
            <a:off x="6492240" y="411480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900" b="0" dirty="0">
                <a:solidFill>
                  <a:srgbClr val="A8BBDD"/>
                </a:solidFill>
                <a:latin typeface="Consolas"/>
                <a:cs typeface="Consolas"/>
              </a:rPr>
              <a:t>[-0.233,  0.402, -0.011, … ]</a:t>
            </a:r>
          </a:p>
        </p:txBody>
      </p:sp>
      <p:sp>
        <p:nvSpPr>
          <p:cNvPr id="147" name="TextBox 147"/>
          <p:cNvSpPr txBox="1"/>
          <p:nvPr/>
        </p:nvSpPr>
        <p:spPr>
          <a:xfrm>
            <a:off x="640080" y="498348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2000" b="0" dirty="0">
                <a:solidFill>
                  <a:srgbClr val="C3B9F2"/>
                </a:solidFill>
                <a:latin typeface="Segoe UI Light"/>
                <a:cs typeface="Segoe UI Light"/>
              </a:rPr>
              <a:t>Close numbers = close meaning. Rows 1 and 2 share no words, yet sit together.</a:t>
            </a:r>
          </a:p>
        </p:txBody>
      </p:sp>
      <p:sp>
        <p:nvSpPr>
          <p:cNvPr id="148" name="TextBox 148"/>
          <p:cNvSpPr txBox="1"/>
          <p:nvPr/>
        </p:nvSpPr>
        <p:spPr>
          <a:xfrm>
            <a:off x="640080" y="553212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2000" b="0" dirty="0">
                <a:solidFill>
                  <a:srgbClr val="A8BBDD"/>
                </a:solidFill>
                <a:latin typeface="Segoe UI Light"/>
                <a:cs typeface="Segoe UI Light"/>
              </a:rPr>
              <a:t>text-embedding-3-small returns 1536 numbers per chunk.</a:t>
            </a:r>
          </a:p>
        </p:txBody>
      </p:sp>
      <p:sp>
        <p:nvSpPr>
          <p:cNvPr id="149" name="TextBox 149"/>
          <p:cNvSpPr txBox="1"/>
          <p:nvPr/>
        </p:nvSpPr>
        <p:spPr>
          <a:xfrm>
            <a:off x="411480" y="6327648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A8BBDD"/>
                </a:solidFill>
                <a:latin typeface="Segoe UI Light"/>
                <a:cs typeface="Segoe UI Light"/>
              </a:rPr>
              <a:t>RAG  ·  Module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SlideNum 150"/>
          <p:cNvSpPr txBox="1"/>
          <p:nvPr/>
        </p:nvSpPr>
        <p:spPr>
          <a:xfrm>
            <a:off x="411480" y="256032"/>
            <a:ext cx="731520" cy="32004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>
              <a:buNone/>
            </a:pPr>
            <a:fld id="{294A09A9-5501-47C1-A89A-A340965A2BE2}" type="slidenum">
              <a:rPr lang="en-US" sz="1400" dirty="0">
                <a:solidFill>
                  <a:srgbClr val="A8BBDD"/>
                </a:solidFill>
                <a:latin typeface="Segoe UI Light"/>
              </a:rPr>
              <a:pPr>
                <a:buNone/>
              </a:pPr>
              <a:t>9</a:t>
            </a:fld>
            <a:endParaRPr lang="en-US" sz="1400" dirty="0">
              <a:solidFill>
                <a:srgbClr val="A8BBDD"/>
              </a:solidFill>
              <a:latin typeface="Segoe UI Light"/>
            </a:endParaRPr>
          </a:p>
        </p:txBody>
      </p:sp>
      <p:sp>
        <p:nvSpPr>
          <p:cNvPr id="151" name="TextBox 151"/>
          <p:cNvSpPr txBox="1"/>
          <p:nvPr/>
        </p:nvSpPr>
        <p:spPr>
          <a:xfrm>
            <a:off x="640080" y="384048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w Cen MT"/>
                <a:cs typeface="Tw Cen MT"/>
              </a:rPr>
              <a:t>MEASURING CLOSENESS</a:t>
            </a:r>
          </a:p>
        </p:txBody>
      </p:sp>
      <p:sp>
        <p:nvSpPr>
          <p:cNvPr id="152" name="TextBox 152"/>
          <p:cNvSpPr txBox="1"/>
          <p:nvPr/>
        </p:nvSpPr>
        <p:spPr>
          <a:xfrm>
            <a:off x="994042" y="137160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2100" b="0" dirty="0">
                <a:solidFill>
                  <a:srgbClr val="FFFFFF"/>
                </a:solidFill>
                <a:latin typeface="Segoe UI Light"/>
                <a:cs typeface="Segoe UI Light"/>
              </a:rPr>
              <a:t>Cosine similarity scores the angle between two vectors.</a:t>
            </a:r>
          </a:p>
        </p:txBody>
      </p:sp>
      <p:sp>
        <p:nvSpPr>
          <p:cNvPr id="153" name="Pill 153"/>
          <p:cNvSpPr/>
          <p:nvPr/>
        </p:nvSpPr>
        <p:spPr>
          <a:xfrm>
            <a:off x="994042" y="2057400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92CDF0"/>
          </a:solidFill>
          <a:ln>
            <a:noFill/>
          </a:ln>
        </p:spPr>
        <p:txBody>
          <a:bodyPr lIns="45720" tIns="0" rIns="45720" bIns="0" anchor="ctr">
            <a:noAutofit/>
          </a:bodyPr>
          <a:lstStyle/>
          <a:p>
            <a:pPr algn="ctr">
              <a:buNone/>
            </a:pPr>
            <a:r>
              <a:rPr lang="en-US" sz="2000" b="1" dirty="0">
                <a:solidFill>
                  <a:srgbClr val="102858"/>
                </a:solidFill>
                <a:latin typeface="Segoe UI Light"/>
              </a:rPr>
              <a:t>1.0</a:t>
            </a:r>
          </a:p>
        </p:txBody>
      </p:sp>
      <p:sp>
        <p:nvSpPr>
          <p:cNvPr id="154" name="TextBox 154"/>
          <p:cNvSpPr txBox="1"/>
          <p:nvPr/>
        </p:nvSpPr>
        <p:spPr>
          <a:xfrm>
            <a:off x="2639962" y="2167128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2100" b="0" dirty="0">
                <a:solidFill>
                  <a:srgbClr val="FFFFFF"/>
                </a:solidFill>
                <a:latin typeface="Segoe UI Light"/>
                <a:cs typeface="Segoe UI Light"/>
              </a:rPr>
              <a:t>Same direction — same meaning</a:t>
            </a:r>
          </a:p>
        </p:txBody>
      </p:sp>
      <p:sp>
        <p:nvSpPr>
          <p:cNvPr id="155" name="Pill 155"/>
          <p:cNvSpPr/>
          <p:nvPr/>
        </p:nvSpPr>
        <p:spPr>
          <a:xfrm>
            <a:off x="994042" y="2862072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A8BBDD"/>
          </a:solidFill>
          <a:ln>
            <a:noFill/>
          </a:ln>
        </p:spPr>
        <p:txBody>
          <a:bodyPr lIns="45720" tIns="0" rIns="45720" bIns="0" anchor="ctr">
            <a:noAutofit/>
          </a:bodyPr>
          <a:lstStyle/>
          <a:p>
            <a:pPr algn="ctr">
              <a:buNone/>
            </a:pPr>
            <a:r>
              <a:rPr lang="en-US" sz="2000" b="1" dirty="0">
                <a:solidFill>
                  <a:srgbClr val="102858"/>
                </a:solidFill>
                <a:latin typeface="Segoe UI Light"/>
              </a:rPr>
              <a:t>0.0</a:t>
            </a:r>
          </a:p>
        </p:txBody>
      </p:sp>
      <p:sp>
        <p:nvSpPr>
          <p:cNvPr id="156" name="TextBox 156"/>
          <p:cNvSpPr txBox="1"/>
          <p:nvPr/>
        </p:nvSpPr>
        <p:spPr>
          <a:xfrm>
            <a:off x="2639962" y="2971800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2100" b="0" dirty="0">
                <a:solidFill>
                  <a:srgbClr val="FFFFFF"/>
                </a:solidFill>
                <a:latin typeface="Segoe UI Light"/>
                <a:cs typeface="Segoe UI Light"/>
              </a:rPr>
              <a:t>Unrelated</a:t>
            </a:r>
          </a:p>
        </p:txBody>
      </p:sp>
      <p:sp>
        <p:nvSpPr>
          <p:cNvPr id="157" name="Pill 157"/>
          <p:cNvSpPr/>
          <p:nvPr/>
        </p:nvSpPr>
        <p:spPr>
          <a:xfrm>
            <a:off x="994042" y="3666744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F6A6F4"/>
          </a:solidFill>
          <a:ln>
            <a:noFill/>
          </a:ln>
        </p:spPr>
        <p:txBody>
          <a:bodyPr lIns="45720" tIns="0" rIns="45720" bIns="0" anchor="ctr">
            <a:noAutofit/>
          </a:bodyPr>
          <a:lstStyle/>
          <a:p>
            <a:pPr algn="ctr">
              <a:buNone/>
            </a:pPr>
            <a:r>
              <a:rPr lang="en-US" sz="2000" b="1" dirty="0">
                <a:solidFill>
                  <a:srgbClr val="102858"/>
                </a:solidFill>
                <a:latin typeface="Segoe UI Light"/>
              </a:rPr>
              <a:t>-1.0</a:t>
            </a:r>
          </a:p>
        </p:txBody>
      </p:sp>
      <p:sp>
        <p:nvSpPr>
          <p:cNvPr id="158" name="TextBox 158"/>
          <p:cNvSpPr txBox="1"/>
          <p:nvPr/>
        </p:nvSpPr>
        <p:spPr>
          <a:xfrm>
            <a:off x="2639962" y="3776472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2100" b="0" dirty="0">
                <a:solidFill>
                  <a:srgbClr val="FFFFFF"/>
                </a:solidFill>
                <a:latin typeface="Segoe UI Light"/>
                <a:cs typeface="Segoe UI Light"/>
              </a:rPr>
              <a:t>Opposite direction</a:t>
            </a:r>
          </a:p>
        </p:txBody>
      </p:sp>
      <p:sp>
        <p:nvSpPr>
          <p:cNvPr id="159" name="Card 159"/>
          <p:cNvSpPr/>
          <p:nvPr/>
        </p:nvSpPr>
        <p:spPr>
          <a:xfrm>
            <a:off x="994042" y="4572000"/>
            <a:ext cx="10067248" cy="1417320"/>
          </a:xfrm>
          <a:prstGeom prst="roundRect">
            <a:avLst>
              <a:gd name="adj" fmla="val 3000"/>
            </a:avLst>
          </a:prstGeom>
          <a:solidFill>
            <a:srgbClr val="1B346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" name="TextBox 160"/>
          <p:cNvSpPr txBox="1"/>
          <p:nvPr/>
        </p:nvSpPr>
        <p:spPr>
          <a:xfrm>
            <a:off x="1314082" y="4800600"/>
            <a:ext cx="9475057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Search = score the question against every stored chunk, then keep the top few.</a:t>
            </a:r>
          </a:p>
          <a:p>
            <a:pPr algn="l">
              <a:lnSpc>
                <a:spcPct val="115000"/>
              </a:lnSpc>
              <a:buNone/>
            </a:pPr>
            <a:r>
              <a:rPr lang="en-US" sz="2000" b="0" dirty="0">
                <a:solidFill>
                  <a:srgbClr val="64DFED"/>
                </a:solidFill>
                <a:latin typeface="Segoe UI Light"/>
                <a:cs typeface="Segoe UI Light"/>
              </a:rPr>
              <a:t>The vector store does this for us.</a:t>
            </a:r>
          </a:p>
        </p:txBody>
      </p:sp>
      <p:sp>
        <p:nvSpPr>
          <p:cNvPr id="161" name="TextBox 161"/>
          <p:cNvSpPr txBox="1"/>
          <p:nvPr/>
        </p:nvSpPr>
        <p:spPr>
          <a:xfrm>
            <a:off x="411480" y="6327648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A8BBDD"/>
                </a:solidFill>
                <a:latin typeface="Segoe UI Light"/>
                <a:cs typeface="Segoe UI Light"/>
              </a:rPr>
              <a:t>RAG  ·  Module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9E45E-D6A7-9780-F652-BAF86DFBC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w Cen MT"/>
                <a:cs typeface="Tw Cen MT"/>
              </a:rPr>
              <a:t>WHAT IS A VECTOR STORE?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77A64-4E94-69E1-3180-1E014BD06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10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605EE-24B6-95D8-DE5E-BEC2F03ECE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92CDF0"/>
                </a:solidFill>
                <a:latin typeface="Segoe UI Light"/>
                <a:cs typeface="Segoe UI Light"/>
              </a:rPr>
              <a:t>What it does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22F651-7ABC-015D-B5C4-622708A64CB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Stores text alongside its embedding</a:t>
            </a:r>
          </a:p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Finds the nearest vectors to a query, fast</a:t>
            </a:r>
          </a:p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Returns the original text with each hit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1E0F07-3291-4EE2-1286-04C97165BA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92CDF0"/>
                </a:solidFill>
                <a:latin typeface="Segoe UI Light"/>
                <a:cs typeface="Segoe UI Light"/>
              </a:rPr>
              <a:t>Why not a SQL table?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F22CC9-1295-2B21-05A9-68A44E669B8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Autofit/>
          </a:bodyPr>
          <a:lstStyle/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SQL matches exact values, not meaning</a:t>
            </a:r>
          </a:p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Nearest-neighbour search needs its own index</a:t>
            </a:r>
          </a:p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We start in memory — zero setup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9F57080-19CA-8BBA-6050-8494551D4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A8BBDD"/>
                </a:solidFill>
                <a:latin typeface="Segoe UI Light"/>
                <a:cs typeface="Segoe UI Light"/>
              </a:rPr>
              <a:t>RAG  ·  Module 1</a:t>
            </a:r>
          </a:p>
        </p:txBody>
      </p:sp>
    </p:spTree>
    <p:extLst>
      <p:ext uri="{BB962C8B-B14F-4D97-AF65-F5344CB8AC3E}">
        <p14:creationId xmlns:p14="http://schemas.microsoft.com/office/powerpoint/2010/main" val="7652109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E73D4-535B-6DCC-2268-43A5E9E12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w Cen MT"/>
                <a:cs typeface="Tw Cen MT"/>
              </a:rPr>
              <a:t>PHASE 1 — INGEST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59FCA3-0124-0FA6-220B-D72E8F803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11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30852F-3FB7-6D2E-F6AC-1F6B9CAD2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92CDF0"/>
                </a:solidFill>
                <a:latin typeface="Segoe UI Light"/>
                <a:cs typeface="Segoe UI Light"/>
              </a:rPr>
              <a:t>1. Chunk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135D3F1-0C33-3404-5D49-E70C9D100F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Split each page into passages</a:t>
            </a:r>
          </a:p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Small enough to be specific, big enough to make sense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E5F7BD8-DA37-58AB-1F45-D0F045DF4B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92CDF0"/>
                </a:solidFill>
                <a:latin typeface="Segoe UI Light"/>
                <a:cs typeface="Segoe UI Light"/>
              </a:rPr>
              <a:t>2. Embed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24F2AAC-B18D-1D49-15F1-2D69101664A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Autofit/>
          </a:bodyPr>
          <a:lstStyle/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Send every chunk to the embedding model</a:t>
            </a:r>
          </a:p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Get back one vector per chunk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E68EFF0-69C3-F9AE-1107-E08A22BCF9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92CDF0"/>
                </a:solidFill>
                <a:latin typeface="Segoe UI Light"/>
                <a:cs typeface="Segoe UI Light"/>
              </a:rPr>
              <a:t>3. Upsert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4D6980BD-0225-0DD6-3D62-B0B1E983AB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73568" y="2743200"/>
            <a:ext cx="3068680" cy="2578608"/>
          </a:xfrm>
        </p:spPr>
        <p:txBody>
          <a:bodyPr>
            <a:noAutofit/>
          </a:bodyPr>
          <a:lstStyle/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Store text, source URL and vector together</a:t>
            </a:r>
          </a:p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Runs once, not per question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07ABA7-FC97-4D42-C4BC-897A88CF3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A8BBDD"/>
                </a:solidFill>
                <a:latin typeface="Segoe UI Light"/>
                <a:cs typeface="Segoe UI Light"/>
              </a:rPr>
              <a:t>RAG  ·  Module 1</a:t>
            </a:r>
          </a:p>
        </p:txBody>
      </p:sp>
    </p:spTree>
    <p:extLst>
      <p:ext uri="{BB962C8B-B14F-4D97-AF65-F5344CB8AC3E}">
        <p14:creationId xmlns:p14="http://schemas.microsoft.com/office/powerpoint/2010/main" val="18770809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E73D4-535B-6DCC-2268-43A5E9E12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w Cen MT"/>
                <a:cs typeface="Tw Cen MT"/>
              </a:rPr>
              <a:t>PHASE 2 — QUERY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59FCA3-0124-0FA6-220B-D72E8F803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12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30852F-3FB7-6D2E-F6AC-1F6B9CAD2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92CDF0"/>
                </a:solidFill>
                <a:latin typeface="Segoe UI Light"/>
                <a:cs typeface="Segoe UI Light"/>
              </a:rPr>
              <a:t>1. Embed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135D3F1-0C33-3404-5D49-E70C9D100F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The user’s question goes through the same model</a:t>
            </a:r>
          </a:p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Same vector space, so scores are comparable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E5F7BD8-DA37-58AB-1F45-D0F045DF4B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92CDF0"/>
                </a:solidFill>
                <a:latin typeface="Segoe UI Light"/>
                <a:cs typeface="Segoe UI Light"/>
              </a:rPr>
              <a:t>2. Search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24F2AAC-B18D-1D49-15F1-2D69101664A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Autofit/>
          </a:bodyPr>
          <a:lstStyle/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Ask the store for the top 3 nearest chunks</a:t>
            </a:r>
          </a:p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These are our “open book” pages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E68EFF0-69C3-F9AE-1107-E08A22BCF9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92CDF0"/>
                </a:solidFill>
                <a:latin typeface="Segoe UI Light"/>
                <a:cs typeface="Segoe UI Light"/>
              </a:rPr>
              <a:t>3. Generate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4D6980BD-0225-0DD6-3D62-B0B1E983AB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73568" y="2743200"/>
            <a:ext cx="3068680" cy="2578608"/>
          </a:xfrm>
        </p:spPr>
        <p:txBody>
          <a:bodyPr>
            <a:noAutofit/>
          </a:bodyPr>
          <a:lstStyle/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Paste the chunks into the prompt as CONTEXT</a:t>
            </a:r>
          </a:p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Tell the model to answer from context only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07ABA7-FC97-4D42-C4BC-897A88CF3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A8BBDD"/>
                </a:solidFill>
                <a:latin typeface="Segoe UI Light"/>
                <a:cs typeface="Segoe UI Light"/>
              </a:rPr>
              <a:t>RAG  ·  Module 1</a:t>
            </a:r>
          </a:p>
        </p:txBody>
      </p:sp>
    </p:spTree>
    <p:extLst>
      <p:ext uri="{BB962C8B-B14F-4D97-AF65-F5344CB8AC3E}">
        <p14:creationId xmlns:p14="http://schemas.microsoft.com/office/powerpoint/2010/main" val="18770809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9E45E-D6A7-9780-F652-BAF86DFBC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w Cen MT"/>
                <a:cs typeface="Tw Cen MT"/>
              </a:rPr>
              <a:t>RAG, FINE-TUNING, OR TOOLS?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77A64-4E94-69E1-3180-1E014BD06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13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605EE-24B6-95D8-DE5E-BEC2F03ECE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92CDF0"/>
                </a:solidFill>
                <a:latin typeface="Segoe UI Light"/>
                <a:cs typeface="Segoe UI Light"/>
              </a:rPr>
              <a:t>Reach for RAG when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22F651-7ABC-015D-B5C4-622708A64CB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The answer lives in documents you control</a:t>
            </a:r>
          </a:p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That content changes often</a:t>
            </a:r>
          </a:p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You need citations back to a source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1E0F07-3291-4EE2-1286-04C97165BA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92CDF0"/>
                </a:solidFill>
                <a:latin typeface="Segoe UI Light"/>
                <a:cs typeface="Segoe UI Light"/>
              </a:rPr>
              <a:t>Reach elsewhere when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F22CC9-1295-2B21-05A9-68A44E669B8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Autofit/>
          </a:bodyPr>
          <a:lstStyle/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You need a new style or format → fine-tune</a:t>
            </a:r>
          </a:p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You need a live action or lookup → tools / MCP</a:t>
            </a:r>
          </a:p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The answer is pure reasoning → just prompt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9F57080-19CA-8BBA-6050-8494551D4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A8BBDD"/>
                </a:solidFill>
                <a:latin typeface="Segoe UI Light"/>
                <a:cs typeface="Segoe UI Light"/>
              </a:rPr>
              <a:t>RAG  ·  Module 1</a:t>
            </a:r>
          </a:p>
        </p:txBody>
      </p:sp>
    </p:spTree>
    <p:extLst>
      <p:ext uri="{BB962C8B-B14F-4D97-AF65-F5344CB8AC3E}">
        <p14:creationId xmlns:p14="http://schemas.microsoft.com/office/powerpoint/2010/main" val="7652109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310B5-D907-A977-7A9C-69F8BEB7BB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Tw Cen MT"/>
                <a:cs typeface="Tw Cen MT"/>
              </a:rPr>
              <a:t>OUR STACK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5FF0B8-5B51-7376-0271-8D849CA3F8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 algn="ctr">
              <a:lnSpc>
                <a:spcPct val="120000"/>
              </a:lnSpc>
              <a:buNone/>
            </a:pPr>
            <a:r>
              <a:rPr lang="en-US" sz="2200" b="0" dirty="0">
                <a:solidFill>
                  <a:srgbClr val="FFFFFF"/>
                </a:solidFill>
                <a:latin typeface="Segoe UI Light"/>
                <a:cs typeface="Segoe UI Light"/>
              </a:rPr>
              <a:t>Four packages, two models, no infrastructure</a:t>
            </a:r>
          </a:p>
        </p:txBody>
      </p:sp>
    </p:spTree>
    <p:extLst>
      <p:ext uri="{BB962C8B-B14F-4D97-AF65-F5344CB8AC3E}">
        <p14:creationId xmlns:p14="http://schemas.microsoft.com/office/powerpoint/2010/main" val="5484762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lideNum 162"/>
          <p:cNvSpPr txBox="1"/>
          <p:nvPr/>
        </p:nvSpPr>
        <p:spPr>
          <a:xfrm>
            <a:off x="411480" y="256032"/>
            <a:ext cx="731520" cy="32004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>
              <a:buNone/>
            </a:pPr>
            <a:fld id="{294A09A9-5501-47C1-A89A-A340965A2BE2}" type="slidenum">
              <a:rPr lang="en-US" sz="1400" dirty="0">
                <a:solidFill>
                  <a:srgbClr val="A8BBDD"/>
                </a:solidFill>
                <a:latin typeface="Segoe UI Light"/>
              </a:rPr>
              <a:pPr>
                <a:buNone/>
              </a:pPr>
              <a:t>15</a:t>
            </a:fld>
            <a:endParaRPr lang="en-US" sz="1400" dirty="0">
              <a:solidFill>
                <a:srgbClr val="A8BBDD"/>
              </a:solidFill>
              <a:latin typeface="Segoe UI Light"/>
            </a:endParaRPr>
          </a:p>
        </p:txBody>
      </p:sp>
      <p:sp>
        <p:nvSpPr>
          <p:cNvPr id="163" name="TextBox 163"/>
          <p:cNvSpPr txBox="1"/>
          <p:nvPr/>
        </p:nvSpPr>
        <p:spPr>
          <a:xfrm>
            <a:off x="640080" y="384048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w Cen MT"/>
                <a:cs typeface="Tw Cen MT"/>
              </a:rPr>
              <a:t>DEMO ARCHITECTURE</a:t>
            </a:r>
          </a:p>
        </p:txBody>
      </p:sp>
      <p:sp>
        <p:nvSpPr>
          <p:cNvPr id="164" name="Card 164"/>
          <p:cNvSpPr/>
          <p:nvPr/>
        </p:nvSpPr>
        <p:spPr>
          <a:xfrm>
            <a:off x="4796550" y="2779776"/>
            <a:ext cx="3629202" cy="1143000"/>
          </a:xfrm>
          <a:prstGeom prst="roundRect">
            <a:avLst>
              <a:gd name="adj" fmla="val 3000"/>
            </a:avLst>
          </a:prstGeom>
          <a:solidFill>
            <a:srgbClr val="1B3468"/>
          </a:solidFill>
          <a:ln w="12700">
            <a:solidFill>
              <a:srgbClr val="92CD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5" name="TextBox 165"/>
          <p:cNvSpPr txBox="1"/>
          <p:nvPr/>
        </p:nvSpPr>
        <p:spPr>
          <a:xfrm>
            <a:off x="4897350" y="2971800"/>
            <a:ext cx="3376002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Light"/>
                <a:cs typeface="Segoe UI Light"/>
              </a:rPr>
              <a:t>Console app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1700" b="0" dirty="0">
                <a:solidFill>
                  <a:srgbClr val="A8BBDD"/>
                </a:solidFill>
                <a:latin typeface="Consolas"/>
                <a:cs typeface="Consolas"/>
              </a:rPr>
              <a:t>Program.cs</a:t>
            </a:r>
          </a:p>
        </p:txBody>
      </p:sp>
      <p:sp>
        <p:nvSpPr>
          <p:cNvPr id="166" name="Card 166"/>
          <p:cNvSpPr/>
          <p:nvPr/>
        </p:nvSpPr>
        <p:spPr>
          <a:xfrm>
            <a:off x="1327355" y="1417320"/>
            <a:ext cx="3165002" cy="1143000"/>
          </a:xfrm>
          <a:prstGeom prst="roundRect">
            <a:avLst>
              <a:gd name="adj" fmla="val 3000"/>
            </a:avLst>
          </a:prstGeom>
          <a:solidFill>
            <a:srgbClr val="1B3468"/>
          </a:solidFill>
          <a:ln w="9525">
            <a:solidFill>
              <a:srgbClr val="F6A6F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7" name="TextBox 167"/>
          <p:cNvSpPr txBox="1"/>
          <p:nvPr/>
        </p:nvSpPr>
        <p:spPr>
          <a:xfrm>
            <a:off x="1443395" y="1600200"/>
            <a:ext cx="2911802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6A6F4"/>
                </a:solidFill>
                <a:latin typeface="Segoe UI Light"/>
                <a:cs typeface="Segoe UI Light"/>
              </a:rPr>
              <a:t>docs / *.md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1600" b="0" dirty="0">
                <a:solidFill>
                  <a:srgbClr val="A8BBDD"/>
                </a:solidFill>
                <a:latin typeface="Segoe UI Light"/>
                <a:cs typeface="Segoe UI Light"/>
              </a:rPr>
              <a:t>8 pages, saved locally</a:t>
            </a:r>
          </a:p>
        </p:txBody>
      </p:sp>
      <p:sp>
        <p:nvSpPr>
          <p:cNvPr id="168" name="Card 168"/>
          <p:cNvSpPr/>
          <p:nvPr/>
        </p:nvSpPr>
        <p:spPr>
          <a:xfrm>
            <a:off x="1327355" y="4343400"/>
            <a:ext cx="3165002" cy="1143000"/>
          </a:xfrm>
          <a:prstGeom prst="roundRect">
            <a:avLst>
              <a:gd name="adj" fmla="val 3000"/>
            </a:avLst>
          </a:prstGeom>
          <a:solidFill>
            <a:srgbClr val="1B3468"/>
          </a:solidFill>
          <a:ln w="9525">
            <a:solidFill>
              <a:srgbClr val="C3B9F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9" name="TextBox 169"/>
          <p:cNvSpPr txBox="1"/>
          <p:nvPr/>
        </p:nvSpPr>
        <p:spPr>
          <a:xfrm>
            <a:off x="1443395" y="4526280"/>
            <a:ext cx="2911802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C3B9F2"/>
                </a:solidFill>
                <a:latin typeface="Segoe UI Light"/>
                <a:cs typeface="Segoe UI Light"/>
              </a:rPr>
              <a:t>In-memory store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1600" b="0" dirty="0">
                <a:solidFill>
                  <a:srgbClr val="A8BBDD"/>
                </a:solidFill>
                <a:latin typeface="Segoe UI Light"/>
                <a:cs typeface="Segoe UI Light"/>
              </a:rPr>
              <a:t>chunks + vectors</a:t>
            </a:r>
          </a:p>
        </p:txBody>
      </p:sp>
      <p:sp>
        <p:nvSpPr>
          <p:cNvPr id="170" name="Card 170"/>
          <p:cNvSpPr/>
          <p:nvPr/>
        </p:nvSpPr>
        <p:spPr>
          <a:xfrm>
            <a:off x="8539318" y="1417320"/>
            <a:ext cx="3165002" cy="1143000"/>
          </a:xfrm>
          <a:prstGeom prst="roundRect">
            <a:avLst>
              <a:gd name="adj" fmla="val 3000"/>
            </a:avLst>
          </a:prstGeom>
          <a:solidFill>
            <a:srgbClr val="1B3468"/>
          </a:solidFill>
          <a:ln w="9525">
            <a:solidFill>
              <a:srgbClr val="64DF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1" name="TextBox 171"/>
          <p:cNvSpPr txBox="1"/>
          <p:nvPr/>
        </p:nvSpPr>
        <p:spPr>
          <a:xfrm>
            <a:off x="8655358" y="1600200"/>
            <a:ext cx="2911802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64DFED"/>
                </a:solidFill>
                <a:latin typeface="Segoe UI Light"/>
                <a:cs typeface="Segoe UI Light"/>
              </a:rPr>
              <a:t>OpenAI embeddings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1600" b="0" dirty="0">
                <a:solidFill>
                  <a:srgbClr val="A8BBDD"/>
                </a:solidFill>
                <a:latin typeface="Segoe UI Light"/>
                <a:cs typeface="Segoe UI Light"/>
              </a:rPr>
              <a:t>text-embedding-3-small</a:t>
            </a:r>
          </a:p>
        </p:txBody>
      </p:sp>
      <p:sp>
        <p:nvSpPr>
          <p:cNvPr id="172" name="Card 172"/>
          <p:cNvSpPr/>
          <p:nvPr/>
        </p:nvSpPr>
        <p:spPr>
          <a:xfrm>
            <a:off x="8539318" y="4343400"/>
            <a:ext cx="3165002" cy="1143000"/>
          </a:xfrm>
          <a:prstGeom prst="roundRect">
            <a:avLst>
              <a:gd name="adj" fmla="val 3000"/>
            </a:avLst>
          </a:prstGeom>
          <a:solidFill>
            <a:srgbClr val="1B3468"/>
          </a:solidFill>
          <a:ln w="9525">
            <a:solidFill>
              <a:srgbClr val="92CD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3" name="TextBox 173"/>
          <p:cNvSpPr txBox="1"/>
          <p:nvPr/>
        </p:nvSpPr>
        <p:spPr>
          <a:xfrm>
            <a:off x="8655358" y="4526280"/>
            <a:ext cx="2911802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92CDF0"/>
                </a:solidFill>
                <a:latin typeface="Segoe UI Light"/>
                <a:cs typeface="Segoe UI Light"/>
              </a:rPr>
              <a:t>OpenAI chat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1600" b="0" dirty="0">
                <a:solidFill>
                  <a:srgbClr val="A8BBDD"/>
                </a:solidFill>
                <a:latin typeface="Segoe UI Light"/>
                <a:cs typeface="Segoe UI Light"/>
              </a:rPr>
              <a:t>gpt-4o-mini</a:t>
            </a:r>
          </a:p>
        </p:txBody>
      </p:sp>
      <p:sp>
        <p:nvSpPr>
          <p:cNvPr id="178" name="TextBox 178"/>
          <p:cNvSpPr txBox="1"/>
          <p:nvPr/>
        </p:nvSpPr>
        <p:spPr>
          <a:xfrm>
            <a:off x="411480" y="6327648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A8BBDD"/>
                </a:solidFill>
                <a:latin typeface="Segoe UI Light"/>
                <a:cs typeface="Segoe UI Light"/>
              </a:rPr>
              <a:t>RAG  ·  Module 1</a:t>
            </a:r>
          </a:p>
        </p:txBody>
      </p:sp>
      <p:sp>
        <p:nvSpPr>
          <p:cNvPr id="179" name="TextBox 179"/>
          <p:cNvSpPr txBox="1"/>
          <p:nvPr/>
        </p:nvSpPr>
        <p:spPr>
          <a:xfrm>
            <a:off x="1063356" y="5760720"/>
            <a:ext cx="10458083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900" b="0" dirty="0">
                <a:solidFill>
                  <a:srgbClr val="C3B9F2"/>
                </a:solidFill>
                <a:latin typeface="Segoe UI Light"/>
                <a:cs typeface="Segoe UI Light"/>
              </a:rPr>
              <a:t>Everything runs on your machine except the two OpenAI calls.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SlideNum 180"/>
          <p:cNvSpPr txBox="1"/>
          <p:nvPr/>
        </p:nvSpPr>
        <p:spPr>
          <a:xfrm>
            <a:off x="411480" y="256032"/>
            <a:ext cx="731520" cy="32004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>
              <a:buNone/>
            </a:pPr>
            <a:fld id="{294A09A9-5501-47C1-A89A-A340965A2BE2}" type="slidenum">
              <a:rPr lang="en-US" sz="1400" dirty="0">
                <a:solidFill>
                  <a:srgbClr val="A8BBDD"/>
                </a:solidFill>
                <a:latin typeface="Segoe UI Light"/>
              </a:rPr>
              <a:pPr>
                <a:buNone/>
              </a:pPr>
              <a:t>16</a:t>
            </a:fld>
            <a:endParaRPr lang="en-US" sz="1400" dirty="0">
              <a:solidFill>
                <a:srgbClr val="A8BBDD"/>
              </a:solidFill>
              <a:latin typeface="Segoe UI Light"/>
            </a:endParaRPr>
          </a:p>
        </p:txBody>
      </p:sp>
      <p:sp>
        <p:nvSpPr>
          <p:cNvPr id="181" name="TextBox 181"/>
          <p:cNvSpPr txBox="1"/>
          <p:nvPr/>
        </p:nvSpPr>
        <p:spPr>
          <a:xfrm>
            <a:off x="640080" y="384048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w Cen MT"/>
                <a:cs typeface="Tw Cen MT"/>
              </a:rPr>
              <a:t>FOUR NUGET PACKAGES</a:t>
            </a:r>
          </a:p>
        </p:txBody>
      </p:sp>
      <p:sp>
        <p:nvSpPr>
          <p:cNvPr id="182" name="Card 182"/>
          <p:cNvSpPr/>
          <p:nvPr/>
        </p:nvSpPr>
        <p:spPr>
          <a:xfrm>
            <a:off x="944880" y="1481328"/>
            <a:ext cx="10881360" cy="1042416"/>
          </a:xfrm>
          <a:prstGeom prst="roundRect">
            <a:avLst>
              <a:gd name="adj" fmla="val 3000"/>
            </a:avLst>
          </a:prstGeom>
          <a:solidFill>
            <a:srgbClr val="1B346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3" name="Card 183"/>
          <p:cNvSpPr/>
          <p:nvPr/>
        </p:nvSpPr>
        <p:spPr>
          <a:xfrm>
            <a:off x="944880" y="1481328"/>
            <a:ext cx="100584" cy="1042416"/>
          </a:xfrm>
          <a:prstGeom prst="roundRect">
            <a:avLst>
              <a:gd name="adj" fmla="val 20000"/>
            </a:avLst>
          </a:prstGeom>
          <a:solidFill>
            <a:srgbClr val="92CD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4" name="TextBox 184"/>
          <p:cNvSpPr txBox="1"/>
          <p:nvPr/>
        </p:nvSpPr>
        <p:spPr>
          <a:xfrm>
            <a:off x="1264920" y="1636776"/>
            <a:ext cx="10241280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92CDF0"/>
                </a:solidFill>
                <a:latin typeface="Consolas"/>
                <a:cs typeface="Consolas"/>
              </a:rPr>
              <a:t>Microsoft.Extensions.AI.OpenAI</a:t>
            </a:r>
          </a:p>
          <a:p>
            <a:pPr algn="l">
              <a:lnSpc>
                <a:spcPct val="115000"/>
              </a:lnSpc>
              <a:buNone/>
            </a:pPr>
            <a:r>
              <a:rPr lang="en-US" sz="1800" b="0" dirty="0">
                <a:solidFill>
                  <a:srgbClr val="FFFFFF"/>
                </a:solidFill>
                <a:latin typeface="Segoe UI Light"/>
                <a:cs typeface="Segoe UI Light"/>
              </a:rPr>
              <a:t>Chat + embedding clients</a:t>
            </a:r>
          </a:p>
        </p:txBody>
      </p:sp>
      <p:sp>
        <p:nvSpPr>
          <p:cNvPr id="185" name="Card 185"/>
          <p:cNvSpPr/>
          <p:nvPr/>
        </p:nvSpPr>
        <p:spPr>
          <a:xfrm>
            <a:off x="944880" y="2651760"/>
            <a:ext cx="10881360" cy="1042416"/>
          </a:xfrm>
          <a:prstGeom prst="roundRect">
            <a:avLst>
              <a:gd name="adj" fmla="val 3000"/>
            </a:avLst>
          </a:prstGeom>
          <a:solidFill>
            <a:srgbClr val="1B346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6" name="Card 186"/>
          <p:cNvSpPr/>
          <p:nvPr/>
        </p:nvSpPr>
        <p:spPr>
          <a:xfrm>
            <a:off x="944880" y="2651760"/>
            <a:ext cx="100584" cy="1042416"/>
          </a:xfrm>
          <a:prstGeom prst="roundRect">
            <a:avLst>
              <a:gd name="adj" fmla="val 20000"/>
            </a:avLst>
          </a:prstGeom>
          <a:solidFill>
            <a:srgbClr val="C3B9F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7" name="TextBox 187"/>
          <p:cNvSpPr txBox="1"/>
          <p:nvPr/>
        </p:nvSpPr>
        <p:spPr>
          <a:xfrm>
            <a:off x="1264920" y="2807208"/>
            <a:ext cx="10241280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3B9F2"/>
                </a:solidFill>
                <a:latin typeface="Consolas"/>
                <a:cs typeface="Consolas"/>
              </a:rPr>
              <a:t>Microsoft.Extensions.VectorData.Abstractions</a:t>
            </a:r>
          </a:p>
          <a:p>
            <a:pPr algn="l">
              <a:lnSpc>
                <a:spcPct val="115000"/>
              </a:lnSpc>
              <a:buNone/>
            </a:pPr>
            <a:r>
              <a:rPr lang="en-US" sz="1800" b="0" dirty="0">
                <a:solidFill>
                  <a:srgbClr val="FFFFFF"/>
                </a:solidFill>
                <a:latin typeface="Segoe UI Light"/>
                <a:cs typeface="Segoe UI Light"/>
              </a:rPr>
              <a:t>Vector-store interfaces and attributes</a:t>
            </a:r>
          </a:p>
        </p:txBody>
      </p:sp>
      <p:sp>
        <p:nvSpPr>
          <p:cNvPr id="188" name="Card 188"/>
          <p:cNvSpPr/>
          <p:nvPr/>
        </p:nvSpPr>
        <p:spPr>
          <a:xfrm>
            <a:off x="944880" y="3822192"/>
            <a:ext cx="10881360" cy="1042416"/>
          </a:xfrm>
          <a:prstGeom prst="roundRect">
            <a:avLst>
              <a:gd name="adj" fmla="val 3000"/>
            </a:avLst>
          </a:prstGeom>
          <a:solidFill>
            <a:srgbClr val="1B346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9" name="Card 189"/>
          <p:cNvSpPr/>
          <p:nvPr/>
        </p:nvSpPr>
        <p:spPr>
          <a:xfrm>
            <a:off x="944880" y="3822192"/>
            <a:ext cx="100584" cy="1042416"/>
          </a:xfrm>
          <a:prstGeom prst="roundRect">
            <a:avLst>
              <a:gd name="adj" fmla="val 20000"/>
            </a:avLst>
          </a:prstGeom>
          <a:solidFill>
            <a:srgbClr val="64DFE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0" name="TextBox 190"/>
          <p:cNvSpPr txBox="1"/>
          <p:nvPr/>
        </p:nvSpPr>
        <p:spPr>
          <a:xfrm>
            <a:off x="1264920" y="3977640"/>
            <a:ext cx="10241280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64DFED"/>
                </a:solidFill>
                <a:latin typeface="Consolas"/>
                <a:cs typeface="Consolas"/>
              </a:rPr>
              <a:t>Microsoft.SemanticKernel.Connectors.InMemory</a:t>
            </a:r>
          </a:p>
          <a:p>
            <a:pPr algn="l">
              <a:lnSpc>
                <a:spcPct val="115000"/>
              </a:lnSpc>
              <a:buNone/>
            </a:pPr>
            <a:r>
              <a:rPr lang="en-US" sz="1800" b="0" dirty="0">
                <a:solidFill>
                  <a:srgbClr val="FFFFFF"/>
                </a:solidFill>
                <a:latin typeface="Segoe UI Light"/>
                <a:cs typeface="Segoe UI Light"/>
              </a:rPr>
              <a:t>The in-memory store itself</a:t>
            </a:r>
          </a:p>
        </p:txBody>
      </p:sp>
      <p:sp>
        <p:nvSpPr>
          <p:cNvPr id="191" name="Card 191"/>
          <p:cNvSpPr/>
          <p:nvPr/>
        </p:nvSpPr>
        <p:spPr>
          <a:xfrm>
            <a:off x="944880" y="4992624"/>
            <a:ext cx="10881360" cy="1042416"/>
          </a:xfrm>
          <a:prstGeom prst="roundRect">
            <a:avLst>
              <a:gd name="adj" fmla="val 3000"/>
            </a:avLst>
          </a:prstGeom>
          <a:solidFill>
            <a:srgbClr val="1B346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2" name="Card 192"/>
          <p:cNvSpPr/>
          <p:nvPr/>
        </p:nvSpPr>
        <p:spPr>
          <a:xfrm>
            <a:off x="944880" y="4992624"/>
            <a:ext cx="100584" cy="1042416"/>
          </a:xfrm>
          <a:prstGeom prst="roundRect">
            <a:avLst>
              <a:gd name="adj" fmla="val 20000"/>
            </a:avLst>
          </a:prstGeom>
          <a:solidFill>
            <a:srgbClr val="F6A6F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3" name="TextBox 193"/>
          <p:cNvSpPr txBox="1"/>
          <p:nvPr/>
        </p:nvSpPr>
        <p:spPr>
          <a:xfrm>
            <a:off x="1264920" y="5148072"/>
            <a:ext cx="10241280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6A6F4"/>
                </a:solidFill>
                <a:latin typeface="Consolas"/>
                <a:cs typeface="Consolas"/>
              </a:rPr>
              <a:t>Microsoft.Extensions.Configuration.UserSecrets</a:t>
            </a:r>
          </a:p>
          <a:p>
            <a:pPr algn="l">
              <a:lnSpc>
                <a:spcPct val="115000"/>
              </a:lnSpc>
              <a:buNone/>
            </a:pPr>
            <a:r>
              <a:rPr lang="en-US" sz="1800" b="0" dirty="0">
                <a:solidFill>
                  <a:srgbClr val="FFFFFF"/>
                </a:solidFill>
                <a:latin typeface="Segoe UI Light"/>
                <a:cs typeface="Segoe UI Light"/>
              </a:rPr>
              <a:t>Keeps your API key out of the repo</a:t>
            </a:r>
          </a:p>
        </p:txBody>
      </p:sp>
      <p:sp>
        <p:nvSpPr>
          <p:cNvPr id="194" name="TextBox 194"/>
          <p:cNvSpPr txBox="1"/>
          <p:nvPr/>
        </p:nvSpPr>
        <p:spPr>
          <a:xfrm>
            <a:off x="411480" y="6327648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A8BBDD"/>
                </a:solidFill>
                <a:latin typeface="Segoe UI Light"/>
                <a:cs typeface="Segoe UI Light"/>
              </a:rPr>
              <a:t>RAG  ·  Module 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9E45E-D6A7-9780-F652-BAF86DFBC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w Cen MT"/>
                <a:cs typeface="Tw Cen MT"/>
              </a:rPr>
              <a:t>TWO MODELS, TWO JOBS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77A64-4E94-69E1-3180-1E014BD06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17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605EE-24B6-95D8-DE5E-BEC2F03ECE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92CDF0"/>
                </a:solidFill>
                <a:latin typeface="Segoe UI Light"/>
                <a:cs typeface="Segoe UI Light"/>
              </a:rPr>
              <a:t>text-embedding-3-small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22F651-7ABC-015D-B5C4-622708A64CB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Turns text into 1536 numbers</a:t>
            </a:r>
          </a:p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Used at ingest AND at query time</a:t>
            </a:r>
          </a:p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Cheap enough to re-run the whole corpus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1E0F07-3291-4EE2-1286-04C97165BA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92CDF0"/>
                </a:solidFill>
                <a:latin typeface="Segoe UI Light"/>
                <a:cs typeface="Segoe UI Light"/>
              </a:rPr>
              <a:t>gpt-4o-mini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F22CC9-1295-2B21-05A9-68A44E669B8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Autofit/>
          </a:bodyPr>
          <a:lstStyle/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Writes the final answer</a:t>
            </a:r>
          </a:p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Sees only the retrieved chunks, not the corpus</a:t>
            </a:r>
          </a:p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Swap in a larger model without touching the code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9F57080-19CA-8BBA-6050-8494551D4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A8BBDD"/>
                </a:solidFill>
                <a:latin typeface="Segoe UI Light"/>
                <a:cs typeface="Segoe UI Light"/>
              </a:rPr>
              <a:t>RAG  ·  Module 1</a:t>
            </a:r>
          </a:p>
        </p:txBody>
      </p:sp>
    </p:spTree>
    <p:extLst>
      <p:ext uri="{BB962C8B-B14F-4D97-AF65-F5344CB8AC3E}">
        <p14:creationId xmlns:p14="http://schemas.microsoft.com/office/powerpoint/2010/main" val="7652109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310B5-D907-A977-7A9C-69F8BEB7BB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w Cen MT"/>
                <a:cs typeface="Tw Cen MT"/>
              </a:rPr>
              <a:t>BUILD IT — STEP BY STEP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5FF0B8-5B51-7376-0271-8D849CA3F8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 algn="ctr">
              <a:lnSpc>
                <a:spcPct val="120000"/>
              </a:lnSpc>
              <a:buNone/>
            </a:pPr>
            <a:r>
              <a:rPr lang="en-US" sz="2200" b="0" dirty="0">
                <a:solidFill>
                  <a:srgbClr val="FFFFFF"/>
                </a:solidFill>
                <a:latin typeface="Segoe UI Light"/>
                <a:cs typeface="Segoe UI Light"/>
              </a:rPr>
              <a:t>Open VS Code and follow along</a:t>
            </a:r>
          </a:p>
        </p:txBody>
      </p:sp>
    </p:spTree>
    <p:extLst>
      <p:ext uri="{BB962C8B-B14F-4D97-AF65-F5344CB8AC3E}">
        <p14:creationId xmlns:p14="http://schemas.microsoft.com/office/powerpoint/2010/main" val="5484762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SlideNum 195"/>
          <p:cNvSpPr txBox="1"/>
          <p:nvPr/>
        </p:nvSpPr>
        <p:spPr>
          <a:xfrm>
            <a:off x="411480" y="256032"/>
            <a:ext cx="731520" cy="32004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>
              <a:buNone/>
            </a:pPr>
            <a:fld id="{294A09A9-5501-47C1-A89A-A340965A2BE2}" type="slidenum">
              <a:rPr lang="en-US" sz="1400" dirty="0">
                <a:solidFill>
                  <a:srgbClr val="A8BBDD"/>
                </a:solidFill>
                <a:latin typeface="Segoe UI Light"/>
              </a:rPr>
              <a:pPr>
                <a:buNone/>
              </a:pPr>
              <a:t>19</a:t>
            </a:fld>
            <a:endParaRPr lang="en-US" sz="1400" dirty="0">
              <a:solidFill>
                <a:srgbClr val="A8BBDD"/>
              </a:solidFill>
              <a:latin typeface="Segoe UI Light"/>
            </a:endParaRPr>
          </a:p>
        </p:txBody>
      </p:sp>
      <p:sp>
        <p:nvSpPr>
          <p:cNvPr id="196" name="Pill 196"/>
          <p:cNvSpPr/>
          <p:nvPr/>
        </p:nvSpPr>
        <p:spPr>
          <a:xfrm>
            <a:off x="640080" y="347472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6A6F4"/>
          </a:solidFill>
          <a:ln>
            <a:noFill/>
          </a:ln>
        </p:spPr>
        <p:txBody>
          <a:bodyPr lIns="45720" tIns="0" rIns="4572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102858"/>
                </a:solidFill>
                <a:latin typeface="Segoe UI Light"/>
              </a:rPr>
              <a:t>STEP 1</a:t>
            </a:r>
          </a:p>
        </p:txBody>
      </p:sp>
      <p:sp>
        <p:nvSpPr>
          <p:cNvPr id="197" name="TextBox 197"/>
          <p:cNvSpPr txBox="1"/>
          <p:nvPr/>
        </p:nvSpPr>
        <p:spPr>
          <a:xfrm>
            <a:off x="640080" y="841248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w Cen MT"/>
                <a:cs typeface="Tw Cen MT"/>
              </a:rPr>
              <a:t>CREATE THE CONSOLE APP</a:t>
            </a:r>
          </a:p>
        </p:txBody>
      </p:sp>
      <p:sp>
        <p:nvSpPr>
          <p:cNvPr id="198" name="Card 198"/>
          <p:cNvSpPr/>
          <p:nvPr/>
        </p:nvSpPr>
        <p:spPr>
          <a:xfrm>
            <a:off x="640080" y="1691640"/>
            <a:ext cx="10881360" cy="2040128"/>
          </a:xfrm>
          <a:prstGeom prst="roundRect">
            <a:avLst>
              <a:gd name="adj" fmla="val 3000"/>
            </a:avLst>
          </a:prstGeom>
          <a:solidFill>
            <a:srgbClr val="0A1C4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9" name="TextBox 199"/>
          <p:cNvSpPr txBox="1"/>
          <p:nvPr/>
        </p:nvSpPr>
        <p:spPr>
          <a:xfrm>
            <a:off x="960120" y="1975104"/>
            <a:ext cx="10332720" cy="147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mkdir RagDemo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cd RagDemo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dotnet new console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code .</a:t>
            </a:r>
          </a:p>
        </p:txBody>
      </p:sp>
      <p:sp>
        <p:nvSpPr>
          <p:cNvPr id="200" name="TextBox 200"/>
          <p:cNvSpPr txBox="1"/>
          <p:nvPr/>
        </p:nvSpPr>
        <p:spPr>
          <a:xfrm>
            <a:off x="640080" y="393293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900" b="0" dirty="0">
                <a:solidFill>
                  <a:srgbClr val="64DFED"/>
                </a:solidFill>
                <a:latin typeface="Segoe UI Light"/>
                <a:cs typeface="Segoe UI Light"/>
              </a:rPr>
              <a:t>✓  Program.cs and RagDemo.csproj appear in the Explorer</a:t>
            </a:r>
          </a:p>
        </p:txBody>
      </p:sp>
      <p:sp>
        <p:nvSpPr>
          <p:cNvPr id="201" name="TextBox 201"/>
          <p:cNvSpPr txBox="1"/>
          <p:nvPr/>
        </p:nvSpPr>
        <p:spPr>
          <a:xfrm>
            <a:off x="640080" y="4390136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800" b="0" dirty="0">
                <a:solidFill>
                  <a:srgbClr val="A8BBDD"/>
                </a:solidFill>
                <a:latin typeface="Segoe UI Light"/>
                <a:cs typeface="Segoe UI Light"/>
              </a:rPr>
              <a:t>VS Code will offer to add build and debug assets — accept.</a:t>
            </a:r>
          </a:p>
        </p:txBody>
      </p:sp>
      <p:sp>
        <p:nvSpPr>
          <p:cNvPr id="202" name="TextBox 202"/>
          <p:cNvSpPr txBox="1"/>
          <p:nvPr/>
        </p:nvSpPr>
        <p:spPr>
          <a:xfrm>
            <a:off x="411480" y="6327648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A8BBDD"/>
                </a:solidFill>
                <a:latin typeface="Segoe UI Light"/>
                <a:cs typeface="Segoe UI Light"/>
              </a:rPr>
              <a:t>RAG  ·  Module 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SlideNum 203"/>
          <p:cNvSpPr txBox="1"/>
          <p:nvPr/>
        </p:nvSpPr>
        <p:spPr>
          <a:xfrm>
            <a:off x="411480" y="256032"/>
            <a:ext cx="731520" cy="32004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>
              <a:buNone/>
            </a:pPr>
            <a:fld id="{294A09A9-5501-47C1-A89A-A340965A2BE2}" type="slidenum">
              <a:rPr lang="en-US" sz="1400" dirty="0">
                <a:solidFill>
                  <a:srgbClr val="A8BBDD"/>
                </a:solidFill>
                <a:latin typeface="Segoe UI Light"/>
              </a:rPr>
              <a:pPr>
                <a:buNone/>
              </a:pPr>
              <a:t>20</a:t>
            </a:fld>
            <a:endParaRPr lang="en-US" sz="1400" dirty="0">
              <a:solidFill>
                <a:srgbClr val="A8BBDD"/>
              </a:solidFill>
              <a:latin typeface="Segoe UI Light"/>
            </a:endParaRPr>
          </a:p>
        </p:txBody>
      </p:sp>
      <p:sp>
        <p:nvSpPr>
          <p:cNvPr id="204" name="Pill 204"/>
          <p:cNvSpPr/>
          <p:nvPr/>
        </p:nvSpPr>
        <p:spPr>
          <a:xfrm>
            <a:off x="640080" y="347472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6A6F4"/>
          </a:solidFill>
          <a:ln>
            <a:noFill/>
          </a:ln>
        </p:spPr>
        <p:txBody>
          <a:bodyPr lIns="45720" tIns="0" rIns="4572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102858"/>
                </a:solidFill>
                <a:latin typeface="Segoe UI Light"/>
              </a:rPr>
              <a:t>STEP 2</a:t>
            </a:r>
          </a:p>
        </p:txBody>
      </p:sp>
      <p:sp>
        <p:nvSpPr>
          <p:cNvPr id="205" name="TextBox 205"/>
          <p:cNvSpPr txBox="1"/>
          <p:nvPr/>
        </p:nvSpPr>
        <p:spPr>
          <a:xfrm>
            <a:off x="960120" y="841248"/>
            <a:ext cx="1056132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w Cen MT"/>
                <a:cs typeface="Tw Cen MT"/>
              </a:rPr>
              <a:t>ADD THE PACKAGES</a:t>
            </a:r>
          </a:p>
        </p:txBody>
      </p:sp>
      <p:sp>
        <p:nvSpPr>
          <p:cNvPr id="206" name="Card 206"/>
          <p:cNvSpPr/>
          <p:nvPr/>
        </p:nvSpPr>
        <p:spPr>
          <a:xfrm>
            <a:off x="1188720" y="1691640"/>
            <a:ext cx="10332720" cy="2040128"/>
          </a:xfrm>
          <a:prstGeom prst="roundRect">
            <a:avLst>
              <a:gd name="adj" fmla="val 3000"/>
            </a:avLst>
          </a:prstGeom>
          <a:solidFill>
            <a:srgbClr val="0A1C4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7" name="TextBox 207"/>
          <p:cNvSpPr txBox="1"/>
          <p:nvPr/>
        </p:nvSpPr>
        <p:spPr>
          <a:xfrm>
            <a:off x="1327354" y="1975104"/>
            <a:ext cx="9965485" cy="147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dotnet add package Microsoft.Extensions.AI.OpenAI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dotnet add package Microsoft.Extensions.VectorData.Abstractions</a:t>
            </a:r>
          </a:p>
          <a:p>
            <a:pPr>
              <a:lnSpc>
                <a:spcPct val="118000"/>
              </a:lnSpc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dotnet </a:t>
            </a:r>
            <a:r>
              <a:rPr lang="en-US" sz="2000" dirty="0">
                <a:solidFill>
                  <a:srgbClr val="FFFFFF"/>
                </a:solidFill>
                <a:latin typeface="Consolas"/>
              </a:rPr>
              <a:t>add package </a:t>
            </a:r>
            <a:r>
              <a:rPr lang="en-US" sz="2000" dirty="0" err="1">
                <a:solidFill>
                  <a:srgbClr val="FFFFFF"/>
                </a:solidFill>
                <a:latin typeface="Consolas"/>
              </a:rPr>
              <a:t>CommunityToolkit.VectorData.InMemory</a:t>
            </a:r>
            <a:endParaRPr lang="en-US" sz="2000" dirty="0">
              <a:solidFill>
                <a:srgbClr val="FFFFFF"/>
              </a:solidFill>
              <a:latin typeface="Consolas"/>
            </a:endParaRP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dotnet add package Microsoft.Extensions.Configuration.UserSecrets</a:t>
            </a:r>
          </a:p>
        </p:txBody>
      </p:sp>
      <p:sp>
        <p:nvSpPr>
          <p:cNvPr id="209" name="TextBox 209"/>
          <p:cNvSpPr txBox="1"/>
          <p:nvPr/>
        </p:nvSpPr>
        <p:spPr>
          <a:xfrm>
            <a:off x="411480" y="6327648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A8BBDD"/>
                </a:solidFill>
                <a:latin typeface="Segoe UI Light"/>
                <a:cs typeface="Segoe UI Light"/>
              </a:rPr>
              <a:t>RAG  ·  Module 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SlideNum 210"/>
          <p:cNvSpPr txBox="1"/>
          <p:nvPr/>
        </p:nvSpPr>
        <p:spPr>
          <a:xfrm>
            <a:off x="411480" y="256032"/>
            <a:ext cx="731520" cy="32004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>
              <a:buNone/>
            </a:pPr>
            <a:fld id="{294A09A9-5501-47C1-A89A-A340965A2BE2}" type="slidenum">
              <a:rPr lang="en-US" sz="1400" dirty="0">
                <a:solidFill>
                  <a:srgbClr val="A8BBDD"/>
                </a:solidFill>
                <a:latin typeface="Segoe UI Light"/>
              </a:rPr>
              <a:pPr>
                <a:buNone/>
              </a:pPr>
              <a:t>21</a:t>
            </a:fld>
            <a:endParaRPr lang="en-US" sz="1400" dirty="0">
              <a:solidFill>
                <a:srgbClr val="A8BBDD"/>
              </a:solidFill>
              <a:latin typeface="Segoe UI Light"/>
            </a:endParaRPr>
          </a:p>
        </p:txBody>
      </p:sp>
      <p:sp>
        <p:nvSpPr>
          <p:cNvPr id="211" name="Pill 211"/>
          <p:cNvSpPr/>
          <p:nvPr/>
        </p:nvSpPr>
        <p:spPr>
          <a:xfrm>
            <a:off x="640080" y="347472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6A6F4"/>
          </a:solidFill>
          <a:ln>
            <a:noFill/>
          </a:ln>
        </p:spPr>
        <p:txBody>
          <a:bodyPr lIns="45720" tIns="0" rIns="4572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102858"/>
                </a:solidFill>
                <a:latin typeface="Segoe UI Light"/>
              </a:rPr>
              <a:t>STEP 3</a:t>
            </a:r>
          </a:p>
        </p:txBody>
      </p:sp>
      <p:sp>
        <p:nvSpPr>
          <p:cNvPr id="212" name="TextBox 212"/>
          <p:cNvSpPr txBox="1"/>
          <p:nvPr/>
        </p:nvSpPr>
        <p:spPr>
          <a:xfrm>
            <a:off x="885891" y="841248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w Cen MT"/>
                <a:cs typeface="Tw Cen MT"/>
              </a:rPr>
              <a:t>STORE YOUR API KEY</a:t>
            </a:r>
          </a:p>
        </p:txBody>
      </p:sp>
      <p:sp>
        <p:nvSpPr>
          <p:cNvPr id="213" name="Card 213"/>
          <p:cNvSpPr/>
          <p:nvPr/>
        </p:nvSpPr>
        <p:spPr>
          <a:xfrm>
            <a:off x="885891" y="1691640"/>
            <a:ext cx="10881360" cy="1303528"/>
          </a:xfrm>
          <a:prstGeom prst="roundRect">
            <a:avLst>
              <a:gd name="adj" fmla="val 3000"/>
            </a:avLst>
          </a:prstGeom>
          <a:solidFill>
            <a:srgbClr val="0A1C4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4" name="TextBox 214"/>
          <p:cNvSpPr txBox="1"/>
          <p:nvPr/>
        </p:nvSpPr>
        <p:spPr>
          <a:xfrm>
            <a:off x="1205931" y="1975104"/>
            <a:ext cx="10332720" cy="736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dotnet user-secrets init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dotnet user-secrets set "OpenAI:Key" "sk-..."</a:t>
            </a:r>
          </a:p>
        </p:txBody>
      </p:sp>
      <p:sp>
        <p:nvSpPr>
          <p:cNvPr id="215" name="TextBox 215"/>
          <p:cNvSpPr txBox="1"/>
          <p:nvPr/>
        </p:nvSpPr>
        <p:spPr>
          <a:xfrm>
            <a:off x="885891" y="319633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900" b="0" dirty="0">
                <a:solidFill>
                  <a:srgbClr val="64DFED"/>
                </a:solidFill>
                <a:latin typeface="Segoe UI Light"/>
                <a:cs typeface="Segoe UI Light"/>
              </a:rPr>
              <a:t>✓  A UserSecretsId element is added to the .csproj</a:t>
            </a:r>
          </a:p>
        </p:txBody>
      </p:sp>
      <p:sp>
        <p:nvSpPr>
          <p:cNvPr id="216" name="TextBox 216"/>
          <p:cNvSpPr txBox="1"/>
          <p:nvPr/>
        </p:nvSpPr>
        <p:spPr>
          <a:xfrm>
            <a:off x="885891" y="3653536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800" b="0" dirty="0">
                <a:solidFill>
                  <a:srgbClr val="A8BBDD"/>
                </a:solidFill>
                <a:latin typeface="Segoe UI Light"/>
                <a:cs typeface="Segoe UI Light"/>
              </a:rPr>
              <a:t>Secrets live outside the repo — never commit a key.</a:t>
            </a:r>
          </a:p>
        </p:txBody>
      </p:sp>
      <p:sp>
        <p:nvSpPr>
          <p:cNvPr id="217" name="TextBox 217"/>
          <p:cNvSpPr txBox="1"/>
          <p:nvPr/>
        </p:nvSpPr>
        <p:spPr>
          <a:xfrm>
            <a:off x="411480" y="6327648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A8BBDD"/>
                </a:solidFill>
                <a:latin typeface="Segoe UI Light"/>
                <a:cs typeface="Segoe UI Light"/>
              </a:rPr>
              <a:t>RAG  ·  Module 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SlideNum 218"/>
          <p:cNvSpPr txBox="1"/>
          <p:nvPr/>
        </p:nvSpPr>
        <p:spPr>
          <a:xfrm>
            <a:off x="411480" y="256032"/>
            <a:ext cx="731520" cy="32004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>
              <a:buNone/>
            </a:pPr>
            <a:fld id="{294A09A9-5501-47C1-A89A-A340965A2BE2}" type="slidenum">
              <a:rPr lang="en-US" sz="1400" dirty="0">
                <a:solidFill>
                  <a:srgbClr val="A8BBDD"/>
                </a:solidFill>
                <a:latin typeface="Segoe UI Light"/>
              </a:rPr>
              <a:pPr>
                <a:buNone/>
              </a:pPr>
              <a:t>22</a:t>
            </a:fld>
            <a:endParaRPr lang="en-US" sz="1400" dirty="0">
              <a:solidFill>
                <a:srgbClr val="A8BBDD"/>
              </a:solidFill>
              <a:latin typeface="Segoe UI Light"/>
            </a:endParaRPr>
          </a:p>
        </p:txBody>
      </p:sp>
      <p:sp>
        <p:nvSpPr>
          <p:cNvPr id="219" name="Pill 219"/>
          <p:cNvSpPr/>
          <p:nvPr/>
        </p:nvSpPr>
        <p:spPr>
          <a:xfrm>
            <a:off x="640080" y="347472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6A6F4"/>
          </a:solidFill>
          <a:ln>
            <a:noFill/>
          </a:ln>
        </p:spPr>
        <p:txBody>
          <a:bodyPr lIns="45720" tIns="0" rIns="4572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102858"/>
                </a:solidFill>
                <a:latin typeface="Segoe UI Light"/>
              </a:rPr>
              <a:t>STEP 4</a:t>
            </a:r>
          </a:p>
        </p:txBody>
      </p:sp>
      <p:sp>
        <p:nvSpPr>
          <p:cNvPr id="220" name="TextBox 220"/>
          <p:cNvSpPr txBox="1"/>
          <p:nvPr/>
        </p:nvSpPr>
        <p:spPr>
          <a:xfrm>
            <a:off x="640080" y="841248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w Cen MT"/>
                <a:cs typeface="Tw Cen MT"/>
              </a:rPr>
              <a:t>BOILERPLATE</a:t>
            </a:r>
          </a:p>
        </p:txBody>
      </p:sp>
      <p:sp>
        <p:nvSpPr>
          <p:cNvPr id="221" name="Card 221"/>
          <p:cNvSpPr/>
          <p:nvPr/>
        </p:nvSpPr>
        <p:spPr>
          <a:xfrm>
            <a:off x="640080" y="1691640"/>
            <a:ext cx="10881360" cy="3513328"/>
          </a:xfrm>
          <a:prstGeom prst="roundRect">
            <a:avLst>
              <a:gd name="adj" fmla="val 3000"/>
            </a:avLst>
          </a:prstGeom>
          <a:solidFill>
            <a:srgbClr val="0A1C4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2" name="TextBox 222"/>
          <p:cNvSpPr txBox="1"/>
          <p:nvPr/>
        </p:nvSpPr>
        <p:spPr>
          <a:xfrm>
            <a:off x="960120" y="1975104"/>
            <a:ext cx="10332720" cy="2946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using OpenAI;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</a:rPr>
              <a:t>using </a:t>
            </a:r>
            <a:r>
              <a:rPr lang="en-US" sz="2000" dirty="0" err="1">
                <a:solidFill>
                  <a:srgbClr val="FFFFFF"/>
                </a:solidFill>
                <a:latin typeface="Consolas"/>
              </a:rPr>
              <a:t>Microsoft.Extensions.Configuration</a:t>
            </a:r>
            <a:r>
              <a:rPr lang="en-US" sz="2000" dirty="0">
                <a:solidFill>
                  <a:srgbClr val="FFFFFF"/>
                </a:solidFill>
                <a:latin typeface="Consolas"/>
              </a:rPr>
              <a:t>;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</a:rPr>
              <a:t>using Microsoft.Extensions.AI;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</a:rPr>
              <a:t>using </a:t>
            </a:r>
            <a:r>
              <a:rPr lang="en-US" sz="2000" dirty="0" err="1">
                <a:solidFill>
                  <a:srgbClr val="FFFFFF"/>
                </a:solidFill>
                <a:latin typeface="Consolas"/>
              </a:rPr>
              <a:t>Microsoft.Extensions.VectorData</a:t>
            </a:r>
            <a:r>
              <a:rPr lang="en-US" sz="2000" dirty="0">
                <a:solidFill>
                  <a:srgbClr val="FFFFFF"/>
                </a:solidFill>
                <a:latin typeface="Consolas"/>
              </a:rPr>
              <a:t>;</a:t>
            </a:r>
          </a:p>
          <a:p>
            <a:r>
              <a:rPr lang="en-US" sz="2000" dirty="0">
                <a:solidFill>
                  <a:srgbClr val="FFFFFF"/>
                </a:solidFill>
                <a:latin typeface="Consolas"/>
              </a:rPr>
              <a:t>using </a:t>
            </a:r>
            <a:r>
              <a:rPr lang="en-US" sz="2000" dirty="0" err="1">
                <a:solidFill>
                  <a:srgbClr val="FFFFFF"/>
                </a:solidFill>
                <a:latin typeface="Consolas"/>
              </a:rPr>
              <a:t>CommunityToolkit.VectorData.InMemory</a:t>
            </a:r>
            <a:r>
              <a:rPr lang="en-US" sz="2000" dirty="0">
                <a:solidFill>
                  <a:srgbClr val="FFFFFF"/>
                </a:solidFill>
                <a:latin typeface="Consolas"/>
              </a:rPr>
              <a:t>;</a:t>
            </a:r>
          </a:p>
          <a:p>
            <a:pPr algn="l">
              <a:lnSpc>
                <a:spcPct val="118000"/>
              </a:lnSpc>
              <a:buNone/>
            </a:pPr>
            <a:endParaRPr lang="en-US" sz="2000" b="0" dirty="0">
              <a:solidFill>
                <a:srgbClr val="FFFFFF"/>
              </a:solidFill>
              <a:latin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var config = new </a:t>
            </a:r>
            <a:r>
              <a:rPr lang="en-US" sz="2000" b="0" dirty="0" err="1">
                <a:solidFill>
                  <a:srgbClr val="FFFFFF"/>
                </a:solidFill>
                <a:latin typeface="Consolas"/>
                <a:cs typeface="Consolas"/>
              </a:rPr>
              <a:t>ConfigurationBuilder</a:t>
            </a: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()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    .</a:t>
            </a:r>
            <a:r>
              <a:rPr lang="en-US" sz="2000" b="0" dirty="0" err="1">
                <a:solidFill>
                  <a:srgbClr val="FFFFFF"/>
                </a:solidFill>
                <a:latin typeface="Consolas"/>
                <a:cs typeface="Consolas"/>
              </a:rPr>
              <a:t>AddUserSecrets</a:t>
            </a: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&lt;Program&gt;()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    .Build();</a:t>
            </a:r>
          </a:p>
        </p:txBody>
      </p:sp>
      <p:sp>
        <p:nvSpPr>
          <p:cNvPr id="223" name="TextBox 223"/>
          <p:cNvSpPr txBox="1"/>
          <p:nvPr/>
        </p:nvSpPr>
        <p:spPr>
          <a:xfrm>
            <a:off x="640080" y="540613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900" b="0" dirty="0">
                <a:solidFill>
                  <a:srgbClr val="64DFED"/>
                </a:solidFill>
                <a:latin typeface="Segoe UI Light"/>
                <a:cs typeface="Segoe UI Light"/>
              </a:rPr>
              <a:t>✓  We’ll be using OpenAI APIs in this demo</a:t>
            </a:r>
          </a:p>
        </p:txBody>
      </p:sp>
      <p:sp>
        <p:nvSpPr>
          <p:cNvPr id="224" name="TextBox 224"/>
          <p:cNvSpPr txBox="1"/>
          <p:nvPr/>
        </p:nvSpPr>
        <p:spPr>
          <a:xfrm>
            <a:off x="411480" y="6327648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A8BBDD"/>
                </a:solidFill>
                <a:latin typeface="Segoe UI Light"/>
                <a:cs typeface="Segoe UI Light"/>
              </a:rPr>
              <a:t>RAG  ·  Module 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45546-70CB-8D92-2A43-ACAB416C0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SlideNum 218">
            <a:extLst>
              <a:ext uri="{FF2B5EF4-FFF2-40B4-BE49-F238E27FC236}">
                <a16:creationId xmlns:a16="http://schemas.microsoft.com/office/drawing/2014/main" id="{E1DE3BA0-C1D6-FA78-F9CD-B67C21AD52EB}"/>
              </a:ext>
            </a:extLst>
          </p:cNvPr>
          <p:cNvSpPr txBox="1"/>
          <p:nvPr/>
        </p:nvSpPr>
        <p:spPr>
          <a:xfrm>
            <a:off x="411480" y="256032"/>
            <a:ext cx="731520" cy="32004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>
              <a:buNone/>
            </a:pPr>
            <a:fld id="{294A09A9-5501-47C1-A89A-A340965A2BE2}" type="slidenum">
              <a:rPr lang="en-US" sz="1400" dirty="0">
                <a:solidFill>
                  <a:srgbClr val="A8BBDD"/>
                </a:solidFill>
                <a:latin typeface="Segoe UI Light"/>
              </a:rPr>
              <a:pPr>
                <a:buNone/>
              </a:pPr>
              <a:t>23</a:t>
            </a:fld>
            <a:endParaRPr lang="en-US" sz="1400" dirty="0">
              <a:solidFill>
                <a:srgbClr val="A8BBDD"/>
              </a:solidFill>
              <a:latin typeface="Segoe UI Light"/>
            </a:endParaRPr>
          </a:p>
        </p:txBody>
      </p:sp>
      <p:sp>
        <p:nvSpPr>
          <p:cNvPr id="219" name="Pill 219">
            <a:extLst>
              <a:ext uri="{FF2B5EF4-FFF2-40B4-BE49-F238E27FC236}">
                <a16:creationId xmlns:a16="http://schemas.microsoft.com/office/drawing/2014/main" id="{4E5A8F85-B7E9-BF1E-9BD0-EB4EC3C6F042}"/>
              </a:ext>
            </a:extLst>
          </p:cNvPr>
          <p:cNvSpPr/>
          <p:nvPr/>
        </p:nvSpPr>
        <p:spPr>
          <a:xfrm>
            <a:off x="640080" y="347472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6A6F4"/>
          </a:solidFill>
          <a:ln>
            <a:noFill/>
          </a:ln>
        </p:spPr>
        <p:txBody>
          <a:bodyPr lIns="45720" tIns="0" rIns="4572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102858"/>
                </a:solidFill>
                <a:latin typeface="Segoe UI Light"/>
              </a:rPr>
              <a:t>STEP 4</a:t>
            </a:r>
          </a:p>
        </p:txBody>
      </p:sp>
      <p:sp>
        <p:nvSpPr>
          <p:cNvPr id="220" name="TextBox 220">
            <a:extLst>
              <a:ext uri="{FF2B5EF4-FFF2-40B4-BE49-F238E27FC236}">
                <a16:creationId xmlns:a16="http://schemas.microsoft.com/office/drawing/2014/main" id="{A3423A3D-4DE3-6B86-8256-DA98D6D7177B}"/>
              </a:ext>
            </a:extLst>
          </p:cNvPr>
          <p:cNvSpPr txBox="1"/>
          <p:nvPr/>
        </p:nvSpPr>
        <p:spPr>
          <a:xfrm>
            <a:off x="640080" y="841248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w Cen MT"/>
                <a:cs typeface="Tw Cen MT"/>
              </a:rPr>
              <a:t>CREATE THE CLIENTS</a:t>
            </a:r>
          </a:p>
        </p:txBody>
      </p:sp>
      <p:sp>
        <p:nvSpPr>
          <p:cNvPr id="221" name="Card 221">
            <a:extLst>
              <a:ext uri="{FF2B5EF4-FFF2-40B4-BE49-F238E27FC236}">
                <a16:creationId xmlns:a16="http://schemas.microsoft.com/office/drawing/2014/main" id="{11E80FCE-01E1-E01E-54A5-3DA27A5C3A2B}"/>
              </a:ext>
            </a:extLst>
          </p:cNvPr>
          <p:cNvSpPr/>
          <p:nvPr/>
        </p:nvSpPr>
        <p:spPr>
          <a:xfrm>
            <a:off x="640080" y="1691640"/>
            <a:ext cx="10881360" cy="3513328"/>
          </a:xfrm>
          <a:prstGeom prst="roundRect">
            <a:avLst>
              <a:gd name="adj" fmla="val 3000"/>
            </a:avLst>
          </a:prstGeom>
          <a:solidFill>
            <a:srgbClr val="0A1C4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2" name="TextBox 222">
            <a:extLst>
              <a:ext uri="{FF2B5EF4-FFF2-40B4-BE49-F238E27FC236}">
                <a16:creationId xmlns:a16="http://schemas.microsoft.com/office/drawing/2014/main" id="{1C11C8B4-372E-7B71-EE1F-793529659394}"/>
              </a:ext>
            </a:extLst>
          </p:cNvPr>
          <p:cNvSpPr txBox="1"/>
          <p:nvPr/>
        </p:nvSpPr>
        <p:spPr>
          <a:xfrm>
            <a:off x="960120" y="1975104"/>
            <a:ext cx="10332720" cy="2946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var openAi = new OpenAIClient(config["OpenAI:Key"]!);</a:t>
            </a:r>
          </a:p>
          <a:p>
            <a:pPr algn="l">
              <a:lnSpc>
                <a:spcPct val="118000"/>
              </a:lnSpc>
              <a:buNone/>
            </a:pPr>
            <a:endParaRPr lang="en-US" sz="2000" dirty="0"/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var embedder = openAi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    .GetEmbeddingClient("text-embedding-3-small")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    .AsIEmbeddingGenerator();</a:t>
            </a:r>
          </a:p>
          <a:p>
            <a:pPr algn="l">
              <a:lnSpc>
                <a:spcPct val="118000"/>
              </a:lnSpc>
              <a:buNone/>
            </a:pPr>
            <a:endParaRPr lang="en-US" sz="2000" dirty="0"/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var chat = openAi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    .GetChatClient("gpt-4o-mini").AsIChatClient();</a:t>
            </a:r>
          </a:p>
        </p:txBody>
      </p:sp>
      <p:sp>
        <p:nvSpPr>
          <p:cNvPr id="223" name="TextBox 223">
            <a:extLst>
              <a:ext uri="{FF2B5EF4-FFF2-40B4-BE49-F238E27FC236}">
                <a16:creationId xmlns:a16="http://schemas.microsoft.com/office/drawing/2014/main" id="{79048337-6F84-F516-1738-47DD12D97A32}"/>
              </a:ext>
            </a:extLst>
          </p:cNvPr>
          <p:cNvSpPr txBox="1"/>
          <p:nvPr/>
        </p:nvSpPr>
        <p:spPr>
          <a:xfrm>
            <a:off x="640080" y="540613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900" b="0" dirty="0">
                <a:solidFill>
                  <a:srgbClr val="64DFED"/>
                </a:solidFill>
                <a:latin typeface="Segoe UI Light"/>
                <a:cs typeface="Segoe UI Light"/>
              </a:rPr>
              <a:t>✓  Two clients: one makes vectors, one writes answers</a:t>
            </a:r>
          </a:p>
        </p:txBody>
      </p:sp>
      <p:sp>
        <p:nvSpPr>
          <p:cNvPr id="224" name="TextBox 224">
            <a:extLst>
              <a:ext uri="{FF2B5EF4-FFF2-40B4-BE49-F238E27FC236}">
                <a16:creationId xmlns:a16="http://schemas.microsoft.com/office/drawing/2014/main" id="{EEF20391-E8EB-85A8-0DE3-1B9CA6E43000}"/>
              </a:ext>
            </a:extLst>
          </p:cNvPr>
          <p:cNvSpPr txBox="1"/>
          <p:nvPr/>
        </p:nvSpPr>
        <p:spPr>
          <a:xfrm>
            <a:off x="411480" y="6327648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A8BBDD"/>
                </a:solidFill>
                <a:latin typeface="Segoe UI Light"/>
                <a:cs typeface="Segoe UI Light"/>
              </a:rPr>
              <a:t>RAG  ·  Module 1</a:t>
            </a:r>
          </a:p>
        </p:txBody>
      </p:sp>
    </p:spTree>
    <p:extLst>
      <p:ext uri="{BB962C8B-B14F-4D97-AF65-F5344CB8AC3E}">
        <p14:creationId xmlns:p14="http://schemas.microsoft.com/office/powerpoint/2010/main" val="10855329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SlideNum 225"/>
          <p:cNvSpPr txBox="1"/>
          <p:nvPr/>
        </p:nvSpPr>
        <p:spPr>
          <a:xfrm>
            <a:off x="411480" y="256032"/>
            <a:ext cx="731520" cy="32004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>
              <a:buNone/>
            </a:pPr>
            <a:fld id="{294A09A9-5501-47C1-A89A-A340965A2BE2}" type="slidenum">
              <a:rPr lang="en-US" sz="1400" dirty="0">
                <a:solidFill>
                  <a:srgbClr val="A8BBDD"/>
                </a:solidFill>
                <a:latin typeface="Segoe UI Light"/>
              </a:rPr>
              <a:pPr>
                <a:buNone/>
              </a:pPr>
              <a:t>24</a:t>
            </a:fld>
            <a:endParaRPr lang="en-US" sz="1400" dirty="0">
              <a:solidFill>
                <a:srgbClr val="A8BBDD"/>
              </a:solidFill>
              <a:latin typeface="Segoe UI Light"/>
            </a:endParaRPr>
          </a:p>
        </p:txBody>
      </p:sp>
      <p:sp>
        <p:nvSpPr>
          <p:cNvPr id="226" name="Pill 226"/>
          <p:cNvSpPr/>
          <p:nvPr/>
        </p:nvSpPr>
        <p:spPr>
          <a:xfrm>
            <a:off x="640080" y="347472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6A6F4"/>
          </a:solidFill>
          <a:ln>
            <a:noFill/>
          </a:ln>
        </p:spPr>
        <p:txBody>
          <a:bodyPr lIns="45720" tIns="0" rIns="4572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102858"/>
                </a:solidFill>
                <a:latin typeface="Segoe UI Light"/>
              </a:rPr>
              <a:t>STEP 5</a:t>
            </a:r>
          </a:p>
        </p:txBody>
      </p:sp>
      <p:sp>
        <p:nvSpPr>
          <p:cNvPr id="227" name="TextBox 227"/>
          <p:cNvSpPr txBox="1"/>
          <p:nvPr/>
        </p:nvSpPr>
        <p:spPr>
          <a:xfrm>
            <a:off x="640080" y="841248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w Cen MT"/>
                <a:cs typeface="Tw Cen MT"/>
              </a:rPr>
              <a:t>DEFINE THE RECORD</a:t>
            </a:r>
          </a:p>
        </p:txBody>
      </p:sp>
      <p:sp>
        <p:nvSpPr>
          <p:cNvPr id="228" name="Card 228"/>
          <p:cNvSpPr/>
          <p:nvPr/>
        </p:nvSpPr>
        <p:spPr>
          <a:xfrm>
            <a:off x="640080" y="1691640"/>
            <a:ext cx="10881360" cy="3513328"/>
          </a:xfrm>
          <a:prstGeom prst="roundRect">
            <a:avLst>
              <a:gd name="adj" fmla="val 3000"/>
            </a:avLst>
          </a:prstGeom>
          <a:solidFill>
            <a:srgbClr val="0A1C4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9" name="TextBox 229"/>
          <p:cNvSpPr txBox="1"/>
          <p:nvPr/>
        </p:nvSpPr>
        <p:spPr>
          <a:xfrm>
            <a:off x="960120" y="1975104"/>
            <a:ext cx="10332720" cy="2946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public class PageChunk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{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    [VectorStoreKey]  public string Id { get; set; } = "";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    [VectorStoreData] public string Text { get; set; } = "";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    [VectorStoreData] public string Url { get; set; } = "";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    [VectorStoreVector(1536)]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    public ReadOnlyMemory&lt;float&gt; Embedding { get; set; }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230" name="TextBox 230"/>
          <p:cNvSpPr txBox="1"/>
          <p:nvPr/>
        </p:nvSpPr>
        <p:spPr>
          <a:xfrm>
            <a:off x="640080" y="540613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900" b="0" dirty="0">
                <a:solidFill>
                  <a:srgbClr val="64DFED"/>
                </a:solidFill>
                <a:latin typeface="Segoe UI Light"/>
                <a:cs typeface="Segoe UI Light"/>
              </a:rPr>
              <a:t>✓  1536 must match the embedding model’s dimensions</a:t>
            </a:r>
          </a:p>
        </p:txBody>
      </p:sp>
      <p:sp>
        <p:nvSpPr>
          <p:cNvPr id="231" name="TextBox 231"/>
          <p:cNvSpPr txBox="1"/>
          <p:nvPr/>
        </p:nvSpPr>
        <p:spPr>
          <a:xfrm>
            <a:off x="411480" y="6327648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A8BBDD"/>
                </a:solidFill>
                <a:latin typeface="Segoe UI Light"/>
                <a:cs typeface="Segoe UI Light"/>
              </a:rPr>
              <a:t>RAG  ·  Module 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SlideNum 232"/>
          <p:cNvSpPr txBox="1"/>
          <p:nvPr/>
        </p:nvSpPr>
        <p:spPr>
          <a:xfrm>
            <a:off x="411480" y="256032"/>
            <a:ext cx="731520" cy="32004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>
              <a:buNone/>
            </a:pPr>
            <a:fld id="{294A09A9-5501-47C1-A89A-A340965A2BE2}" type="slidenum">
              <a:rPr lang="en-US" sz="1400" dirty="0">
                <a:solidFill>
                  <a:srgbClr val="A8BBDD"/>
                </a:solidFill>
                <a:latin typeface="Segoe UI Light"/>
              </a:rPr>
              <a:pPr>
                <a:buNone/>
              </a:pPr>
              <a:t>25</a:t>
            </a:fld>
            <a:endParaRPr lang="en-US" sz="1400" dirty="0">
              <a:solidFill>
                <a:srgbClr val="A8BBDD"/>
              </a:solidFill>
              <a:latin typeface="Segoe UI Light"/>
            </a:endParaRPr>
          </a:p>
        </p:txBody>
      </p:sp>
      <p:sp>
        <p:nvSpPr>
          <p:cNvPr id="233" name="Pill 233"/>
          <p:cNvSpPr/>
          <p:nvPr/>
        </p:nvSpPr>
        <p:spPr>
          <a:xfrm>
            <a:off x="640080" y="347472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6A6F4"/>
          </a:solidFill>
          <a:ln>
            <a:noFill/>
          </a:ln>
        </p:spPr>
        <p:txBody>
          <a:bodyPr lIns="45720" tIns="0" rIns="4572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102858"/>
                </a:solidFill>
                <a:latin typeface="Segoe UI Light"/>
              </a:rPr>
              <a:t>STEP 6</a:t>
            </a:r>
          </a:p>
        </p:txBody>
      </p:sp>
      <p:sp>
        <p:nvSpPr>
          <p:cNvPr id="234" name="TextBox 234"/>
          <p:cNvSpPr txBox="1"/>
          <p:nvPr/>
        </p:nvSpPr>
        <p:spPr>
          <a:xfrm>
            <a:off x="640080" y="841248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w Cen MT"/>
                <a:cs typeface="Tw Cen MT"/>
              </a:rPr>
              <a:t>CREATE THE VECTOR STORE</a:t>
            </a:r>
          </a:p>
        </p:txBody>
      </p:sp>
      <p:sp>
        <p:nvSpPr>
          <p:cNvPr id="235" name="Card 235"/>
          <p:cNvSpPr/>
          <p:nvPr/>
        </p:nvSpPr>
        <p:spPr>
          <a:xfrm>
            <a:off x="640080" y="1691640"/>
            <a:ext cx="10881360" cy="3145028"/>
          </a:xfrm>
          <a:prstGeom prst="roundRect">
            <a:avLst>
              <a:gd name="adj" fmla="val 3000"/>
            </a:avLst>
          </a:prstGeom>
          <a:solidFill>
            <a:srgbClr val="0A1C4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6" name="TextBox 236"/>
          <p:cNvSpPr txBox="1"/>
          <p:nvPr/>
        </p:nvSpPr>
        <p:spPr>
          <a:xfrm>
            <a:off x="960120" y="1975104"/>
            <a:ext cx="10332720" cy="2578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var store = new InMemoryVectorStore(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    new() { EmbeddingGenerator = embedder });</a:t>
            </a:r>
          </a:p>
          <a:p>
            <a:pPr algn="l">
              <a:lnSpc>
                <a:spcPct val="118000"/>
              </a:lnSpc>
              <a:buNone/>
            </a:pPr>
            <a:endParaRPr lang="en-US" sz="2000" dirty="0"/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var pages = store.GetCollection&lt;string, PageChunk&gt;(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    "site-pages");</a:t>
            </a:r>
          </a:p>
          <a:p>
            <a:pPr algn="l">
              <a:lnSpc>
                <a:spcPct val="118000"/>
              </a:lnSpc>
              <a:buNone/>
            </a:pPr>
            <a:endParaRPr lang="en-US" sz="2000" dirty="0"/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await pages.EnsureCollectionExistsAsync();</a:t>
            </a:r>
          </a:p>
        </p:txBody>
      </p:sp>
      <p:sp>
        <p:nvSpPr>
          <p:cNvPr id="237" name="TextBox 237"/>
          <p:cNvSpPr txBox="1"/>
          <p:nvPr/>
        </p:nvSpPr>
        <p:spPr>
          <a:xfrm>
            <a:off x="640080" y="503783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900" b="0" dirty="0">
                <a:solidFill>
                  <a:srgbClr val="64DFED"/>
                </a:solidFill>
                <a:latin typeface="Segoe UI Light"/>
                <a:cs typeface="Segoe UI Light"/>
              </a:rPr>
              <a:t>✓  This is a “toy” in-memory vector store</a:t>
            </a:r>
          </a:p>
        </p:txBody>
      </p:sp>
      <p:sp>
        <p:nvSpPr>
          <p:cNvPr id="238" name="TextBox 238"/>
          <p:cNvSpPr txBox="1"/>
          <p:nvPr/>
        </p:nvSpPr>
        <p:spPr>
          <a:xfrm>
            <a:off x="411480" y="6327648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A8BBDD"/>
                </a:solidFill>
                <a:latin typeface="Segoe UI Light"/>
                <a:cs typeface="Segoe UI Light"/>
              </a:rPr>
              <a:t>RAG  ·  Module 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lideNum 239"/>
          <p:cNvSpPr txBox="1"/>
          <p:nvPr/>
        </p:nvSpPr>
        <p:spPr>
          <a:xfrm>
            <a:off x="411480" y="256032"/>
            <a:ext cx="731520" cy="32004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>
              <a:buNone/>
            </a:pPr>
            <a:fld id="{294A09A9-5501-47C1-A89A-A340965A2BE2}" type="slidenum">
              <a:rPr lang="en-US" sz="1400" dirty="0">
                <a:solidFill>
                  <a:srgbClr val="A8BBDD"/>
                </a:solidFill>
                <a:latin typeface="Segoe UI Light"/>
              </a:rPr>
              <a:pPr>
                <a:buNone/>
              </a:pPr>
              <a:t>26</a:t>
            </a:fld>
            <a:endParaRPr lang="en-US" sz="1400" dirty="0">
              <a:solidFill>
                <a:srgbClr val="A8BBDD"/>
              </a:solidFill>
              <a:latin typeface="Segoe UI Light"/>
            </a:endParaRPr>
          </a:p>
        </p:txBody>
      </p:sp>
      <p:sp>
        <p:nvSpPr>
          <p:cNvPr id="240" name="Pill 240"/>
          <p:cNvSpPr/>
          <p:nvPr/>
        </p:nvSpPr>
        <p:spPr>
          <a:xfrm>
            <a:off x="640080" y="347472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6A6F4"/>
          </a:solidFill>
          <a:ln>
            <a:noFill/>
          </a:ln>
        </p:spPr>
        <p:txBody>
          <a:bodyPr lIns="45720" tIns="0" rIns="4572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102858"/>
                </a:solidFill>
                <a:latin typeface="Segoe UI Light"/>
              </a:rPr>
              <a:t>STEP 7</a:t>
            </a:r>
          </a:p>
        </p:txBody>
      </p:sp>
      <p:sp>
        <p:nvSpPr>
          <p:cNvPr id="241" name="TextBox 241"/>
          <p:cNvSpPr txBox="1"/>
          <p:nvPr/>
        </p:nvSpPr>
        <p:spPr>
          <a:xfrm>
            <a:off x="640080" y="841248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w Cen MT"/>
                <a:cs typeface="Tw Cen MT"/>
              </a:rPr>
              <a:t>POINT AT THE CORPUS</a:t>
            </a:r>
          </a:p>
        </p:txBody>
      </p:sp>
      <p:sp>
        <p:nvSpPr>
          <p:cNvPr id="242" name="Card 242"/>
          <p:cNvSpPr/>
          <p:nvPr/>
        </p:nvSpPr>
        <p:spPr>
          <a:xfrm>
            <a:off x="640080" y="1691640"/>
            <a:ext cx="10881360" cy="3145028"/>
          </a:xfrm>
          <a:prstGeom prst="roundRect">
            <a:avLst>
              <a:gd name="adj" fmla="val 3000"/>
            </a:avLst>
          </a:prstGeom>
          <a:solidFill>
            <a:srgbClr val="0A1C4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3" name="TextBox 243"/>
          <p:cNvSpPr txBox="1"/>
          <p:nvPr/>
        </p:nvSpPr>
        <p:spPr>
          <a:xfrm>
            <a:off x="960120" y="1975104"/>
            <a:ext cx="10332720" cy="2578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var files = Directory.GetFiles("docs", "*.md");</a:t>
            </a:r>
          </a:p>
          <a:p>
            <a:pPr algn="l">
              <a:lnSpc>
                <a:spcPct val="118000"/>
              </a:lnSpc>
              <a:buNone/>
            </a:pPr>
            <a:endParaRPr lang="en-US" sz="2000" dirty="0"/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foreach (var file in files)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{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    var text = await File.ReadAllTextAsync(file);</a:t>
            </a:r>
          </a:p>
          <a:p>
            <a:pPr>
              <a:lnSpc>
                <a:spcPct val="118000"/>
              </a:lnSpc>
            </a:pPr>
            <a:r>
              <a:rPr lang="en-US" sz="2000" dirty="0">
                <a:solidFill>
                  <a:srgbClr val="FFFFFF"/>
                </a:solidFill>
                <a:latin typeface="Consolas"/>
              </a:rPr>
              <a:t>    </a:t>
            </a:r>
            <a:r>
              <a:rPr lang="en-US" sz="2000" dirty="0" err="1">
                <a:solidFill>
                  <a:srgbClr val="FFFFFF"/>
                </a:solidFill>
                <a:latin typeface="Consolas"/>
              </a:rPr>
              <a:t>Console.WriteLine</a:t>
            </a:r>
            <a:r>
              <a:rPr lang="en-US" sz="2000" dirty="0">
                <a:solidFill>
                  <a:srgbClr val="FFFFFF"/>
                </a:solidFill>
                <a:latin typeface="Consolas"/>
              </a:rPr>
              <a:t>($"Loading file {file}...");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    // chunk + embed next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244" name="TextBox 244"/>
          <p:cNvSpPr txBox="1"/>
          <p:nvPr/>
        </p:nvSpPr>
        <p:spPr>
          <a:xfrm>
            <a:off x="640080" y="503783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900" b="0" dirty="0">
                <a:solidFill>
                  <a:srgbClr val="64DFED"/>
                </a:solidFill>
                <a:latin typeface="Segoe UI Light"/>
                <a:cs typeface="Segoe UI Light"/>
              </a:rPr>
              <a:t>✓  8 pages saved from the target website sit in docs/</a:t>
            </a:r>
          </a:p>
        </p:txBody>
      </p:sp>
      <p:sp>
        <p:nvSpPr>
          <p:cNvPr id="245" name="TextBox 245"/>
          <p:cNvSpPr txBox="1"/>
          <p:nvPr/>
        </p:nvSpPr>
        <p:spPr>
          <a:xfrm>
            <a:off x="411480" y="6327648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A8BBDD"/>
                </a:solidFill>
                <a:latin typeface="Segoe UI Light"/>
                <a:cs typeface="Segoe UI Light"/>
              </a:rPr>
              <a:t>RAG  ·  Module 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SlideNum 246"/>
          <p:cNvSpPr txBox="1"/>
          <p:nvPr/>
        </p:nvSpPr>
        <p:spPr>
          <a:xfrm>
            <a:off x="411480" y="256032"/>
            <a:ext cx="731520" cy="32004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>
              <a:buNone/>
            </a:pPr>
            <a:fld id="{294A09A9-5501-47C1-A89A-A340965A2BE2}" type="slidenum">
              <a:rPr lang="en-US" sz="1400" dirty="0">
                <a:solidFill>
                  <a:srgbClr val="A8BBDD"/>
                </a:solidFill>
                <a:latin typeface="Segoe UI Light"/>
              </a:rPr>
              <a:pPr>
                <a:buNone/>
              </a:pPr>
              <a:t>27</a:t>
            </a:fld>
            <a:endParaRPr lang="en-US" sz="1400" dirty="0">
              <a:solidFill>
                <a:srgbClr val="A8BBDD"/>
              </a:solidFill>
              <a:latin typeface="Segoe UI Light"/>
            </a:endParaRPr>
          </a:p>
        </p:txBody>
      </p:sp>
      <p:sp>
        <p:nvSpPr>
          <p:cNvPr id="247" name="Pill 247"/>
          <p:cNvSpPr/>
          <p:nvPr/>
        </p:nvSpPr>
        <p:spPr>
          <a:xfrm>
            <a:off x="640080" y="347472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6A6F4"/>
          </a:solidFill>
          <a:ln>
            <a:noFill/>
          </a:ln>
        </p:spPr>
        <p:txBody>
          <a:bodyPr lIns="45720" tIns="0" rIns="4572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102858"/>
                </a:solidFill>
                <a:latin typeface="Segoe UI Light"/>
              </a:rPr>
              <a:t>STEP 8</a:t>
            </a:r>
          </a:p>
        </p:txBody>
      </p:sp>
      <p:sp>
        <p:nvSpPr>
          <p:cNvPr id="248" name="TextBox 248"/>
          <p:cNvSpPr txBox="1"/>
          <p:nvPr/>
        </p:nvSpPr>
        <p:spPr>
          <a:xfrm>
            <a:off x="640080" y="841248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w Cen MT"/>
                <a:cs typeface="Tw Cen MT"/>
              </a:rPr>
              <a:t>INGEST: EMBED AND UPSERT</a:t>
            </a:r>
          </a:p>
        </p:txBody>
      </p:sp>
      <p:sp>
        <p:nvSpPr>
          <p:cNvPr id="249" name="Card 249"/>
          <p:cNvSpPr/>
          <p:nvPr/>
        </p:nvSpPr>
        <p:spPr>
          <a:xfrm>
            <a:off x="640080" y="1691640"/>
            <a:ext cx="10881360" cy="3513328"/>
          </a:xfrm>
          <a:prstGeom prst="roundRect">
            <a:avLst>
              <a:gd name="adj" fmla="val 3000"/>
            </a:avLst>
          </a:prstGeom>
          <a:solidFill>
            <a:srgbClr val="0A1C4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0" name="TextBox 250"/>
          <p:cNvSpPr txBox="1"/>
          <p:nvPr/>
        </p:nvSpPr>
        <p:spPr>
          <a:xfrm>
            <a:off x="960120" y="1975104"/>
            <a:ext cx="10332720" cy="2946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92D050"/>
                </a:solidFill>
                <a:latin typeface="Consolas"/>
                <a:cs typeface="Consolas"/>
              </a:rPr>
              <a:t>// continue inside for loop:</a:t>
            </a:r>
          </a:p>
          <a:p>
            <a:pPr algn="l">
              <a:lnSpc>
                <a:spcPct val="118000"/>
              </a:lnSpc>
              <a:buNone/>
            </a:pPr>
            <a:endParaRPr lang="en-US" sz="2000" b="0" dirty="0">
              <a:solidFill>
                <a:srgbClr val="FFFFFF"/>
              </a:solidFill>
              <a:latin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var v = await </a:t>
            </a:r>
            <a:r>
              <a:rPr lang="en-US" sz="2000" b="0" dirty="0" err="1">
                <a:solidFill>
                  <a:srgbClr val="FFFFFF"/>
                </a:solidFill>
                <a:latin typeface="Consolas"/>
                <a:cs typeface="Consolas"/>
              </a:rPr>
              <a:t>embedder.GenerateAsync</a:t>
            </a: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(text);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    await pages.UpsertAsync(new PageChunk {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        Id = Guid.NewGuid().ToString(),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        Text = text, Url = file,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        Embedding = v.Vector });</a:t>
            </a:r>
          </a:p>
          <a:p>
            <a:pPr algn="l">
              <a:lnSpc>
                <a:spcPct val="118000"/>
              </a:lnSpc>
              <a:buNone/>
            </a:pPr>
            <a:endParaRPr lang="en-US" sz="2000" b="0" dirty="0">
              <a:solidFill>
                <a:srgbClr val="FFFFFF"/>
              </a:solidFill>
              <a:latin typeface="Consolas"/>
              <a:cs typeface="Consolas"/>
            </a:endParaRPr>
          </a:p>
        </p:txBody>
      </p:sp>
      <p:sp>
        <p:nvSpPr>
          <p:cNvPr id="251" name="TextBox 251"/>
          <p:cNvSpPr txBox="1"/>
          <p:nvPr/>
        </p:nvSpPr>
        <p:spPr>
          <a:xfrm>
            <a:off x="640080" y="540613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900" b="0" dirty="0">
                <a:solidFill>
                  <a:srgbClr val="64DFED"/>
                </a:solidFill>
                <a:latin typeface="Segoe UI Light"/>
                <a:cs typeface="Segoe UI Light"/>
              </a:rPr>
              <a:t>✓  The texts and their vectors are stored together</a:t>
            </a:r>
          </a:p>
        </p:txBody>
      </p:sp>
      <p:sp>
        <p:nvSpPr>
          <p:cNvPr id="252" name="TextBox 252"/>
          <p:cNvSpPr txBox="1"/>
          <p:nvPr/>
        </p:nvSpPr>
        <p:spPr>
          <a:xfrm>
            <a:off x="411480" y="6327648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A8BBDD"/>
                </a:solidFill>
                <a:latin typeface="Segoe UI Light"/>
                <a:cs typeface="Segoe UI Light"/>
              </a:rPr>
              <a:t>RAG  ·  Module 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lideNum 253"/>
          <p:cNvSpPr txBox="1"/>
          <p:nvPr/>
        </p:nvSpPr>
        <p:spPr>
          <a:xfrm>
            <a:off x="411480" y="256032"/>
            <a:ext cx="731520" cy="32004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>
              <a:buNone/>
            </a:pPr>
            <a:fld id="{294A09A9-5501-47C1-A89A-A340965A2BE2}" type="slidenum">
              <a:rPr lang="en-US" sz="1400" dirty="0">
                <a:solidFill>
                  <a:srgbClr val="A8BBDD"/>
                </a:solidFill>
                <a:latin typeface="Segoe UI Light"/>
              </a:rPr>
              <a:pPr>
                <a:buNone/>
              </a:pPr>
              <a:t>28</a:t>
            </a:fld>
            <a:endParaRPr lang="en-US" sz="1400" dirty="0">
              <a:solidFill>
                <a:srgbClr val="A8BBDD"/>
              </a:solidFill>
              <a:latin typeface="Segoe UI Light"/>
            </a:endParaRPr>
          </a:p>
        </p:txBody>
      </p:sp>
      <p:sp>
        <p:nvSpPr>
          <p:cNvPr id="254" name="Pill 254"/>
          <p:cNvSpPr/>
          <p:nvPr/>
        </p:nvSpPr>
        <p:spPr>
          <a:xfrm>
            <a:off x="640080" y="347472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6A6F4"/>
          </a:solidFill>
          <a:ln>
            <a:noFill/>
          </a:ln>
        </p:spPr>
        <p:txBody>
          <a:bodyPr lIns="45720" tIns="0" rIns="4572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102858"/>
                </a:solidFill>
                <a:latin typeface="Segoe UI Light"/>
              </a:rPr>
              <a:t>STEP 9</a:t>
            </a:r>
          </a:p>
        </p:txBody>
      </p:sp>
      <p:sp>
        <p:nvSpPr>
          <p:cNvPr id="255" name="TextBox 255"/>
          <p:cNvSpPr txBox="1"/>
          <p:nvPr/>
        </p:nvSpPr>
        <p:spPr>
          <a:xfrm>
            <a:off x="640080" y="841248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w Cen MT"/>
                <a:cs typeface="Tw Cen MT"/>
              </a:rPr>
              <a:t>QUERY: SEARCH THE STORE</a:t>
            </a:r>
          </a:p>
        </p:txBody>
      </p:sp>
      <p:sp>
        <p:nvSpPr>
          <p:cNvPr id="256" name="Card 256"/>
          <p:cNvSpPr/>
          <p:nvPr/>
        </p:nvSpPr>
        <p:spPr>
          <a:xfrm>
            <a:off x="640080" y="1691640"/>
            <a:ext cx="10881360" cy="2776728"/>
          </a:xfrm>
          <a:prstGeom prst="roundRect">
            <a:avLst>
              <a:gd name="adj" fmla="val 3000"/>
            </a:avLst>
          </a:prstGeom>
          <a:solidFill>
            <a:srgbClr val="0A1C4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7" name="TextBox 257"/>
          <p:cNvSpPr txBox="1"/>
          <p:nvPr/>
        </p:nvSpPr>
        <p:spPr>
          <a:xfrm>
            <a:off x="960120" y="1975104"/>
            <a:ext cx="10332720" cy="2209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Console.Write("Question: ");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var question = Console.ReadLine()!;</a:t>
            </a:r>
          </a:p>
          <a:p>
            <a:pPr algn="l">
              <a:lnSpc>
                <a:spcPct val="118000"/>
              </a:lnSpc>
              <a:buNone/>
            </a:pPr>
            <a:endParaRPr lang="en-US" sz="2000" dirty="0"/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var qv = await embedder.GenerateAsync(question);</a:t>
            </a:r>
          </a:p>
          <a:p>
            <a:pPr algn="l">
              <a:lnSpc>
                <a:spcPct val="118000"/>
              </a:lnSpc>
              <a:buNone/>
            </a:pPr>
            <a:endParaRPr lang="en-US" sz="2000" dirty="0"/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var hits = pages.SearchAsync(qv.Vector, top: 3);</a:t>
            </a:r>
          </a:p>
        </p:txBody>
      </p:sp>
      <p:sp>
        <p:nvSpPr>
          <p:cNvPr id="258" name="TextBox 258"/>
          <p:cNvSpPr txBox="1"/>
          <p:nvPr/>
        </p:nvSpPr>
        <p:spPr>
          <a:xfrm>
            <a:off x="640080" y="466953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900" b="0" dirty="0">
                <a:solidFill>
                  <a:srgbClr val="64DFED"/>
                </a:solidFill>
                <a:latin typeface="Segoe UI Light"/>
                <a:cs typeface="Segoe UI Light"/>
              </a:rPr>
              <a:t>✓  Three chunks come back, each with a similarity score</a:t>
            </a:r>
          </a:p>
        </p:txBody>
      </p:sp>
      <p:sp>
        <p:nvSpPr>
          <p:cNvPr id="259" name="TextBox 259"/>
          <p:cNvSpPr txBox="1"/>
          <p:nvPr/>
        </p:nvSpPr>
        <p:spPr>
          <a:xfrm>
            <a:off x="411480" y="6327648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A8BBDD"/>
                </a:solidFill>
                <a:latin typeface="Segoe UI Light"/>
                <a:cs typeface="Segoe UI Light"/>
              </a:rPr>
              <a:t>RAG  ·  Module 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SlideNum 260"/>
          <p:cNvSpPr txBox="1"/>
          <p:nvPr/>
        </p:nvSpPr>
        <p:spPr>
          <a:xfrm>
            <a:off x="411480" y="256032"/>
            <a:ext cx="731520" cy="32004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>
              <a:buNone/>
            </a:pPr>
            <a:fld id="{294A09A9-5501-47C1-A89A-A340965A2BE2}" type="slidenum">
              <a:rPr lang="en-US" sz="1400" dirty="0">
                <a:solidFill>
                  <a:srgbClr val="A8BBDD"/>
                </a:solidFill>
                <a:latin typeface="Segoe UI Light"/>
              </a:rPr>
              <a:pPr>
                <a:buNone/>
              </a:pPr>
              <a:t>29</a:t>
            </a:fld>
            <a:endParaRPr lang="en-US" sz="1400" dirty="0">
              <a:solidFill>
                <a:srgbClr val="A8BBDD"/>
              </a:solidFill>
              <a:latin typeface="Segoe UI Light"/>
            </a:endParaRPr>
          </a:p>
        </p:txBody>
      </p:sp>
      <p:sp>
        <p:nvSpPr>
          <p:cNvPr id="261" name="Pill 261"/>
          <p:cNvSpPr/>
          <p:nvPr/>
        </p:nvSpPr>
        <p:spPr>
          <a:xfrm>
            <a:off x="640080" y="347472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6A6F4"/>
          </a:solidFill>
          <a:ln>
            <a:noFill/>
          </a:ln>
        </p:spPr>
        <p:txBody>
          <a:bodyPr lIns="45720" tIns="0" rIns="4572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102858"/>
                </a:solidFill>
                <a:latin typeface="Segoe UI Light"/>
              </a:rPr>
              <a:t>STEP 10</a:t>
            </a:r>
          </a:p>
        </p:txBody>
      </p:sp>
      <p:sp>
        <p:nvSpPr>
          <p:cNvPr id="262" name="TextBox 262"/>
          <p:cNvSpPr txBox="1"/>
          <p:nvPr/>
        </p:nvSpPr>
        <p:spPr>
          <a:xfrm>
            <a:off x="640080" y="841248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w Cen MT"/>
                <a:cs typeface="Tw Cen MT"/>
              </a:rPr>
              <a:t>BUILD THE AUGMENTED PROMPT</a:t>
            </a:r>
          </a:p>
        </p:txBody>
      </p:sp>
      <p:sp>
        <p:nvSpPr>
          <p:cNvPr id="263" name="Card 263"/>
          <p:cNvSpPr/>
          <p:nvPr/>
        </p:nvSpPr>
        <p:spPr>
          <a:xfrm>
            <a:off x="640080" y="1691640"/>
            <a:ext cx="10881360" cy="3881628"/>
          </a:xfrm>
          <a:prstGeom prst="roundRect">
            <a:avLst>
              <a:gd name="adj" fmla="val 3000"/>
            </a:avLst>
          </a:prstGeom>
          <a:solidFill>
            <a:srgbClr val="0A1C4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4" name="TextBox 264"/>
          <p:cNvSpPr txBox="1"/>
          <p:nvPr/>
        </p:nvSpPr>
        <p:spPr>
          <a:xfrm>
            <a:off x="960120" y="1975104"/>
            <a:ext cx="10332720" cy="33147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var context = new StringBuilder();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await foreach (var hit in hits)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    context.AppendLine(hit.Record.Text);</a:t>
            </a:r>
          </a:p>
          <a:p>
            <a:pPr algn="l">
              <a:lnSpc>
                <a:spcPct val="118000"/>
              </a:lnSpc>
              <a:buNone/>
            </a:pPr>
            <a:endParaRPr lang="en-US" sz="2000" dirty="0"/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var prompt = $"""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    Answer using ONLY the context below.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    CONTEXT:  {context}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    QUESTION: {question}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    """;</a:t>
            </a:r>
          </a:p>
        </p:txBody>
      </p:sp>
      <p:sp>
        <p:nvSpPr>
          <p:cNvPr id="265" name="TextBox 265"/>
          <p:cNvSpPr txBox="1"/>
          <p:nvPr/>
        </p:nvSpPr>
        <p:spPr>
          <a:xfrm>
            <a:off x="640080" y="577443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900" b="0" dirty="0">
                <a:solidFill>
                  <a:srgbClr val="64DFED"/>
                </a:solidFill>
                <a:latin typeface="Segoe UI Light"/>
                <a:cs typeface="Segoe UI Light"/>
              </a:rPr>
              <a:t>✓  This prompt is the whole trick — print it and read it</a:t>
            </a:r>
          </a:p>
        </p:txBody>
      </p:sp>
      <p:sp>
        <p:nvSpPr>
          <p:cNvPr id="266" name="TextBox 266"/>
          <p:cNvSpPr txBox="1"/>
          <p:nvPr/>
        </p:nvSpPr>
        <p:spPr>
          <a:xfrm>
            <a:off x="411480" y="6327648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A8BBDD"/>
                </a:solidFill>
                <a:latin typeface="Segoe UI Light"/>
                <a:cs typeface="Segoe UI Light"/>
              </a:rPr>
              <a:t>RAG  ·  Module 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SlideNum 267"/>
          <p:cNvSpPr txBox="1"/>
          <p:nvPr/>
        </p:nvSpPr>
        <p:spPr>
          <a:xfrm>
            <a:off x="411480" y="256032"/>
            <a:ext cx="731520" cy="32004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>
              <a:buNone/>
            </a:pPr>
            <a:fld id="{294A09A9-5501-47C1-A89A-A340965A2BE2}" type="slidenum">
              <a:rPr lang="en-US" sz="1400" dirty="0">
                <a:solidFill>
                  <a:srgbClr val="A8BBDD"/>
                </a:solidFill>
                <a:latin typeface="Segoe UI Light"/>
              </a:rPr>
              <a:pPr>
                <a:buNone/>
              </a:pPr>
              <a:t>30</a:t>
            </a:fld>
            <a:endParaRPr lang="en-US" sz="1400" dirty="0">
              <a:solidFill>
                <a:srgbClr val="A8BBDD"/>
              </a:solidFill>
              <a:latin typeface="Segoe UI Light"/>
            </a:endParaRPr>
          </a:p>
        </p:txBody>
      </p:sp>
      <p:sp>
        <p:nvSpPr>
          <p:cNvPr id="268" name="Pill 268"/>
          <p:cNvSpPr/>
          <p:nvPr/>
        </p:nvSpPr>
        <p:spPr>
          <a:xfrm>
            <a:off x="640080" y="347472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6A6F4"/>
          </a:solidFill>
          <a:ln>
            <a:noFill/>
          </a:ln>
        </p:spPr>
        <p:txBody>
          <a:bodyPr lIns="45720" tIns="0" rIns="4572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102858"/>
                </a:solidFill>
                <a:latin typeface="Segoe UI Light"/>
              </a:rPr>
              <a:t>STEP 11</a:t>
            </a:r>
          </a:p>
        </p:txBody>
      </p:sp>
      <p:sp>
        <p:nvSpPr>
          <p:cNvPr id="269" name="TextBox 269"/>
          <p:cNvSpPr txBox="1"/>
          <p:nvPr/>
        </p:nvSpPr>
        <p:spPr>
          <a:xfrm>
            <a:off x="640080" y="841248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w Cen MT"/>
                <a:cs typeface="Tw Cen MT"/>
              </a:rPr>
              <a:t>GENERATE THE ANSWER</a:t>
            </a:r>
          </a:p>
        </p:txBody>
      </p:sp>
      <p:sp>
        <p:nvSpPr>
          <p:cNvPr id="270" name="Card 270"/>
          <p:cNvSpPr/>
          <p:nvPr/>
        </p:nvSpPr>
        <p:spPr>
          <a:xfrm>
            <a:off x="640080" y="1691640"/>
            <a:ext cx="10881360" cy="1671828"/>
          </a:xfrm>
          <a:prstGeom prst="roundRect">
            <a:avLst>
              <a:gd name="adj" fmla="val 3000"/>
            </a:avLst>
          </a:prstGeom>
          <a:solidFill>
            <a:srgbClr val="0A1C4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1" name="TextBox 271"/>
          <p:cNvSpPr txBox="1"/>
          <p:nvPr/>
        </p:nvSpPr>
        <p:spPr>
          <a:xfrm>
            <a:off x="960120" y="1975104"/>
            <a:ext cx="10332720" cy="1104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var reply = await chat.GetResponseAsync(prompt);</a:t>
            </a:r>
          </a:p>
          <a:p>
            <a:pPr algn="l">
              <a:lnSpc>
                <a:spcPct val="118000"/>
              </a:lnSpc>
              <a:buNone/>
            </a:pPr>
            <a:endParaRPr lang="en-US" sz="2000" dirty="0"/>
          </a:p>
          <a:p>
            <a:pPr algn="l">
              <a:lnSpc>
                <a:spcPct val="118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Consolas"/>
                <a:cs typeface="Consolas"/>
              </a:rPr>
              <a:t>Console.WriteLine(reply.Text);</a:t>
            </a:r>
          </a:p>
        </p:txBody>
      </p:sp>
      <p:sp>
        <p:nvSpPr>
          <p:cNvPr id="272" name="TextBox 272"/>
          <p:cNvSpPr txBox="1"/>
          <p:nvPr/>
        </p:nvSpPr>
        <p:spPr>
          <a:xfrm>
            <a:off x="640080" y="356463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900" b="0" dirty="0">
                <a:solidFill>
                  <a:srgbClr val="64DFED"/>
                </a:solidFill>
                <a:latin typeface="Segoe UI Light"/>
                <a:cs typeface="Segoe UI Light"/>
              </a:rPr>
              <a:t>✓  The model answers from the pages, not from memory</a:t>
            </a:r>
          </a:p>
        </p:txBody>
      </p:sp>
      <p:sp>
        <p:nvSpPr>
          <p:cNvPr id="273" name="TextBox 273"/>
          <p:cNvSpPr txBox="1"/>
          <p:nvPr/>
        </p:nvSpPr>
        <p:spPr>
          <a:xfrm>
            <a:off x="640080" y="4021836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800" b="0" dirty="0">
                <a:solidFill>
                  <a:srgbClr val="A8BBDD"/>
                </a:solidFill>
                <a:latin typeface="Segoe UI Light"/>
                <a:cs typeface="Segoe UI Light"/>
              </a:rPr>
              <a:t>Nothing here is RAG-specific — it is an ordinary chat call.</a:t>
            </a:r>
          </a:p>
        </p:txBody>
      </p:sp>
      <p:sp>
        <p:nvSpPr>
          <p:cNvPr id="274" name="TextBox 274"/>
          <p:cNvSpPr txBox="1"/>
          <p:nvPr/>
        </p:nvSpPr>
        <p:spPr>
          <a:xfrm>
            <a:off x="411480" y="6327648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A8BBDD"/>
                </a:solidFill>
                <a:latin typeface="Segoe UI Light"/>
                <a:cs typeface="Segoe UI Light"/>
              </a:rPr>
              <a:t>RAG  ·  Module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SlideNum 275"/>
          <p:cNvSpPr txBox="1"/>
          <p:nvPr/>
        </p:nvSpPr>
        <p:spPr>
          <a:xfrm>
            <a:off x="411480" y="256032"/>
            <a:ext cx="731520" cy="32004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>
              <a:buNone/>
            </a:pPr>
            <a:fld id="{294A09A9-5501-47C1-A89A-A340965A2BE2}" type="slidenum">
              <a:rPr lang="en-US" sz="1400" dirty="0">
                <a:solidFill>
                  <a:srgbClr val="A8BBDD"/>
                </a:solidFill>
                <a:latin typeface="Segoe UI Light"/>
              </a:rPr>
              <a:pPr>
                <a:buNone/>
              </a:pPr>
              <a:t>31</a:t>
            </a:fld>
            <a:endParaRPr lang="en-US" sz="1400" dirty="0">
              <a:solidFill>
                <a:srgbClr val="A8BBDD"/>
              </a:solidFill>
              <a:latin typeface="Segoe UI Light"/>
            </a:endParaRPr>
          </a:p>
        </p:txBody>
      </p:sp>
      <p:sp>
        <p:nvSpPr>
          <p:cNvPr id="276" name="TextBox 276"/>
          <p:cNvSpPr txBox="1"/>
          <p:nvPr/>
        </p:nvSpPr>
        <p:spPr>
          <a:xfrm>
            <a:off x="640080" y="384048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w Cen MT"/>
                <a:cs typeface="Tw Cen MT"/>
              </a:rPr>
              <a:t>RUN IT</a:t>
            </a:r>
          </a:p>
        </p:txBody>
      </p:sp>
      <p:sp>
        <p:nvSpPr>
          <p:cNvPr id="277" name="Card 277"/>
          <p:cNvSpPr/>
          <p:nvPr/>
        </p:nvSpPr>
        <p:spPr>
          <a:xfrm>
            <a:off x="640080" y="1481328"/>
            <a:ext cx="10881360" cy="3877056"/>
          </a:xfrm>
          <a:prstGeom prst="roundRect">
            <a:avLst>
              <a:gd name="adj" fmla="val 3000"/>
            </a:avLst>
          </a:prstGeom>
          <a:solidFill>
            <a:srgbClr val="07143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8" name="TextBox 278"/>
          <p:cNvSpPr txBox="1"/>
          <p:nvPr/>
        </p:nvSpPr>
        <p:spPr>
          <a:xfrm>
            <a:off x="960120" y="1764792"/>
            <a:ext cx="10332720" cy="331012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</a:pPr>
            <a:r>
              <a:rPr lang="en-US" sz="1800" b="0" dirty="0">
                <a:solidFill>
                  <a:srgbClr val="64DFED"/>
                </a:solidFill>
                <a:latin typeface="Consolas"/>
                <a:cs typeface="Consolas"/>
              </a:rPr>
              <a:t>&gt; dotnet run</a:t>
            </a:r>
          </a:p>
          <a:p>
            <a:pPr algn="l">
              <a:lnSpc>
                <a:spcPct val="118000"/>
              </a:lnSpc>
              <a:buNone/>
            </a:pPr>
            <a:endParaRPr lang="en-US" sz="1800" dirty="0"/>
          </a:p>
          <a:p>
            <a:pPr algn="l">
              <a:lnSpc>
                <a:spcPct val="118000"/>
              </a:lnSpc>
              <a:buNone/>
            </a:pPr>
            <a:r>
              <a:rPr lang="en-US" sz="1800" b="0" dirty="0">
                <a:solidFill>
                  <a:srgbClr val="FFFFFF"/>
                </a:solidFill>
                <a:latin typeface="Consolas"/>
                <a:cs typeface="Consolas"/>
              </a:rPr>
              <a:t>Ingesting 8 pages from docs/ ...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1800" b="0" dirty="0">
                <a:solidFill>
                  <a:srgbClr val="FFFFFF"/>
                </a:solidFill>
                <a:latin typeface="Consolas"/>
                <a:cs typeface="Consolas"/>
              </a:rPr>
              <a:t>  Indexed 34 chunks.</a:t>
            </a:r>
          </a:p>
          <a:p>
            <a:pPr algn="l">
              <a:lnSpc>
                <a:spcPct val="118000"/>
              </a:lnSpc>
              <a:buNone/>
            </a:pPr>
            <a:endParaRPr lang="en-US" sz="1800" dirty="0"/>
          </a:p>
          <a:p>
            <a:pPr algn="l">
              <a:lnSpc>
                <a:spcPct val="118000"/>
              </a:lnSpc>
              <a:buNone/>
            </a:pPr>
            <a:r>
              <a:rPr lang="en-US" sz="1800" b="0" dirty="0">
                <a:solidFill>
                  <a:srgbClr val="FFFFFF"/>
                </a:solidFill>
                <a:latin typeface="Consolas"/>
                <a:cs typeface="Consolas"/>
              </a:rPr>
              <a:t>Question: How do I book an appointment?</a:t>
            </a:r>
          </a:p>
          <a:p>
            <a:pPr algn="l">
              <a:lnSpc>
                <a:spcPct val="118000"/>
              </a:lnSpc>
              <a:buNone/>
            </a:pPr>
            <a:endParaRPr lang="en-US" sz="1800" dirty="0"/>
          </a:p>
          <a:p>
            <a:pPr algn="l">
              <a:lnSpc>
                <a:spcPct val="118000"/>
              </a:lnSpc>
              <a:buNone/>
            </a:pPr>
            <a:r>
              <a:rPr lang="en-US" sz="1800" b="0" dirty="0">
                <a:solidFill>
                  <a:srgbClr val="FFFFFF"/>
                </a:solidFill>
                <a:latin typeface="Consolas"/>
                <a:cs typeface="Consolas"/>
              </a:rPr>
              <a:t>Answer: Through the website, the mobile app, or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1800" b="0" dirty="0">
                <a:solidFill>
                  <a:srgbClr val="FFFFFF"/>
                </a:solidFill>
                <a:latin typeface="Consolas"/>
                <a:cs typeface="Consolas"/>
              </a:rPr>
              <a:t>by calling the service centre.  [source: page3.md]</a:t>
            </a:r>
          </a:p>
        </p:txBody>
      </p:sp>
      <p:sp>
        <p:nvSpPr>
          <p:cNvPr id="279" name="TextBox 279"/>
          <p:cNvSpPr txBox="1"/>
          <p:nvPr/>
        </p:nvSpPr>
        <p:spPr>
          <a:xfrm>
            <a:off x="640080" y="5559552"/>
            <a:ext cx="108813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2000" b="0" dirty="0">
                <a:solidFill>
                  <a:srgbClr val="F6A6F4"/>
                </a:solidFill>
                <a:latin typeface="Segoe UI Light"/>
                <a:cs typeface="Segoe UI Light"/>
              </a:rPr>
              <a:t>Now ask something the pages do not cover — and watch it decline.</a:t>
            </a:r>
          </a:p>
        </p:txBody>
      </p:sp>
      <p:sp>
        <p:nvSpPr>
          <p:cNvPr id="280" name="TextBox 280"/>
          <p:cNvSpPr txBox="1"/>
          <p:nvPr/>
        </p:nvSpPr>
        <p:spPr>
          <a:xfrm>
            <a:off x="411480" y="6327648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A8BBDD"/>
                </a:solidFill>
                <a:latin typeface="Segoe UI Light"/>
                <a:cs typeface="Segoe UI Light"/>
              </a:rPr>
              <a:t>RAG  ·  Module 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5BC92-868A-26B2-CBC0-C9D94E65F1A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w Cen MT"/>
                <a:cs typeface="Tw Cen MT"/>
              </a:rPr>
              <a:t>WHAT JUST HAPPENED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9C1627-7A56-025E-482D-E2AB014EDF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en-US" sz="2200" b="0" dirty="0">
                <a:solidFill>
                  <a:srgbClr val="FFFFFF"/>
                </a:solidFill>
                <a:latin typeface="Segoe UI Light"/>
                <a:cs typeface="Segoe UI Light"/>
              </a:rPr>
              <a:t>We never retrained anything.</a:t>
            </a:r>
          </a:p>
          <a:p>
            <a:pPr algn="l">
              <a:lnSpc>
                <a:spcPct val="115000"/>
              </a:lnSpc>
              <a:buNone/>
            </a:pPr>
            <a:endParaRPr lang="en-US" sz="1000" dirty="0"/>
          </a:p>
          <a:p>
            <a:pPr algn="ctr">
              <a:lnSpc>
                <a:spcPct val="120000"/>
              </a:lnSpc>
              <a:buNone/>
            </a:pPr>
            <a:r>
              <a:rPr lang="en-US" sz="2200" b="0" dirty="0">
                <a:solidFill>
                  <a:srgbClr val="FFFFFF"/>
                </a:solidFill>
                <a:latin typeface="Segoe UI Light"/>
                <a:cs typeface="Segoe UI Light"/>
              </a:rPr>
              <a:t>We embedded our pages once, searched them per question, and pasted the winners into the prompt.</a:t>
            </a:r>
          </a:p>
        </p:txBody>
      </p:sp>
    </p:spTree>
    <p:extLst>
      <p:ext uri="{BB962C8B-B14F-4D97-AF65-F5344CB8AC3E}">
        <p14:creationId xmlns:p14="http://schemas.microsoft.com/office/powerpoint/2010/main" val="19587596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9E45E-D6A7-9780-F652-BAF86DFBC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w Cen MT"/>
                <a:cs typeface="Tw Cen MT"/>
              </a:rPr>
              <a:t>TAKING IT TO PRODUCTION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77A64-4E94-69E1-3180-1E014BD06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33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605EE-24B6-95D8-DE5E-BEC2F03ECE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92CDF0"/>
                </a:solidFill>
                <a:latin typeface="Segoe UI Light"/>
                <a:cs typeface="Segoe UI Light"/>
              </a:rPr>
              <a:t>Swap the store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22F651-7ABC-015D-B5C4-622708A64CB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Azure AI Search, Qdrant, Postgres + pgvector</a:t>
            </a:r>
          </a:p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Same interfaces — the rest of the code is unchanged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1E0F07-3291-4EE2-1286-04C97165BA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92CDF0"/>
                </a:solidFill>
                <a:latin typeface="Segoe UI Light"/>
                <a:cs typeface="Segoe UI Light"/>
              </a:rPr>
              <a:t>Then improve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F22CC9-1295-2B21-05A9-68A44E669B8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Autofit/>
          </a:bodyPr>
          <a:lstStyle/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Research chunking and overlap</a:t>
            </a:r>
          </a:p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Hybrid keyword + vector search</a:t>
            </a:r>
          </a:p>
          <a:p>
            <a:pPr marL="228600" indent="-228600" algn="l">
              <a:lnSpc>
                <a:spcPct val="115000"/>
              </a:lnSpc>
              <a:spcAft>
                <a:spcPts val="700"/>
              </a:spcAft>
              <a:buClr>
                <a:srgbClr val="F6A6F4"/>
              </a:buClr>
              <a:buSzPct val="90000"/>
              <a:buFont typeface="Arial" panose="020B0604020202020204" pitchFamily="34" charset="0"/>
              <a:buChar char="●"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Evaluate answers before you ship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9F57080-19CA-8BBA-6050-8494551D4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A8BBDD"/>
                </a:solidFill>
                <a:latin typeface="Segoe UI Light"/>
                <a:cs typeface="Segoe UI Light"/>
              </a:rPr>
              <a:t>RAG  ·  Module 1</a:t>
            </a:r>
          </a:p>
        </p:txBody>
      </p:sp>
    </p:spTree>
    <p:extLst>
      <p:ext uri="{BB962C8B-B14F-4D97-AF65-F5344CB8AC3E}">
        <p14:creationId xmlns:p14="http://schemas.microsoft.com/office/powerpoint/2010/main" val="7652109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E1892-81E6-551C-7B5A-DEA682245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w Cen MT"/>
                <a:cs typeface="Tw Cen MT"/>
              </a:rPr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519D01-29BE-BE76-41C5-9D58AD8119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01968" y="3035808"/>
            <a:ext cx="4846320" cy="3246120"/>
          </a:xfrm>
        </p:spPr>
        <p:txBody>
          <a:bodyPr>
            <a:no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Segoe UI Light"/>
                <a:cs typeface="Segoe UI Light"/>
              </a:rPr>
              <a:t>Questions?</a:t>
            </a:r>
          </a:p>
          <a:p>
            <a:pPr algn="l">
              <a:lnSpc>
                <a:spcPct val="115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.NET AI RAG quickstart</a:t>
            </a:r>
          </a:p>
          <a:p>
            <a:pPr algn="l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900" b="0" dirty="0">
                <a:solidFill>
                  <a:srgbClr val="92CDF0"/>
                </a:solidFill>
                <a:latin typeface="Consolas"/>
                <a:cs typeface="Consolas"/>
              </a:rPr>
              <a:t>learn.microsoft.com/dotnet/ai</a:t>
            </a:r>
          </a:p>
          <a:p>
            <a:pPr algn="l">
              <a:lnSpc>
                <a:spcPct val="115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Vector data in .NET</a:t>
            </a:r>
          </a:p>
          <a:p>
            <a:pPr algn="l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900" b="0" dirty="0">
                <a:solidFill>
                  <a:srgbClr val="92CDF0"/>
                </a:solidFill>
                <a:latin typeface="Consolas"/>
                <a:cs typeface="Consolas"/>
              </a:rPr>
              <a:t>devblogs.microsoft.com</a:t>
            </a:r>
          </a:p>
          <a:p>
            <a:pPr algn="l">
              <a:lnSpc>
                <a:spcPct val="115000"/>
              </a:lnSpc>
              <a:buNone/>
            </a:pPr>
            <a:r>
              <a:rPr lang="en-US" sz="2000" b="0" dirty="0">
                <a:solidFill>
                  <a:srgbClr val="FFFFFF"/>
                </a:solidFill>
                <a:latin typeface="Segoe UI Light"/>
                <a:cs typeface="Segoe UI Light"/>
              </a:rPr>
              <a:t>VS Code docs</a:t>
            </a:r>
          </a:p>
          <a:p>
            <a:pPr algn="l">
              <a:lnSpc>
                <a:spcPct val="115000"/>
              </a:lnSpc>
              <a:buNone/>
            </a:pPr>
            <a:r>
              <a:rPr lang="en-US" sz="1900" b="0" dirty="0">
                <a:solidFill>
                  <a:srgbClr val="92CDF0"/>
                </a:solidFill>
                <a:latin typeface="Consolas"/>
                <a:cs typeface="Consolas"/>
              </a:rPr>
              <a:t>code.visualstudio.com/docs</a:t>
            </a:r>
          </a:p>
        </p:txBody>
      </p:sp>
    </p:spTree>
    <p:extLst>
      <p:ext uri="{BB962C8B-B14F-4D97-AF65-F5344CB8AC3E}">
        <p14:creationId xmlns:p14="http://schemas.microsoft.com/office/powerpoint/2010/main" val="18777012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43">
      <a:dk1>
        <a:srgbClr val="000000"/>
      </a:dk1>
      <a:lt1>
        <a:srgbClr val="FFFFFF"/>
      </a:lt1>
      <a:dk2>
        <a:srgbClr val="64DFED"/>
      </a:dk2>
      <a:lt2>
        <a:srgbClr val="E7E6E6"/>
      </a:lt2>
      <a:accent1>
        <a:srgbClr val="92CDF0"/>
      </a:accent1>
      <a:accent2>
        <a:srgbClr val="92CDF0"/>
      </a:accent2>
      <a:accent3>
        <a:srgbClr val="ABC3F0"/>
      </a:accent3>
      <a:accent4>
        <a:srgbClr val="C3B9F2"/>
      </a:accent4>
      <a:accent5>
        <a:srgbClr val="AAA5F9"/>
      </a:accent5>
      <a:accent6>
        <a:srgbClr val="F6A6F4"/>
      </a:accent6>
      <a:hlink>
        <a:srgbClr val="0563C1"/>
      </a:hlink>
      <a:folHlink>
        <a:srgbClr val="954F72"/>
      </a:folHlink>
    </a:clrScheme>
    <a:fontScheme name="Custom 39">
      <a:majorFont>
        <a:latin typeface="Tw Cen MT"/>
        <a:ea typeface=""/>
        <a:cs typeface=""/>
      </a:majorFont>
      <a:minorFont>
        <a:latin typeface="Segoe U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5" ma:contentTypeDescription="Create a new document." ma:contentTypeScope="" ma:versionID="e02306daf00165b375dc6a58966960b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df88fb76bf5f555224557953949c1ec9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A4A3FD6-E6BF-490E-B6B4-6A011394B0E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62CF8670-35D1-4455-AC7A-762B7388BE2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3C4A95C-9007-4EA6-944B-306B6F2A0100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TM66925244</Template>
  <TotalTime>340</TotalTime>
  <Words>1709</Words>
  <Application>Microsoft Office PowerPoint</Application>
  <PresentationFormat>Widescreen</PresentationFormat>
  <Paragraphs>338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Arial</vt:lpstr>
      <vt:lpstr>Calibri</vt:lpstr>
      <vt:lpstr>Consolas</vt:lpstr>
      <vt:lpstr>Courier New</vt:lpstr>
      <vt:lpstr>Segoe UI Light</vt:lpstr>
      <vt:lpstr>Tw Cen MT</vt:lpstr>
      <vt:lpstr>Office Theme</vt:lpstr>
      <vt:lpstr>RETRIEVAL-AUGMENTED GENERATION</vt:lpstr>
      <vt:lpstr>WHAT WE’LL BUILD TODAY</vt:lpstr>
      <vt:lpstr>AGENDA</vt:lpstr>
      <vt:lpstr>WHAT RAG SOLVES</vt:lpstr>
      <vt:lpstr>AN OPEN-BOOK EXAM FOR THE MODEL.</vt:lpstr>
      <vt:lpstr>PowerPoint Presentation</vt:lpstr>
      <vt:lpstr>PowerPoint Presentation</vt:lpstr>
      <vt:lpstr>PowerPoint Presentation</vt:lpstr>
      <vt:lpstr>PowerPoint Presentation</vt:lpstr>
      <vt:lpstr>WHAT IS A VECTOR STORE?</vt:lpstr>
      <vt:lpstr>PHASE 1 — INGEST</vt:lpstr>
      <vt:lpstr>PHASE 2 — QUERY</vt:lpstr>
      <vt:lpstr>RAG, FINE-TUNING, OR TOOLS?</vt:lpstr>
      <vt:lpstr>OUR STACK</vt:lpstr>
      <vt:lpstr>PowerPoint Presentation</vt:lpstr>
      <vt:lpstr>PowerPoint Presentation</vt:lpstr>
      <vt:lpstr>TWO MODELS, TWO JOBS</vt:lpstr>
      <vt:lpstr>BUILD IT — STEP BY STEP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WHAT JUST HAPPENED</vt:lpstr>
      <vt:lpstr>TAKING IT TO PRODUCTION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Uri Goldstein</dc:creator>
  <cp:lastModifiedBy>Uri Goldstein</cp:lastModifiedBy>
  <cp:revision>20</cp:revision>
  <dcterms:created xsi:type="dcterms:W3CDTF">2026-06-30T20:53:55Z</dcterms:created>
  <dcterms:modified xsi:type="dcterms:W3CDTF">2026-09-08T14:23:43Z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