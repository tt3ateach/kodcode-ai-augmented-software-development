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547" r:id="rId2"/>
    <p:sldId id="548" r:id="rId3"/>
    <p:sldId id="549" r:id="rId4"/>
    <p:sldId id="550" r:id="rId5"/>
    <p:sldId id="551" r:id="rId6"/>
    <p:sldId id="552" r:id="rId7"/>
    <p:sldId id="579" r:id="rId8"/>
    <p:sldId id="553" r:id="rId9"/>
    <p:sldId id="554" r:id="rId10"/>
    <p:sldId id="555" r:id="rId11"/>
    <p:sldId id="556" r:id="rId12"/>
    <p:sldId id="557" r:id="rId13"/>
    <p:sldId id="558" r:id="rId14"/>
    <p:sldId id="559" r:id="rId15"/>
    <p:sldId id="560" r:id="rId16"/>
    <p:sldId id="561" r:id="rId17"/>
    <p:sldId id="562" r:id="rId18"/>
    <p:sldId id="563" r:id="rId19"/>
    <p:sldId id="564" r:id="rId20"/>
    <p:sldId id="565" r:id="rId21"/>
    <p:sldId id="566" r:id="rId22"/>
    <p:sldId id="567" r:id="rId23"/>
    <p:sldId id="581" r:id="rId24"/>
    <p:sldId id="568" r:id="rId25"/>
    <p:sldId id="569" r:id="rId26"/>
    <p:sldId id="570" r:id="rId27"/>
    <p:sldId id="582" r:id="rId28"/>
    <p:sldId id="571" r:id="rId29"/>
    <p:sldId id="572" r:id="rId30"/>
    <p:sldId id="573" r:id="rId31"/>
    <p:sldId id="574" r:id="rId32"/>
    <p:sldId id="575" r:id="rId33"/>
    <p:sldId id="576" r:id="rId34"/>
    <p:sldId id="577" r:id="rId35"/>
    <p:sldId id="57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1689"/>
    <a:srgbClr val="2F21F3"/>
    <a:srgbClr val="8822EE"/>
    <a:srgbClr val="F01688"/>
    <a:srgbClr val="FEB52B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22"/>
  </p:normalViewPr>
  <p:slideViewPr>
    <p:cSldViewPr snapToGrid="0">
      <p:cViewPr varScale="1">
        <p:scale>
          <a:sx n="73" d="100"/>
          <a:sy n="73" d="100"/>
        </p:scale>
        <p:origin x="60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w Cen MT"/>
                <a:cs typeface="Tw Cen MT"/>
              </a:rPr>
              <a:t>RETRIEVAL-AUGMENTED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w Cen MT"/>
                <a:cs typeface="Tw Cen MT"/>
              </a:rPr>
              <a:t>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2400" b="0" dirty="0">
                <a:solidFill>
                  <a:srgbClr val="FFFFFF"/>
                </a:solidFill>
                <a:latin typeface="Segoe UI Light"/>
                <a:cs typeface="Segoe UI Light"/>
              </a:rPr>
              <a:t>Day 5  ·  Module 12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2000" b="0" dirty="0" err="1">
                <a:solidFill>
                  <a:srgbClr val="A8BBDD"/>
                </a:solidFill>
                <a:latin typeface="Segoe UI Light"/>
                <a:cs typeface="Segoe UI Light"/>
              </a:rPr>
              <a:t>Leumit</a:t>
            </a:r>
            <a:r>
              <a:rPr lang="en-US" sz="2000" b="0" dirty="0">
                <a:solidFill>
                  <a:srgbClr val="A8BBDD"/>
                </a:solidFill>
                <a:latin typeface="Segoe UI Light"/>
                <a:cs typeface="Segoe UI Light"/>
              </a:rPr>
              <a:t> AI-Augmented Software Development Workshop</a:t>
            </a: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w Cen MT"/>
                <a:cs typeface="Tw Cen MT"/>
              </a:rPr>
              <a:t>WHAT WE’LL BUILD TODAY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en-US" sz="2200" b="0" dirty="0">
                <a:solidFill>
                  <a:srgbClr val="FFFFFF"/>
                </a:solidFill>
                <a:latin typeface="Segoe UI Light"/>
                <a:cs typeface="Segoe UI Light"/>
              </a:rPr>
              <a:t>A C# console app that answers questions about a real website — grounded in its actual pages, not the model’s knowledge</a:t>
            </a:r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w Cen MT"/>
                <a:cs typeface="Tw Cen MT"/>
              </a:rPr>
              <a:t>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10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400" b="0" dirty="0">
                <a:solidFill>
                  <a:srgbClr val="FFFFFF"/>
                </a:solidFill>
                <a:latin typeface="Segoe UI Light"/>
                <a:cs typeface="Segoe UI Light"/>
              </a:rPr>
              <a:t>Why RAG?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400" b="0" dirty="0">
                <a:solidFill>
                  <a:srgbClr val="FFFFFF"/>
                </a:solidFill>
                <a:latin typeface="Segoe UI Light"/>
                <a:cs typeface="Segoe UI Light"/>
              </a:rPr>
              <a:t>How RAG works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400" b="0" dirty="0">
                <a:solidFill>
                  <a:srgbClr val="FFFFFF"/>
                </a:solidFill>
                <a:latin typeface="Segoe UI Light"/>
                <a:cs typeface="Segoe UI Light"/>
              </a:rPr>
              <a:t>Our stack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400" b="0" dirty="0">
                <a:solidFill>
                  <a:srgbClr val="FFFFFF"/>
                </a:solidFill>
                <a:latin typeface="Segoe UI Light"/>
                <a:cs typeface="Segoe UI Light"/>
              </a:rPr>
              <a:t>Build it step by step</a:t>
            </a:r>
          </a:p>
          <a:p>
            <a:pPr marL="228600" indent="-228600" algn="l">
              <a:lnSpc>
                <a:spcPct val="115000"/>
              </a:lnSpc>
              <a:spcAft>
                <a:spcPts val="10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400" b="0" dirty="0">
                <a:solidFill>
                  <a:srgbClr val="FFFFFF"/>
                </a:solidFill>
                <a:latin typeface="Segoe UI Light"/>
                <a:cs typeface="Segoe UI Light"/>
              </a:rPr>
              <a:t>Run it &amp; go to production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73D4-535B-6DCC-2268-43A5E9E1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WHAT RAG SOLVES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FCA3-0124-0FA6-220B-D72E8F80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0852F-3FB7-6D2E-F6AC-1F6B9CAD2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Stale data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35D3F1-0C33-3404-5D49-E70C9D100F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 model was trained months or years ago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It cannot know anything newer than its training 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F7BD8-DA37-58AB-1F45-D0F045DF4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Hallucination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24F2AAC-B18D-1D49-15F1-2D69101664A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Asked something it doesn’t know, a model may invent an answer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Grounding on real text sharply reduces this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68EFF0-69C3-F9AE-1107-E08A22BCF9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Your data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D6980BD-0225-0DD6-3D62-B0B1E983AB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3068680" cy="2578608"/>
          </a:xfrm>
        </p:spPr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It has never seen your docs, contracts or wiki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Retraining is expensive — retrieving is cheap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7ABA7-FC97-4D42-C4BC-897A88CF3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  <p:extLst>
      <p:ext uri="{BB962C8B-B14F-4D97-AF65-F5344CB8AC3E}">
        <p14:creationId xmlns:p14="http://schemas.microsoft.com/office/powerpoint/2010/main" val="1877080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4C44EC9-F730-00B6-E479-530EC276D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497321" y="2736484"/>
            <a:ext cx="1512407" cy="938717"/>
            <a:chOff x="4779792" y="2384561"/>
            <a:chExt cx="3365480" cy="2088878"/>
          </a:xfrm>
          <a:solidFill>
            <a:schemeClr val="accent6">
              <a:alpha val="50231"/>
            </a:schemeClr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8B6D2F8E-4F98-B89F-E4FB-DD9F900821E1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9EBD7AD-ED91-CC5F-0110-3EE43A60F946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6B0BED4-B4D2-A8C2-9E8E-FA7D1819E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99707" y="3205843"/>
            <a:ext cx="1512408" cy="938718"/>
            <a:chOff x="4779792" y="2384561"/>
            <a:chExt cx="3365480" cy="2088878"/>
          </a:xfrm>
          <a:solidFill>
            <a:schemeClr val="accent1">
              <a:alpha val="48174"/>
            </a:schemeClr>
          </a:solidFill>
        </p:grpSpPr>
        <p:sp>
          <p:nvSpPr>
            <p:cNvPr id="8" name="Freeform 1">
              <a:extLst>
                <a:ext uri="{FF2B5EF4-FFF2-40B4-BE49-F238E27FC236}">
                  <a16:creationId xmlns:a16="http://schemas.microsoft.com/office/drawing/2014/main" id="{B542C6FD-B908-03BB-DE9D-1E76EE849265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21">
              <a:extLst>
                <a:ext uri="{FF2B5EF4-FFF2-40B4-BE49-F238E27FC236}">
                  <a16:creationId xmlns:a16="http://schemas.microsoft.com/office/drawing/2014/main" id="{594F7F18-2B8D-7493-904B-1BD252DFC677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04F090D-C862-CF85-1001-A82E543655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w Cen MT"/>
                <a:cs typeface="Tw Cen MT"/>
              </a:rPr>
              <a:t>AN OPEN-BOOK EXAM FOR THE MODEL.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E82C04-6445-9E02-B0E8-8D809278C3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2200" b="0" dirty="0">
                <a:solidFill>
                  <a:srgbClr val="FFFFFF"/>
                </a:solidFill>
                <a:latin typeface="Segoe UI Light"/>
                <a:cs typeface="Segoe UI Light"/>
              </a:rPr>
              <a:t>— That’s all it is.</a:t>
            </a:r>
          </a:p>
        </p:txBody>
      </p:sp>
    </p:spTree>
    <p:extLst>
      <p:ext uri="{BB962C8B-B14F-4D97-AF65-F5344CB8AC3E}">
        <p14:creationId xmlns:p14="http://schemas.microsoft.com/office/powerpoint/2010/main" val="1213210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lideNum 101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6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102" name="TextBox 102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RAG IN ONE PICTURE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754380" y="1010412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endParaRPr lang="en-US" sz="2000" b="0" dirty="0">
              <a:solidFill>
                <a:srgbClr val="C3B9F2"/>
              </a:solidFill>
              <a:latin typeface="Segoe UI Light"/>
              <a:cs typeface="Segoe UI Light"/>
            </a:endParaRPr>
          </a:p>
        </p:txBody>
      </p:sp>
      <p:sp>
        <p:nvSpPr>
          <p:cNvPr id="131" name="TextBox 131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  <p:sp>
        <p:nvSpPr>
          <p:cNvPr id="4" name="Card 104">
            <a:extLst>
              <a:ext uri="{FF2B5EF4-FFF2-40B4-BE49-F238E27FC236}">
                <a16:creationId xmlns:a16="http://schemas.microsoft.com/office/drawing/2014/main" id="{FF36BA10-0D10-55BD-FA94-AD228ECAB08B}"/>
              </a:ext>
            </a:extLst>
          </p:cNvPr>
          <p:cNvSpPr/>
          <p:nvPr/>
        </p:nvSpPr>
        <p:spPr>
          <a:xfrm>
            <a:off x="9843636" y="4206240"/>
            <a:ext cx="2046611" cy="1663065"/>
          </a:xfrm>
          <a:prstGeom prst="roundRect">
            <a:avLst>
              <a:gd name="adj" fmla="val 3000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b="1" dirty="0"/>
              <a:t>Large Language</a:t>
            </a:r>
            <a:br>
              <a:rPr lang="en-US" b="1" dirty="0"/>
            </a:br>
            <a:r>
              <a:rPr lang="en-US" b="1" dirty="0"/>
              <a:t>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691A71-5EAB-9868-7F0E-DF13D360A50B}"/>
              </a:ext>
            </a:extLst>
          </p:cNvPr>
          <p:cNvSpPr txBox="1"/>
          <p:nvPr/>
        </p:nvSpPr>
        <p:spPr>
          <a:xfrm>
            <a:off x="1018509" y="4445759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Question?</a:t>
            </a: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92066829-95DE-CC26-B877-1507F0D99E56}"/>
              </a:ext>
            </a:extLst>
          </p:cNvPr>
          <p:cNvSpPr/>
          <p:nvPr/>
        </p:nvSpPr>
        <p:spPr>
          <a:xfrm>
            <a:off x="6618328" y="1650492"/>
            <a:ext cx="2286000" cy="1204220"/>
          </a:xfrm>
          <a:prstGeom prst="can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Vector Store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0D4B6D8C-3141-31EE-BC71-73A9AED9210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107644" y="2996202"/>
            <a:ext cx="1780674" cy="1513172"/>
          </a:xfrm>
          <a:prstGeom prst="bentConnector3">
            <a:avLst>
              <a:gd name="adj1" fmla="val 527"/>
            </a:avLst>
          </a:prstGeom>
          <a:ln w="38100">
            <a:solidFill>
              <a:srgbClr val="F016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861CAC9B-EF8B-9046-2AA6-23D4FC98E56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088231" y="2887720"/>
            <a:ext cx="1788414" cy="1722400"/>
          </a:xfrm>
          <a:prstGeom prst="bentConnector3">
            <a:avLst>
              <a:gd name="adj1" fmla="val 100703"/>
            </a:avLst>
          </a:prstGeom>
          <a:ln w="38100">
            <a:solidFill>
              <a:srgbClr val="F016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E1DFDF4-657E-674A-07FD-354EC34CA3CB}"/>
              </a:ext>
            </a:extLst>
          </p:cNvPr>
          <p:cNvSpPr txBox="1"/>
          <p:nvPr/>
        </p:nvSpPr>
        <p:spPr>
          <a:xfrm>
            <a:off x="1102666" y="5241047"/>
            <a:ext cx="93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Answer!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4FB812-2EC9-38D4-09AA-EAF8FC12E83F}"/>
              </a:ext>
            </a:extLst>
          </p:cNvPr>
          <p:cNvSpPr txBox="1"/>
          <p:nvPr/>
        </p:nvSpPr>
        <p:spPr>
          <a:xfrm>
            <a:off x="4476337" y="2897862"/>
            <a:ext cx="1360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Embedding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76671E-0D37-C926-6C82-9ED90256B855}"/>
              </a:ext>
            </a:extLst>
          </p:cNvPr>
          <p:cNvSpPr txBox="1"/>
          <p:nvPr/>
        </p:nvSpPr>
        <p:spPr>
          <a:xfrm>
            <a:off x="8164971" y="2915481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Relevant Chunk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05C48A-0441-A902-7A2B-0D8EC5261002}"/>
              </a:ext>
            </a:extLst>
          </p:cNvPr>
          <p:cNvSpPr txBox="1"/>
          <p:nvPr/>
        </p:nvSpPr>
        <p:spPr>
          <a:xfrm>
            <a:off x="8573046" y="3889076"/>
            <a:ext cx="1234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Chunk and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Question</a:t>
            </a:r>
          </a:p>
        </p:txBody>
      </p:sp>
      <p:sp>
        <p:nvSpPr>
          <p:cNvPr id="37" name="Card 104">
            <a:extLst>
              <a:ext uri="{FF2B5EF4-FFF2-40B4-BE49-F238E27FC236}">
                <a16:creationId xmlns:a16="http://schemas.microsoft.com/office/drawing/2014/main" id="{41D87674-9E7D-2941-785D-211315A66E06}"/>
              </a:ext>
            </a:extLst>
          </p:cNvPr>
          <p:cNvSpPr/>
          <p:nvPr/>
        </p:nvSpPr>
        <p:spPr>
          <a:xfrm>
            <a:off x="3020568" y="1597309"/>
            <a:ext cx="1975178" cy="1204220"/>
          </a:xfrm>
          <a:prstGeom prst="roundRect">
            <a:avLst>
              <a:gd name="adj" fmla="val 300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b="1" dirty="0"/>
              <a:t>Embedding</a:t>
            </a:r>
            <a:br>
              <a:rPr lang="en-US" b="1" dirty="0"/>
            </a:br>
            <a:r>
              <a:rPr lang="en-US" b="1" dirty="0"/>
              <a:t>Model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6BF5FB63-1053-E7B5-EB11-C0B06306E346}"/>
              </a:ext>
            </a:extLst>
          </p:cNvPr>
          <p:cNvCxnSpPr>
            <a:cxnSpLocks/>
          </p:cNvCxnSpPr>
          <p:nvPr/>
        </p:nvCxnSpPr>
        <p:spPr>
          <a:xfrm flipV="1">
            <a:off x="5105405" y="2854712"/>
            <a:ext cx="2145856" cy="1788413"/>
          </a:xfrm>
          <a:prstGeom prst="bentConnector3">
            <a:avLst>
              <a:gd name="adj1" fmla="val 99714"/>
            </a:avLst>
          </a:prstGeom>
          <a:ln w="38100">
            <a:solidFill>
              <a:srgbClr val="F016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6CCF3AC0-CC8C-1BC7-EBEB-5D9A50158E2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64740" y="3389762"/>
            <a:ext cx="1828897" cy="652429"/>
          </a:xfrm>
          <a:prstGeom prst="bentConnector3">
            <a:avLst>
              <a:gd name="adj1" fmla="val 100414"/>
            </a:avLst>
          </a:prstGeom>
          <a:ln w="38100">
            <a:solidFill>
              <a:srgbClr val="F01689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17D74E9-22A0-B7D6-A546-99E58A926FDD}"/>
              </a:ext>
            </a:extLst>
          </p:cNvPr>
          <p:cNvCxnSpPr/>
          <p:nvPr/>
        </p:nvCxnSpPr>
        <p:spPr>
          <a:xfrm flipH="1">
            <a:off x="2147344" y="5440953"/>
            <a:ext cx="7660335" cy="0"/>
          </a:xfrm>
          <a:prstGeom prst="straightConnector1">
            <a:avLst/>
          </a:prstGeom>
          <a:ln w="38100">
            <a:solidFill>
              <a:srgbClr val="F0168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BA06B41-DB9B-B217-0F5E-97242DC22CE3}"/>
              </a:ext>
            </a:extLst>
          </p:cNvPr>
          <p:cNvSpPr txBox="1"/>
          <p:nvPr/>
        </p:nvSpPr>
        <p:spPr>
          <a:xfrm>
            <a:off x="7415274" y="4292019"/>
            <a:ext cx="480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</a:rPr>
              <a:t>+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73347F-2ACC-9127-391F-92457D381026}"/>
              </a:ext>
            </a:extLst>
          </p:cNvPr>
          <p:cNvSpPr/>
          <p:nvPr/>
        </p:nvSpPr>
        <p:spPr>
          <a:xfrm>
            <a:off x="2532752" y="3995869"/>
            <a:ext cx="5904682" cy="2129487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RAG</a:t>
            </a:r>
            <a:endParaRPr lang="LID4096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23" grpId="0"/>
      <p:bldP spid="27" grpId="0"/>
      <p:bldP spid="29" grpId="0"/>
      <p:bldP spid="31" grpId="0"/>
      <p:bldP spid="37" grpId="0" animBg="1"/>
      <p:bldP spid="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80CA-BAC4-6504-9F8A-39D3F06D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lideNum 101">
            <a:extLst>
              <a:ext uri="{FF2B5EF4-FFF2-40B4-BE49-F238E27FC236}">
                <a16:creationId xmlns:a16="http://schemas.microsoft.com/office/drawing/2014/main" id="{68ADBA45-6EE2-AD6A-4724-CD0015FED637}"/>
              </a:ext>
            </a:extLst>
          </p:cNvPr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7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170372E3-926A-1951-909B-DFB315EAB1E1}"/>
              </a:ext>
            </a:extLst>
          </p:cNvPr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RAG IN ONE PICTURE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88157200-DEAC-4FDB-C195-C2FA285C3A93}"/>
              </a:ext>
            </a:extLst>
          </p:cNvPr>
          <p:cNvSpPr txBox="1"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6A6F4"/>
                </a:solidFill>
                <a:latin typeface="Segoe UI Light"/>
                <a:cs typeface="Segoe UI Light"/>
              </a:rPr>
              <a:t>INGEST  ·  once, up front</a:t>
            </a:r>
          </a:p>
        </p:txBody>
      </p:sp>
      <p:sp>
        <p:nvSpPr>
          <p:cNvPr id="104" name="Card 104">
            <a:extLst>
              <a:ext uri="{FF2B5EF4-FFF2-40B4-BE49-F238E27FC236}">
                <a16:creationId xmlns:a16="http://schemas.microsoft.com/office/drawing/2014/main" id="{F268BF7C-18BD-04F6-3B52-A9ACBAAF3127}"/>
              </a:ext>
            </a:extLst>
          </p:cNvPr>
          <p:cNvSpPr/>
          <p:nvPr/>
        </p:nvSpPr>
        <p:spPr>
          <a:xfrm>
            <a:off x="640080" y="1847088"/>
            <a:ext cx="2450592" cy="932688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9525">
            <a:solidFill>
              <a:srgbClr val="92C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25C3F634-6037-5198-1CB4-BBDC46D5F59C}"/>
              </a:ext>
            </a:extLst>
          </p:cNvPr>
          <p:cNvSpPr txBox="1"/>
          <p:nvPr/>
        </p:nvSpPr>
        <p:spPr>
          <a:xfrm>
            <a:off x="749808" y="1975104"/>
            <a:ext cx="2231136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 Light"/>
                <a:cs typeface="Segoe UI Light"/>
              </a:rPr>
              <a:t>Documents</a:t>
            </a:r>
          </a:p>
        </p:txBody>
      </p:sp>
      <p:sp>
        <p:nvSpPr>
          <p:cNvPr id="106" name="Arrow 106">
            <a:extLst>
              <a:ext uri="{FF2B5EF4-FFF2-40B4-BE49-F238E27FC236}">
                <a16:creationId xmlns:a16="http://schemas.microsoft.com/office/drawing/2014/main" id="{F9E07002-ED65-D988-C3EA-406C463B4F45}"/>
              </a:ext>
            </a:extLst>
          </p:cNvPr>
          <p:cNvSpPr/>
          <p:nvPr/>
        </p:nvSpPr>
        <p:spPr>
          <a:xfrm>
            <a:off x="3145536" y="2194560"/>
            <a:ext cx="301752" cy="23774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F6A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Card 107">
            <a:extLst>
              <a:ext uri="{FF2B5EF4-FFF2-40B4-BE49-F238E27FC236}">
                <a16:creationId xmlns:a16="http://schemas.microsoft.com/office/drawing/2014/main" id="{C987377C-4543-75E5-D37F-573BEABEFFA2}"/>
              </a:ext>
            </a:extLst>
          </p:cNvPr>
          <p:cNvSpPr/>
          <p:nvPr/>
        </p:nvSpPr>
        <p:spPr>
          <a:xfrm>
            <a:off x="3502152" y="1847088"/>
            <a:ext cx="2450592" cy="932688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9525">
            <a:solidFill>
              <a:srgbClr val="92C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8">
            <a:extLst>
              <a:ext uri="{FF2B5EF4-FFF2-40B4-BE49-F238E27FC236}">
                <a16:creationId xmlns:a16="http://schemas.microsoft.com/office/drawing/2014/main" id="{DEA1F2B9-3432-A453-293E-FD4EE6EFBB41}"/>
              </a:ext>
            </a:extLst>
          </p:cNvPr>
          <p:cNvSpPr txBox="1"/>
          <p:nvPr/>
        </p:nvSpPr>
        <p:spPr>
          <a:xfrm>
            <a:off x="3611880" y="1975104"/>
            <a:ext cx="2231136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 Light"/>
                <a:cs typeface="Segoe UI Light"/>
              </a:rPr>
              <a:t>Chunk</a:t>
            </a:r>
          </a:p>
        </p:txBody>
      </p:sp>
      <p:sp>
        <p:nvSpPr>
          <p:cNvPr id="109" name="Arrow 109">
            <a:extLst>
              <a:ext uri="{FF2B5EF4-FFF2-40B4-BE49-F238E27FC236}">
                <a16:creationId xmlns:a16="http://schemas.microsoft.com/office/drawing/2014/main" id="{7B0DC195-6EB8-A00E-731A-6992939F0EB5}"/>
              </a:ext>
            </a:extLst>
          </p:cNvPr>
          <p:cNvSpPr/>
          <p:nvPr/>
        </p:nvSpPr>
        <p:spPr>
          <a:xfrm>
            <a:off x="6007608" y="2194560"/>
            <a:ext cx="301752" cy="23774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F6A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Card 110">
            <a:extLst>
              <a:ext uri="{FF2B5EF4-FFF2-40B4-BE49-F238E27FC236}">
                <a16:creationId xmlns:a16="http://schemas.microsoft.com/office/drawing/2014/main" id="{A8F7E65F-9A55-DA43-A594-D2AF91B12E5C}"/>
              </a:ext>
            </a:extLst>
          </p:cNvPr>
          <p:cNvSpPr/>
          <p:nvPr/>
        </p:nvSpPr>
        <p:spPr>
          <a:xfrm>
            <a:off x="6364224" y="1847088"/>
            <a:ext cx="2450592" cy="932688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9525">
            <a:solidFill>
              <a:srgbClr val="92C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Box 111">
            <a:extLst>
              <a:ext uri="{FF2B5EF4-FFF2-40B4-BE49-F238E27FC236}">
                <a16:creationId xmlns:a16="http://schemas.microsoft.com/office/drawing/2014/main" id="{3BF37B33-482D-AC1B-018E-DF26477CB401}"/>
              </a:ext>
            </a:extLst>
          </p:cNvPr>
          <p:cNvSpPr txBox="1"/>
          <p:nvPr/>
        </p:nvSpPr>
        <p:spPr>
          <a:xfrm>
            <a:off x="6473952" y="1975104"/>
            <a:ext cx="2231136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 Light"/>
                <a:cs typeface="Segoe UI Light"/>
              </a:rPr>
              <a:t>Embed</a:t>
            </a:r>
          </a:p>
        </p:txBody>
      </p:sp>
      <p:sp>
        <p:nvSpPr>
          <p:cNvPr id="112" name="Arrow 112">
            <a:extLst>
              <a:ext uri="{FF2B5EF4-FFF2-40B4-BE49-F238E27FC236}">
                <a16:creationId xmlns:a16="http://schemas.microsoft.com/office/drawing/2014/main" id="{0F43D3AB-F7E3-973F-3E48-2F44254F2A64}"/>
              </a:ext>
            </a:extLst>
          </p:cNvPr>
          <p:cNvSpPr/>
          <p:nvPr/>
        </p:nvSpPr>
        <p:spPr>
          <a:xfrm>
            <a:off x="8869680" y="2194560"/>
            <a:ext cx="301752" cy="23774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F6A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Card 113">
            <a:extLst>
              <a:ext uri="{FF2B5EF4-FFF2-40B4-BE49-F238E27FC236}">
                <a16:creationId xmlns:a16="http://schemas.microsoft.com/office/drawing/2014/main" id="{F3FAF567-C440-D0A0-21EB-E6682E915038}"/>
              </a:ext>
            </a:extLst>
          </p:cNvPr>
          <p:cNvSpPr/>
          <p:nvPr/>
        </p:nvSpPr>
        <p:spPr>
          <a:xfrm>
            <a:off x="9226296" y="1847088"/>
            <a:ext cx="2450592" cy="932688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9525">
            <a:solidFill>
              <a:srgbClr val="92C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 114">
            <a:extLst>
              <a:ext uri="{FF2B5EF4-FFF2-40B4-BE49-F238E27FC236}">
                <a16:creationId xmlns:a16="http://schemas.microsoft.com/office/drawing/2014/main" id="{57A58384-77B1-13C3-C656-1F0DDEFFEF9B}"/>
              </a:ext>
            </a:extLst>
          </p:cNvPr>
          <p:cNvSpPr txBox="1"/>
          <p:nvPr/>
        </p:nvSpPr>
        <p:spPr>
          <a:xfrm>
            <a:off x="9336024" y="1975104"/>
            <a:ext cx="2231136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 Light"/>
                <a:cs typeface="Segoe UI Light"/>
              </a:rPr>
              <a:t>Vector store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DE8CF4F-F551-4F62-9AF4-EDF426485326}"/>
              </a:ext>
            </a:extLst>
          </p:cNvPr>
          <p:cNvSpPr txBox="1"/>
          <p:nvPr/>
        </p:nvSpPr>
        <p:spPr>
          <a:xfrm>
            <a:off x="640080" y="3310128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64DFED"/>
                </a:solidFill>
                <a:latin typeface="Segoe UI Light"/>
                <a:cs typeface="Segoe UI Light"/>
              </a:rPr>
              <a:t>QUERY  ·  every question</a:t>
            </a:r>
          </a:p>
        </p:txBody>
      </p:sp>
      <p:sp>
        <p:nvSpPr>
          <p:cNvPr id="116" name="Card 116">
            <a:extLst>
              <a:ext uri="{FF2B5EF4-FFF2-40B4-BE49-F238E27FC236}">
                <a16:creationId xmlns:a16="http://schemas.microsoft.com/office/drawing/2014/main" id="{22DF35A1-DA4D-773B-0A7A-77D48F4F5522}"/>
              </a:ext>
            </a:extLst>
          </p:cNvPr>
          <p:cNvSpPr/>
          <p:nvPr/>
        </p:nvSpPr>
        <p:spPr>
          <a:xfrm>
            <a:off x="640080" y="3739896"/>
            <a:ext cx="1965960" cy="932688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9525">
            <a:solidFill>
              <a:srgbClr val="92C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Box 117">
            <a:extLst>
              <a:ext uri="{FF2B5EF4-FFF2-40B4-BE49-F238E27FC236}">
                <a16:creationId xmlns:a16="http://schemas.microsoft.com/office/drawing/2014/main" id="{6EAA3B3E-4ECB-8488-5DAB-F151FB1D3BD1}"/>
              </a:ext>
            </a:extLst>
          </p:cNvPr>
          <p:cNvSpPr txBox="1"/>
          <p:nvPr/>
        </p:nvSpPr>
        <p:spPr>
          <a:xfrm>
            <a:off x="749808" y="3867912"/>
            <a:ext cx="17465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 Light"/>
                <a:cs typeface="Segoe UI Light"/>
              </a:rPr>
              <a:t>Question</a:t>
            </a:r>
          </a:p>
        </p:txBody>
      </p:sp>
      <p:sp>
        <p:nvSpPr>
          <p:cNvPr id="118" name="Arrow 118">
            <a:extLst>
              <a:ext uri="{FF2B5EF4-FFF2-40B4-BE49-F238E27FC236}">
                <a16:creationId xmlns:a16="http://schemas.microsoft.com/office/drawing/2014/main" id="{9BEF12DC-52D2-F912-7AF8-92E15F8FD02D}"/>
              </a:ext>
            </a:extLst>
          </p:cNvPr>
          <p:cNvSpPr/>
          <p:nvPr/>
        </p:nvSpPr>
        <p:spPr>
          <a:xfrm>
            <a:off x="2660904" y="4087368"/>
            <a:ext cx="210312" cy="23774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64D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Card 119">
            <a:extLst>
              <a:ext uri="{FF2B5EF4-FFF2-40B4-BE49-F238E27FC236}">
                <a16:creationId xmlns:a16="http://schemas.microsoft.com/office/drawing/2014/main" id="{20F117FA-C374-3EA8-776E-46603E239239}"/>
              </a:ext>
            </a:extLst>
          </p:cNvPr>
          <p:cNvSpPr/>
          <p:nvPr/>
        </p:nvSpPr>
        <p:spPr>
          <a:xfrm>
            <a:off x="2926080" y="3739896"/>
            <a:ext cx="1965960" cy="932688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9525">
            <a:solidFill>
              <a:srgbClr val="92C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88F6FB1D-4875-082C-CD98-D4F7253C3046}"/>
              </a:ext>
            </a:extLst>
          </p:cNvPr>
          <p:cNvSpPr txBox="1"/>
          <p:nvPr/>
        </p:nvSpPr>
        <p:spPr>
          <a:xfrm>
            <a:off x="3035808" y="3867912"/>
            <a:ext cx="17465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 Light"/>
                <a:cs typeface="Segoe UI Light"/>
              </a:rPr>
              <a:t>Embed</a:t>
            </a:r>
          </a:p>
        </p:txBody>
      </p:sp>
      <p:sp>
        <p:nvSpPr>
          <p:cNvPr id="121" name="Arrow 121">
            <a:extLst>
              <a:ext uri="{FF2B5EF4-FFF2-40B4-BE49-F238E27FC236}">
                <a16:creationId xmlns:a16="http://schemas.microsoft.com/office/drawing/2014/main" id="{764CF219-7998-7F2F-25FB-7E715C40CC9A}"/>
              </a:ext>
            </a:extLst>
          </p:cNvPr>
          <p:cNvSpPr/>
          <p:nvPr/>
        </p:nvSpPr>
        <p:spPr>
          <a:xfrm>
            <a:off x="4946904" y="4087368"/>
            <a:ext cx="210312" cy="23774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64D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Card 122">
            <a:extLst>
              <a:ext uri="{FF2B5EF4-FFF2-40B4-BE49-F238E27FC236}">
                <a16:creationId xmlns:a16="http://schemas.microsoft.com/office/drawing/2014/main" id="{6CDE3AD5-FF55-C724-BD9D-DBE5814EAE0C}"/>
              </a:ext>
            </a:extLst>
          </p:cNvPr>
          <p:cNvSpPr/>
          <p:nvPr/>
        </p:nvSpPr>
        <p:spPr>
          <a:xfrm>
            <a:off x="5212080" y="3739896"/>
            <a:ext cx="1965960" cy="932688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9525">
            <a:solidFill>
              <a:srgbClr val="92C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Box 123">
            <a:extLst>
              <a:ext uri="{FF2B5EF4-FFF2-40B4-BE49-F238E27FC236}">
                <a16:creationId xmlns:a16="http://schemas.microsoft.com/office/drawing/2014/main" id="{36B9DE2C-6C54-5015-D021-8D2B7F91D254}"/>
              </a:ext>
            </a:extLst>
          </p:cNvPr>
          <p:cNvSpPr txBox="1"/>
          <p:nvPr/>
        </p:nvSpPr>
        <p:spPr>
          <a:xfrm>
            <a:off x="5321808" y="3867912"/>
            <a:ext cx="17465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 Light"/>
                <a:cs typeface="Segoe UI Light"/>
              </a:rPr>
              <a:t>Search</a:t>
            </a:r>
          </a:p>
        </p:txBody>
      </p:sp>
      <p:sp>
        <p:nvSpPr>
          <p:cNvPr id="124" name="Arrow 124">
            <a:extLst>
              <a:ext uri="{FF2B5EF4-FFF2-40B4-BE49-F238E27FC236}">
                <a16:creationId xmlns:a16="http://schemas.microsoft.com/office/drawing/2014/main" id="{A036EC73-8A32-45BA-2802-771FC9F60B4A}"/>
              </a:ext>
            </a:extLst>
          </p:cNvPr>
          <p:cNvSpPr/>
          <p:nvPr/>
        </p:nvSpPr>
        <p:spPr>
          <a:xfrm>
            <a:off x="7232904" y="4087368"/>
            <a:ext cx="210312" cy="23774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64D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Card 125">
            <a:extLst>
              <a:ext uri="{FF2B5EF4-FFF2-40B4-BE49-F238E27FC236}">
                <a16:creationId xmlns:a16="http://schemas.microsoft.com/office/drawing/2014/main" id="{0C640866-CC9D-7030-99BC-1113F19B90E7}"/>
              </a:ext>
            </a:extLst>
          </p:cNvPr>
          <p:cNvSpPr/>
          <p:nvPr/>
        </p:nvSpPr>
        <p:spPr>
          <a:xfrm>
            <a:off x="7498080" y="3739896"/>
            <a:ext cx="1965960" cy="932688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9525">
            <a:solidFill>
              <a:srgbClr val="92C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AA38311E-E864-3516-6AC9-21D55E105CA4}"/>
              </a:ext>
            </a:extLst>
          </p:cNvPr>
          <p:cNvSpPr txBox="1"/>
          <p:nvPr/>
        </p:nvSpPr>
        <p:spPr>
          <a:xfrm>
            <a:off x="7607808" y="3867912"/>
            <a:ext cx="17465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 Light"/>
                <a:cs typeface="Segoe UI Light"/>
              </a:rPr>
              <a:t>+ Context</a:t>
            </a:r>
          </a:p>
        </p:txBody>
      </p:sp>
      <p:sp>
        <p:nvSpPr>
          <p:cNvPr id="127" name="Arrow 127">
            <a:extLst>
              <a:ext uri="{FF2B5EF4-FFF2-40B4-BE49-F238E27FC236}">
                <a16:creationId xmlns:a16="http://schemas.microsoft.com/office/drawing/2014/main" id="{40BDB362-94DF-F45A-E3E9-F5E216016528}"/>
              </a:ext>
            </a:extLst>
          </p:cNvPr>
          <p:cNvSpPr/>
          <p:nvPr/>
        </p:nvSpPr>
        <p:spPr>
          <a:xfrm>
            <a:off x="9518904" y="4087368"/>
            <a:ext cx="210312" cy="237744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64D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Card 128">
            <a:extLst>
              <a:ext uri="{FF2B5EF4-FFF2-40B4-BE49-F238E27FC236}">
                <a16:creationId xmlns:a16="http://schemas.microsoft.com/office/drawing/2014/main" id="{05EBC2A6-84BB-8CB0-3BBD-09756CE44CFA}"/>
              </a:ext>
            </a:extLst>
          </p:cNvPr>
          <p:cNvSpPr/>
          <p:nvPr/>
        </p:nvSpPr>
        <p:spPr>
          <a:xfrm>
            <a:off x="9784080" y="3739896"/>
            <a:ext cx="1965960" cy="932688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9525">
            <a:solidFill>
              <a:srgbClr val="92C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Box 129">
            <a:extLst>
              <a:ext uri="{FF2B5EF4-FFF2-40B4-BE49-F238E27FC236}">
                <a16:creationId xmlns:a16="http://schemas.microsoft.com/office/drawing/2014/main" id="{46887890-5D8B-51B8-4CA9-2197C1EB3635}"/>
              </a:ext>
            </a:extLst>
          </p:cNvPr>
          <p:cNvSpPr txBox="1"/>
          <p:nvPr/>
        </p:nvSpPr>
        <p:spPr>
          <a:xfrm>
            <a:off x="9893808" y="3867912"/>
            <a:ext cx="1746504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 Light"/>
                <a:cs typeface="Segoe UI Light"/>
              </a:rPr>
              <a:t>Answer</a:t>
            </a: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9BF5D75-B2E9-D37D-239D-24E5AF55E22C}"/>
              </a:ext>
            </a:extLst>
          </p:cNvPr>
          <p:cNvSpPr txBox="1"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000" b="0" dirty="0">
                <a:solidFill>
                  <a:srgbClr val="C3B9F2"/>
                </a:solidFill>
                <a:latin typeface="Segoe UI Light"/>
                <a:cs typeface="Segoe UI Light"/>
              </a:rPr>
              <a:t>The model never changes. Only the context we hand it does.</a:t>
            </a:r>
          </a:p>
        </p:txBody>
      </p:sp>
      <p:sp>
        <p:nvSpPr>
          <p:cNvPr id="131" name="TextBox 131">
            <a:extLst>
              <a:ext uri="{FF2B5EF4-FFF2-40B4-BE49-F238E27FC236}">
                <a16:creationId xmlns:a16="http://schemas.microsoft.com/office/drawing/2014/main" id="{C2CD4DF8-EA47-2C8A-933F-79974B660A2B}"/>
              </a:ext>
            </a:extLst>
          </p:cNvPr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  <p:extLst>
      <p:ext uri="{BB962C8B-B14F-4D97-AF65-F5344CB8AC3E}">
        <p14:creationId xmlns:p14="http://schemas.microsoft.com/office/powerpoint/2010/main" val="1144235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lideNum 132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8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133" name="TextBox 133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EMBEDDINGS: TEXT AS NUMBERS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100" b="0" dirty="0">
                <a:solidFill>
                  <a:srgbClr val="FFFFFF"/>
                </a:solidFill>
                <a:latin typeface="Segoe UI Light"/>
                <a:cs typeface="Segoe UI Light"/>
              </a:rPr>
              <a:t>An embedding model turns any text into a fixed-length list of numbers.</a:t>
            </a:r>
          </a:p>
        </p:txBody>
      </p:sp>
      <p:sp>
        <p:nvSpPr>
          <p:cNvPr id="135" name="Card 135"/>
          <p:cNvSpPr/>
          <p:nvPr/>
        </p:nvSpPr>
        <p:spPr>
          <a:xfrm>
            <a:off x="640080" y="2103120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Box 136"/>
          <p:cNvSpPr txBox="1"/>
          <p:nvPr/>
        </p:nvSpPr>
        <p:spPr>
          <a:xfrm>
            <a:off x="914400" y="22860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FFFFFF"/>
                </a:solidFill>
                <a:latin typeface="Segoe UI Light"/>
                <a:cs typeface="Segoe UI Light"/>
              </a:rPr>
              <a:t>“How do I book a doctor?”</a:t>
            </a:r>
          </a:p>
        </p:txBody>
      </p:sp>
      <p:sp>
        <p:nvSpPr>
          <p:cNvPr id="137" name="Arrow 137"/>
          <p:cNvSpPr/>
          <p:nvPr/>
        </p:nvSpPr>
        <p:spPr>
          <a:xfrm>
            <a:off x="5806440" y="2386584"/>
            <a:ext cx="457200" cy="182880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92CD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Box 138"/>
          <p:cNvSpPr txBox="1"/>
          <p:nvPr/>
        </p:nvSpPr>
        <p:spPr>
          <a:xfrm>
            <a:off x="6492240" y="22860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92CDF0"/>
                </a:solidFill>
                <a:latin typeface="Consolas"/>
                <a:cs typeface="Consolas"/>
              </a:rPr>
              <a:t>[ 0.021, -0.144, 0.087, … ]</a:t>
            </a:r>
          </a:p>
        </p:txBody>
      </p:sp>
      <p:sp>
        <p:nvSpPr>
          <p:cNvPr id="139" name="Card 139"/>
          <p:cNvSpPr/>
          <p:nvPr/>
        </p:nvSpPr>
        <p:spPr>
          <a:xfrm>
            <a:off x="640080" y="3017520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Box 140"/>
          <p:cNvSpPr txBox="1"/>
          <p:nvPr/>
        </p:nvSpPr>
        <p:spPr>
          <a:xfrm>
            <a:off x="914400" y="32004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FFFFFF"/>
                </a:solidFill>
                <a:latin typeface="Segoe UI Light"/>
                <a:cs typeface="Segoe UI Light"/>
              </a:rPr>
              <a:t>“Scheduling an appointment”</a:t>
            </a:r>
          </a:p>
        </p:txBody>
      </p:sp>
      <p:sp>
        <p:nvSpPr>
          <p:cNvPr id="141" name="Arrow 141"/>
          <p:cNvSpPr/>
          <p:nvPr/>
        </p:nvSpPr>
        <p:spPr>
          <a:xfrm>
            <a:off x="5806440" y="3300984"/>
            <a:ext cx="457200" cy="182880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92CD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Box 142"/>
          <p:cNvSpPr txBox="1"/>
          <p:nvPr/>
        </p:nvSpPr>
        <p:spPr>
          <a:xfrm>
            <a:off x="6492240" y="32004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92CDF0"/>
                </a:solidFill>
                <a:latin typeface="Consolas"/>
                <a:cs typeface="Consolas"/>
              </a:rPr>
              <a:t>[ 0.019, -0.139, 0.091, … ]</a:t>
            </a:r>
          </a:p>
        </p:txBody>
      </p:sp>
      <p:sp>
        <p:nvSpPr>
          <p:cNvPr id="143" name="Card 143"/>
          <p:cNvSpPr/>
          <p:nvPr/>
        </p:nvSpPr>
        <p:spPr>
          <a:xfrm>
            <a:off x="640080" y="3931920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Box 144"/>
          <p:cNvSpPr txBox="1"/>
          <p:nvPr/>
        </p:nvSpPr>
        <p:spPr>
          <a:xfrm>
            <a:off x="914400" y="4114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FFFFFF"/>
                </a:solidFill>
                <a:latin typeface="Segoe UI Light"/>
                <a:cs typeface="Segoe UI Light"/>
              </a:rPr>
              <a:t>“Parking at the airport”</a:t>
            </a:r>
          </a:p>
        </p:txBody>
      </p:sp>
      <p:sp>
        <p:nvSpPr>
          <p:cNvPr id="145" name="Arrow 145"/>
          <p:cNvSpPr/>
          <p:nvPr/>
        </p:nvSpPr>
        <p:spPr>
          <a:xfrm>
            <a:off x="5806440" y="4215384"/>
            <a:ext cx="457200" cy="182880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A8BB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Box 146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A8BBDD"/>
                </a:solidFill>
                <a:latin typeface="Consolas"/>
                <a:cs typeface="Consolas"/>
              </a:rPr>
              <a:t>[-0.233,  0.402, -0.011, … ]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000" b="0" dirty="0">
                <a:solidFill>
                  <a:srgbClr val="C3B9F2"/>
                </a:solidFill>
                <a:latin typeface="Segoe UI Light"/>
                <a:cs typeface="Segoe UI Light"/>
              </a:rPr>
              <a:t>Close numbers = close meaning. Rows 1 and 2 share no words, yet sit together.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000" b="0" dirty="0">
                <a:solidFill>
                  <a:srgbClr val="A8BBDD"/>
                </a:solidFill>
                <a:latin typeface="Segoe UI Light"/>
                <a:cs typeface="Segoe UI Light"/>
              </a:rPr>
              <a:t>text-embedding-3-small returns 1536 numbers per chunk.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lideNum 150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9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151" name="TextBox 151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MEASURING CLOSENESS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994042" y="1371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100" b="0" dirty="0">
                <a:solidFill>
                  <a:srgbClr val="FFFFFF"/>
                </a:solidFill>
                <a:latin typeface="Segoe UI Light"/>
                <a:cs typeface="Segoe UI Light"/>
              </a:rPr>
              <a:t>Cosine similarity scores the angle between two vectors.</a:t>
            </a:r>
          </a:p>
        </p:txBody>
      </p:sp>
      <p:sp>
        <p:nvSpPr>
          <p:cNvPr id="153" name="Pill 153"/>
          <p:cNvSpPr/>
          <p:nvPr/>
        </p:nvSpPr>
        <p:spPr>
          <a:xfrm>
            <a:off x="994042" y="205740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92CDF0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102858"/>
                </a:solidFill>
                <a:latin typeface="Segoe UI Light"/>
              </a:rPr>
              <a:t>1.0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2639962" y="2167128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100" b="0" dirty="0">
                <a:solidFill>
                  <a:srgbClr val="FFFFFF"/>
                </a:solidFill>
                <a:latin typeface="Segoe UI Light"/>
                <a:cs typeface="Segoe UI Light"/>
              </a:rPr>
              <a:t>Same direction — same meaning</a:t>
            </a:r>
          </a:p>
        </p:txBody>
      </p:sp>
      <p:sp>
        <p:nvSpPr>
          <p:cNvPr id="155" name="Pill 155"/>
          <p:cNvSpPr/>
          <p:nvPr/>
        </p:nvSpPr>
        <p:spPr>
          <a:xfrm>
            <a:off x="994042" y="2862072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A8BBDD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102858"/>
                </a:solidFill>
                <a:latin typeface="Segoe UI Light"/>
              </a:rPr>
              <a:t>0.0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2639962" y="2971800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100" b="0" dirty="0">
                <a:solidFill>
                  <a:srgbClr val="FFFFFF"/>
                </a:solidFill>
                <a:latin typeface="Segoe UI Light"/>
                <a:cs typeface="Segoe UI Light"/>
              </a:rPr>
              <a:t>Unrelated</a:t>
            </a:r>
          </a:p>
        </p:txBody>
      </p:sp>
      <p:sp>
        <p:nvSpPr>
          <p:cNvPr id="157" name="Pill 157"/>
          <p:cNvSpPr/>
          <p:nvPr/>
        </p:nvSpPr>
        <p:spPr>
          <a:xfrm>
            <a:off x="994042" y="3666744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102858"/>
                </a:solidFill>
                <a:latin typeface="Segoe UI Light"/>
              </a:rPr>
              <a:t>-1.0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2639962" y="3776472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100" b="0" dirty="0">
                <a:solidFill>
                  <a:srgbClr val="FFFFFF"/>
                </a:solidFill>
                <a:latin typeface="Segoe UI Light"/>
                <a:cs typeface="Segoe UI Light"/>
              </a:rPr>
              <a:t>Opposite direction</a:t>
            </a:r>
          </a:p>
        </p:txBody>
      </p:sp>
      <p:sp>
        <p:nvSpPr>
          <p:cNvPr id="159" name="Card 159"/>
          <p:cNvSpPr/>
          <p:nvPr/>
        </p:nvSpPr>
        <p:spPr>
          <a:xfrm>
            <a:off x="994042" y="4572000"/>
            <a:ext cx="10067248" cy="1417320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Box 160"/>
          <p:cNvSpPr txBox="1"/>
          <p:nvPr/>
        </p:nvSpPr>
        <p:spPr>
          <a:xfrm>
            <a:off x="1314082" y="4800600"/>
            <a:ext cx="9475057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Search = score the question against every stored chunk, then keep the top few.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2000" b="0" dirty="0">
                <a:solidFill>
                  <a:srgbClr val="64DFED"/>
                </a:solidFill>
                <a:latin typeface="Segoe UI Light"/>
                <a:cs typeface="Segoe UI Light"/>
              </a:rPr>
              <a:t>The vector store does this for us.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WHAT IS A VECTOR STORE?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What it does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Stores text alongside its embedding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Finds the nearest vectors to a query, fast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Returns the original text with each hit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Why not a SQL table?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SQL matches exact values, not meaning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Nearest-neighbour search needs its own index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We start in memory — zero setup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73D4-535B-6DCC-2268-43A5E9E1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PHASE 1 — INGEST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FCA3-0124-0FA6-220B-D72E8F80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0852F-3FB7-6D2E-F6AC-1F6B9CAD2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1. Chunk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35D3F1-0C33-3404-5D49-E70C9D100F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Split each page into passages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Small enough to be specific, big enough to make sense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F7BD8-DA37-58AB-1F45-D0F045DF4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2. Embed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24F2AAC-B18D-1D49-15F1-2D69101664A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Send every chunk to the embedding model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Get back one vector per chunk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68EFF0-69C3-F9AE-1107-E08A22BCF9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3. Upsert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D6980BD-0225-0DD6-3D62-B0B1E983AB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3068680" cy="2578608"/>
          </a:xfrm>
        </p:spPr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Store text, source URL and vector together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Runs once, not per question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7ABA7-FC97-4D42-C4BC-897A88CF3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  <p:extLst>
      <p:ext uri="{BB962C8B-B14F-4D97-AF65-F5344CB8AC3E}">
        <p14:creationId xmlns:p14="http://schemas.microsoft.com/office/powerpoint/2010/main" val="1877080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73D4-535B-6DCC-2268-43A5E9E1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PHASE 2 — QUERY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FCA3-0124-0FA6-220B-D72E8F80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0852F-3FB7-6D2E-F6AC-1F6B9CAD2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1. Embed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35D3F1-0C33-3404-5D49-E70C9D100F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 user’s question goes through the same model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Same vector space, so scores are comparable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5F7BD8-DA37-58AB-1F45-D0F045DF4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2. Search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24F2AAC-B18D-1D49-15F1-2D69101664A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Ask the store for the top 3 nearest chunks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These are our “open book” pages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68EFF0-69C3-F9AE-1107-E08A22BCF9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3. Generate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D6980BD-0225-0DD6-3D62-B0B1E983AB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3068680" cy="2578608"/>
          </a:xfrm>
        </p:spPr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Paste the chunks into the prompt as CONTEXT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Tell the model to answer from context only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7ABA7-FC97-4D42-C4BC-897A88CF3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  <p:extLst>
      <p:ext uri="{BB962C8B-B14F-4D97-AF65-F5344CB8AC3E}">
        <p14:creationId xmlns:p14="http://schemas.microsoft.com/office/powerpoint/2010/main" val="1877080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RAG, FINE-TUNING, OR TOOLS?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Reach for RAG when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 answer lives in documents you control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That content changes often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You need citations back to a source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Reach elsewhere when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You need a new style or format → fine-tune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You need a live action or lookup → tools / MCP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 answer is pure reasoning → just prompt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w Cen MT"/>
                <a:cs typeface="Tw Cen MT"/>
              </a:rPr>
              <a:t>OUR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en-US" sz="2200" b="0" dirty="0">
                <a:solidFill>
                  <a:srgbClr val="FFFFFF"/>
                </a:solidFill>
                <a:latin typeface="Segoe UI Light"/>
                <a:cs typeface="Segoe UI Light"/>
              </a:rPr>
              <a:t>Four packages, two models, no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Num 162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15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163" name="TextBox 163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DEMO ARCHITECTURE</a:t>
            </a:r>
          </a:p>
        </p:txBody>
      </p:sp>
      <p:sp>
        <p:nvSpPr>
          <p:cNvPr id="164" name="Card 164"/>
          <p:cNvSpPr/>
          <p:nvPr/>
        </p:nvSpPr>
        <p:spPr>
          <a:xfrm>
            <a:off x="4796550" y="2779776"/>
            <a:ext cx="3629202" cy="1143000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12700">
            <a:solidFill>
              <a:srgbClr val="92C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Box 165"/>
          <p:cNvSpPr txBox="1"/>
          <p:nvPr/>
        </p:nvSpPr>
        <p:spPr>
          <a:xfrm>
            <a:off x="4897350" y="2971800"/>
            <a:ext cx="3376002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egoe UI Light"/>
                <a:cs typeface="Segoe UI Light"/>
              </a:rPr>
              <a:t>Console app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700" b="0" dirty="0">
                <a:solidFill>
                  <a:srgbClr val="A8BBDD"/>
                </a:solidFill>
                <a:latin typeface="Consolas"/>
                <a:cs typeface="Consolas"/>
              </a:rPr>
              <a:t>Program.cs</a:t>
            </a:r>
          </a:p>
        </p:txBody>
      </p:sp>
      <p:sp>
        <p:nvSpPr>
          <p:cNvPr id="166" name="Card 166"/>
          <p:cNvSpPr/>
          <p:nvPr/>
        </p:nvSpPr>
        <p:spPr>
          <a:xfrm>
            <a:off x="1327355" y="1417320"/>
            <a:ext cx="3165002" cy="1143000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9525">
            <a:solidFill>
              <a:srgbClr val="F6A6F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Box 167"/>
          <p:cNvSpPr txBox="1"/>
          <p:nvPr/>
        </p:nvSpPr>
        <p:spPr>
          <a:xfrm>
            <a:off x="1443395" y="1600200"/>
            <a:ext cx="2911802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6A6F4"/>
                </a:solidFill>
                <a:latin typeface="Segoe UI Light"/>
                <a:cs typeface="Segoe UI Light"/>
              </a:rPr>
              <a:t>docs / *.md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600" b="0" dirty="0">
                <a:solidFill>
                  <a:srgbClr val="A8BBDD"/>
                </a:solidFill>
                <a:latin typeface="Segoe UI Light"/>
                <a:cs typeface="Segoe UI Light"/>
              </a:rPr>
              <a:t>8 pages, saved locally</a:t>
            </a:r>
          </a:p>
        </p:txBody>
      </p:sp>
      <p:sp>
        <p:nvSpPr>
          <p:cNvPr id="168" name="Card 168"/>
          <p:cNvSpPr/>
          <p:nvPr/>
        </p:nvSpPr>
        <p:spPr>
          <a:xfrm>
            <a:off x="1327355" y="4343400"/>
            <a:ext cx="3165002" cy="1143000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9525">
            <a:solidFill>
              <a:srgbClr val="C3B9F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Box 169"/>
          <p:cNvSpPr txBox="1"/>
          <p:nvPr/>
        </p:nvSpPr>
        <p:spPr>
          <a:xfrm>
            <a:off x="1443395" y="4526280"/>
            <a:ext cx="2911802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C3B9F2"/>
                </a:solidFill>
                <a:latin typeface="Segoe UI Light"/>
                <a:cs typeface="Segoe UI Light"/>
              </a:rPr>
              <a:t>In-memory store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600" b="0" dirty="0">
                <a:solidFill>
                  <a:srgbClr val="A8BBDD"/>
                </a:solidFill>
                <a:latin typeface="Segoe UI Light"/>
                <a:cs typeface="Segoe UI Light"/>
              </a:rPr>
              <a:t>chunks + vectors</a:t>
            </a:r>
          </a:p>
        </p:txBody>
      </p:sp>
      <p:sp>
        <p:nvSpPr>
          <p:cNvPr id="170" name="Card 170"/>
          <p:cNvSpPr/>
          <p:nvPr/>
        </p:nvSpPr>
        <p:spPr>
          <a:xfrm>
            <a:off x="8539318" y="1417320"/>
            <a:ext cx="3165002" cy="1143000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9525">
            <a:solidFill>
              <a:srgbClr val="64DF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Box 171"/>
          <p:cNvSpPr txBox="1"/>
          <p:nvPr/>
        </p:nvSpPr>
        <p:spPr>
          <a:xfrm>
            <a:off x="8655358" y="1600200"/>
            <a:ext cx="2911802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64DFED"/>
                </a:solidFill>
                <a:latin typeface="Segoe UI Light"/>
                <a:cs typeface="Segoe UI Light"/>
              </a:rPr>
              <a:t>OpenAI embeddings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600" b="0" dirty="0">
                <a:solidFill>
                  <a:srgbClr val="A8BBDD"/>
                </a:solidFill>
                <a:latin typeface="Segoe UI Light"/>
                <a:cs typeface="Segoe UI Light"/>
              </a:rPr>
              <a:t>text-embedding-3-small</a:t>
            </a:r>
          </a:p>
        </p:txBody>
      </p:sp>
      <p:sp>
        <p:nvSpPr>
          <p:cNvPr id="172" name="Card 172"/>
          <p:cNvSpPr/>
          <p:nvPr/>
        </p:nvSpPr>
        <p:spPr>
          <a:xfrm>
            <a:off x="8539318" y="4343400"/>
            <a:ext cx="3165002" cy="1143000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 w="9525">
            <a:solidFill>
              <a:srgbClr val="92CDF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Box 173"/>
          <p:cNvSpPr txBox="1"/>
          <p:nvPr/>
        </p:nvSpPr>
        <p:spPr>
          <a:xfrm>
            <a:off x="8655358" y="4526280"/>
            <a:ext cx="2911802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92CDF0"/>
                </a:solidFill>
                <a:latin typeface="Segoe UI Light"/>
                <a:cs typeface="Segoe UI Light"/>
              </a:rPr>
              <a:t>OpenAI chat</a:t>
            </a:r>
          </a:p>
          <a:p>
            <a:pPr algn="ctr">
              <a:lnSpc>
                <a:spcPct val="115000"/>
              </a:lnSpc>
              <a:buNone/>
            </a:pPr>
            <a:r>
              <a:rPr lang="en-US" sz="1600" b="0" dirty="0">
                <a:solidFill>
                  <a:srgbClr val="A8BBDD"/>
                </a:solidFill>
                <a:latin typeface="Segoe UI Light"/>
                <a:cs typeface="Segoe UI Light"/>
              </a:rPr>
              <a:t>gpt-4o-mini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  <p:sp>
        <p:nvSpPr>
          <p:cNvPr id="179" name="TextBox 179"/>
          <p:cNvSpPr txBox="1"/>
          <p:nvPr/>
        </p:nvSpPr>
        <p:spPr>
          <a:xfrm>
            <a:off x="1063356" y="5760720"/>
            <a:ext cx="10458083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C3B9F2"/>
                </a:solidFill>
                <a:latin typeface="Segoe UI Light"/>
                <a:cs typeface="Segoe UI Light"/>
              </a:rPr>
              <a:t>Everything runs on your machine except the two OpenAI calls.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lideNum 180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16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181" name="TextBox 181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FOUR NUGET PACKAGES</a:t>
            </a:r>
          </a:p>
        </p:txBody>
      </p:sp>
      <p:sp>
        <p:nvSpPr>
          <p:cNvPr id="182" name="Card 182"/>
          <p:cNvSpPr/>
          <p:nvPr/>
        </p:nvSpPr>
        <p:spPr>
          <a:xfrm>
            <a:off x="944880" y="1481328"/>
            <a:ext cx="10881360" cy="1042416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3" name="Card 183"/>
          <p:cNvSpPr/>
          <p:nvPr/>
        </p:nvSpPr>
        <p:spPr>
          <a:xfrm>
            <a:off x="944880" y="1481328"/>
            <a:ext cx="100584" cy="1042416"/>
          </a:xfrm>
          <a:prstGeom prst="roundRect">
            <a:avLst>
              <a:gd name="adj" fmla="val 20000"/>
            </a:avLst>
          </a:prstGeom>
          <a:solidFill>
            <a:srgbClr val="92CD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Box 184"/>
          <p:cNvSpPr txBox="1"/>
          <p:nvPr/>
        </p:nvSpPr>
        <p:spPr>
          <a:xfrm>
            <a:off x="1264920" y="1636776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92CDF0"/>
                </a:solidFill>
                <a:latin typeface="Consolas"/>
                <a:cs typeface="Consolas"/>
              </a:rPr>
              <a:t>Microsoft.Extensions.AI.OpenAI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Segoe UI Light"/>
                <a:cs typeface="Segoe UI Light"/>
              </a:rPr>
              <a:t>Chat + embedding clients</a:t>
            </a:r>
          </a:p>
        </p:txBody>
      </p:sp>
      <p:sp>
        <p:nvSpPr>
          <p:cNvPr id="185" name="Card 185"/>
          <p:cNvSpPr/>
          <p:nvPr/>
        </p:nvSpPr>
        <p:spPr>
          <a:xfrm>
            <a:off x="944880" y="2651760"/>
            <a:ext cx="10881360" cy="1042416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Card 186"/>
          <p:cNvSpPr/>
          <p:nvPr/>
        </p:nvSpPr>
        <p:spPr>
          <a:xfrm>
            <a:off x="944880" y="2651760"/>
            <a:ext cx="100584" cy="1042416"/>
          </a:xfrm>
          <a:prstGeom prst="roundRect">
            <a:avLst>
              <a:gd name="adj" fmla="val 20000"/>
            </a:avLst>
          </a:prstGeom>
          <a:solidFill>
            <a:srgbClr val="C3B9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Box 187"/>
          <p:cNvSpPr txBox="1"/>
          <p:nvPr/>
        </p:nvSpPr>
        <p:spPr>
          <a:xfrm>
            <a:off x="1264920" y="2807208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3B9F2"/>
                </a:solidFill>
                <a:latin typeface="Consolas"/>
                <a:cs typeface="Consolas"/>
              </a:rPr>
              <a:t>Microsoft.Extensions.VectorData.Abstractions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Segoe UI Light"/>
                <a:cs typeface="Segoe UI Light"/>
              </a:rPr>
              <a:t>Vector-store interfaces and attributes</a:t>
            </a:r>
          </a:p>
        </p:txBody>
      </p:sp>
      <p:sp>
        <p:nvSpPr>
          <p:cNvPr id="188" name="Card 188"/>
          <p:cNvSpPr/>
          <p:nvPr/>
        </p:nvSpPr>
        <p:spPr>
          <a:xfrm>
            <a:off x="944880" y="3822192"/>
            <a:ext cx="10881360" cy="1042416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Card 189"/>
          <p:cNvSpPr/>
          <p:nvPr/>
        </p:nvSpPr>
        <p:spPr>
          <a:xfrm>
            <a:off x="944880" y="3822192"/>
            <a:ext cx="100584" cy="1042416"/>
          </a:xfrm>
          <a:prstGeom prst="roundRect">
            <a:avLst>
              <a:gd name="adj" fmla="val 20000"/>
            </a:avLst>
          </a:prstGeom>
          <a:solidFill>
            <a:srgbClr val="64DF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Box 190"/>
          <p:cNvSpPr txBox="1"/>
          <p:nvPr/>
        </p:nvSpPr>
        <p:spPr>
          <a:xfrm>
            <a:off x="1264920" y="3977640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64DFED"/>
                </a:solidFill>
                <a:latin typeface="Consolas"/>
                <a:cs typeface="Consolas"/>
              </a:rPr>
              <a:t>CommunityToolkit.VectorData.InMemory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 in-memory store itself</a:t>
            </a:r>
          </a:p>
        </p:txBody>
      </p:sp>
      <p:sp>
        <p:nvSpPr>
          <p:cNvPr id="191" name="Card 191"/>
          <p:cNvSpPr/>
          <p:nvPr/>
        </p:nvSpPr>
        <p:spPr>
          <a:xfrm>
            <a:off x="944880" y="4992624"/>
            <a:ext cx="10881360" cy="1042416"/>
          </a:xfrm>
          <a:prstGeom prst="roundRect">
            <a:avLst>
              <a:gd name="adj" fmla="val 3000"/>
            </a:avLst>
          </a:prstGeom>
          <a:solidFill>
            <a:srgbClr val="1B346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Card 192"/>
          <p:cNvSpPr/>
          <p:nvPr/>
        </p:nvSpPr>
        <p:spPr>
          <a:xfrm>
            <a:off x="944880" y="4992624"/>
            <a:ext cx="100584" cy="1042416"/>
          </a:xfrm>
          <a:prstGeom prst="roundRect">
            <a:avLst>
              <a:gd name="adj" fmla="val 20000"/>
            </a:avLst>
          </a:prstGeom>
          <a:solidFill>
            <a:srgbClr val="F6A6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Box 193"/>
          <p:cNvSpPr txBox="1"/>
          <p:nvPr/>
        </p:nvSpPr>
        <p:spPr>
          <a:xfrm>
            <a:off x="1264920" y="514807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6A6F4"/>
                </a:solidFill>
                <a:latin typeface="Consolas"/>
                <a:cs typeface="Consolas"/>
              </a:rPr>
              <a:t>Microsoft.Extensions.Configuration.UserSecrets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Segoe UI Light"/>
                <a:cs typeface="Segoe UI Light"/>
              </a:rPr>
              <a:t>Keeps your API key out of the repo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TWO MODELS, TWO JOBS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text-embedding-3-small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Turns text into 1536 numbers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Used at ingest AND at query time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Cheap enough to re-run the whole corpus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gpt-4o-mini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Writes the final answer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Sees only the retrieved chunks, not the corpus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Swap in a larger model without touching the code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w Cen MT"/>
                <a:cs typeface="Tw Cen MT"/>
              </a:rPr>
              <a:t>BUILD IT — STEP BY STEP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en-US" sz="2200" b="0" dirty="0">
                <a:solidFill>
                  <a:srgbClr val="FFFFFF"/>
                </a:solidFill>
                <a:latin typeface="Segoe UI Light"/>
                <a:cs typeface="Segoe UI Light"/>
              </a:rPr>
              <a:t>Open VS Code and follow along</a:t>
            </a:r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lideNum 195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19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196" name="Pill 196"/>
          <p:cNvSpPr/>
          <p:nvPr/>
        </p:nvSpPr>
        <p:spPr>
          <a:xfrm>
            <a:off x="640080" y="347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102858"/>
                </a:solidFill>
                <a:latin typeface="Segoe UI Light"/>
              </a:rPr>
              <a:t>STEP 1</a:t>
            </a:r>
          </a:p>
        </p:txBody>
      </p:sp>
      <p:sp>
        <p:nvSpPr>
          <p:cNvPr id="197" name="TextBox 197"/>
          <p:cNvSpPr txBox="1"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w Cen MT"/>
                <a:cs typeface="Tw Cen MT"/>
              </a:rPr>
              <a:t>CREATE THE CONSOLE APP</a:t>
            </a:r>
          </a:p>
        </p:txBody>
      </p:sp>
      <p:sp>
        <p:nvSpPr>
          <p:cNvPr id="198" name="Card 198"/>
          <p:cNvSpPr/>
          <p:nvPr/>
        </p:nvSpPr>
        <p:spPr>
          <a:xfrm>
            <a:off x="640080" y="1691640"/>
            <a:ext cx="10881360" cy="2040128"/>
          </a:xfrm>
          <a:prstGeom prst="roundRect">
            <a:avLst>
              <a:gd name="adj" fmla="val 3000"/>
            </a:avLst>
          </a:prstGeom>
          <a:solidFill>
            <a:srgbClr val="0A1C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Box 199"/>
          <p:cNvSpPr txBox="1"/>
          <p:nvPr/>
        </p:nvSpPr>
        <p:spPr>
          <a:xfrm>
            <a:off x="960120" y="1975104"/>
            <a:ext cx="10332720" cy="147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mkdir RagDemo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cd RagDemo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dotnet new console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code .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640080" y="393293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64DFED"/>
                </a:solidFill>
                <a:latin typeface="Segoe UI Light"/>
                <a:cs typeface="Segoe UI Light"/>
              </a:rPr>
              <a:t>✓  Program.cs and RagDemo.csproj appear in the Explorer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640080" y="43901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800" b="0" dirty="0">
                <a:solidFill>
                  <a:srgbClr val="A8BBDD"/>
                </a:solidFill>
                <a:latin typeface="Segoe UI Light"/>
                <a:cs typeface="Segoe UI Light"/>
              </a:rPr>
              <a:t>VS Code will offer to add build and debug assets — accept.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lideNum 203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20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204" name="Pill 204"/>
          <p:cNvSpPr/>
          <p:nvPr/>
        </p:nvSpPr>
        <p:spPr>
          <a:xfrm>
            <a:off x="640080" y="347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102858"/>
                </a:solidFill>
                <a:latin typeface="Segoe UI Light"/>
              </a:rPr>
              <a:t>STEP 2</a:t>
            </a:r>
          </a:p>
        </p:txBody>
      </p:sp>
      <p:sp>
        <p:nvSpPr>
          <p:cNvPr id="205" name="TextBox 205"/>
          <p:cNvSpPr txBox="1"/>
          <p:nvPr/>
        </p:nvSpPr>
        <p:spPr>
          <a:xfrm>
            <a:off x="960120" y="841248"/>
            <a:ext cx="1056132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w Cen MT"/>
                <a:cs typeface="Tw Cen MT"/>
              </a:rPr>
              <a:t>ADD THE PACKAGES</a:t>
            </a:r>
          </a:p>
        </p:txBody>
      </p:sp>
      <p:sp>
        <p:nvSpPr>
          <p:cNvPr id="206" name="Card 206"/>
          <p:cNvSpPr/>
          <p:nvPr/>
        </p:nvSpPr>
        <p:spPr>
          <a:xfrm>
            <a:off x="1188720" y="1691640"/>
            <a:ext cx="10332720" cy="2040128"/>
          </a:xfrm>
          <a:prstGeom prst="roundRect">
            <a:avLst>
              <a:gd name="adj" fmla="val 3000"/>
            </a:avLst>
          </a:prstGeom>
          <a:solidFill>
            <a:srgbClr val="0A1C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Box 207"/>
          <p:cNvSpPr txBox="1"/>
          <p:nvPr/>
        </p:nvSpPr>
        <p:spPr>
          <a:xfrm>
            <a:off x="1327354" y="1975104"/>
            <a:ext cx="9965485" cy="147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dotnet add package Microsoft.Extensions.AI.OpenAI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dotnet add package </a:t>
            </a:r>
            <a:r>
              <a:rPr lang="en-US" sz="2000" b="0" dirty="0" err="1">
                <a:solidFill>
                  <a:srgbClr val="FFFFFF"/>
                </a:solidFill>
                <a:latin typeface="Consolas"/>
                <a:cs typeface="Consolas"/>
              </a:rPr>
              <a:t>Microsoft.Extensions.VectorData.Abstractions</a:t>
            </a:r>
            <a:endParaRPr lang="en-US" sz="2000" b="0" dirty="0">
              <a:solidFill>
                <a:srgbClr val="FFFFFF"/>
              </a:solidFill>
              <a:latin typeface="Consolas"/>
              <a:cs typeface="Consolas"/>
            </a:endParaRPr>
          </a:p>
          <a:p>
            <a:pPr>
              <a:lnSpc>
                <a:spcPct val="118000"/>
              </a:lnSpc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dotnet </a:t>
            </a:r>
            <a:r>
              <a:rPr lang="en-US" sz="2000" dirty="0">
                <a:solidFill>
                  <a:srgbClr val="FFFFFF"/>
                </a:solidFill>
                <a:latin typeface="Consolas"/>
              </a:rPr>
              <a:t>add package </a:t>
            </a:r>
            <a:r>
              <a:rPr lang="en-US" sz="2000" dirty="0" err="1">
                <a:solidFill>
                  <a:srgbClr val="FFFFFF"/>
                </a:solidFill>
                <a:latin typeface="Consolas"/>
              </a:rPr>
              <a:t>CommunityToolkit.VectorData.InMemory</a:t>
            </a:r>
            <a:endParaRPr lang="en-US" sz="2000" dirty="0">
              <a:solidFill>
                <a:srgbClr val="FFFFFF"/>
              </a:solidFill>
              <a:latin typeface="Consolas"/>
            </a:endParaRP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dotnet add package Microsoft.Extensions.Configuration.UserSecrets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Num 210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21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211" name="Pill 211"/>
          <p:cNvSpPr/>
          <p:nvPr/>
        </p:nvSpPr>
        <p:spPr>
          <a:xfrm>
            <a:off x="640080" y="347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102858"/>
                </a:solidFill>
                <a:latin typeface="Segoe UI Light"/>
              </a:rPr>
              <a:t>STEP 3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885891" y="8412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w Cen MT"/>
                <a:cs typeface="Tw Cen MT"/>
              </a:rPr>
              <a:t>STORE YOUR API KEY</a:t>
            </a:r>
          </a:p>
        </p:txBody>
      </p:sp>
      <p:sp>
        <p:nvSpPr>
          <p:cNvPr id="213" name="Card 213"/>
          <p:cNvSpPr/>
          <p:nvPr/>
        </p:nvSpPr>
        <p:spPr>
          <a:xfrm>
            <a:off x="885891" y="1691640"/>
            <a:ext cx="10881360" cy="1303528"/>
          </a:xfrm>
          <a:prstGeom prst="roundRect">
            <a:avLst>
              <a:gd name="adj" fmla="val 3000"/>
            </a:avLst>
          </a:prstGeom>
          <a:solidFill>
            <a:srgbClr val="0A1C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4" name="TextBox 214"/>
          <p:cNvSpPr txBox="1"/>
          <p:nvPr/>
        </p:nvSpPr>
        <p:spPr>
          <a:xfrm>
            <a:off x="1205931" y="1975104"/>
            <a:ext cx="10332720" cy="736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dotnet user-secrets init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dotnet user-secrets set "OpenAI:Key" "</a:t>
            </a:r>
            <a:r>
              <a:rPr lang="en-US" sz="2000" b="0" dirty="0" err="1">
                <a:solidFill>
                  <a:srgbClr val="FFFFFF"/>
                </a:solidFill>
                <a:latin typeface="Consolas"/>
                <a:cs typeface="Consolas"/>
              </a:rPr>
              <a:t>sk</a:t>
            </a: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-..."</a:t>
            </a:r>
          </a:p>
        </p:txBody>
      </p:sp>
      <p:sp>
        <p:nvSpPr>
          <p:cNvPr id="215" name="TextBox 215"/>
          <p:cNvSpPr txBox="1"/>
          <p:nvPr/>
        </p:nvSpPr>
        <p:spPr>
          <a:xfrm>
            <a:off x="885891" y="319633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64DFED"/>
                </a:solidFill>
                <a:latin typeface="Segoe UI Light"/>
                <a:cs typeface="Segoe UI Light"/>
              </a:rPr>
              <a:t>✓  A UserSecretsId element is added to the .csproj</a:t>
            </a:r>
          </a:p>
        </p:txBody>
      </p:sp>
      <p:sp>
        <p:nvSpPr>
          <p:cNvPr id="216" name="TextBox 216"/>
          <p:cNvSpPr txBox="1"/>
          <p:nvPr/>
        </p:nvSpPr>
        <p:spPr>
          <a:xfrm>
            <a:off x="885891" y="36535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800" b="0" dirty="0">
                <a:solidFill>
                  <a:srgbClr val="A8BBDD"/>
                </a:solidFill>
                <a:latin typeface="Segoe UI Light"/>
                <a:cs typeface="Segoe UI Light"/>
              </a:rPr>
              <a:t>Secrets live outside the repo — never commit a key.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lideNum 218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22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219" name="Pill 219"/>
          <p:cNvSpPr/>
          <p:nvPr/>
        </p:nvSpPr>
        <p:spPr>
          <a:xfrm>
            <a:off x="640080" y="347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102858"/>
                </a:solidFill>
                <a:latin typeface="Segoe UI Light"/>
              </a:rPr>
              <a:t>STEP 4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w Cen MT"/>
                <a:cs typeface="Tw Cen MT"/>
              </a:rPr>
              <a:t>BOILERPLATE</a:t>
            </a:r>
          </a:p>
        </p:txBody>
      </p:sp>
      <p:sp>
        <p:nvSpPr>
          <p:cNvPr id="221" name="Card 221"/>
          <p:cNvSpPr/>
          <p:nvPr/>
        </p:nvSpPr>
        <p:spPr>
          <a:xfrm>
            <a:off x="640080" y="1691640"/>
            <a:ext cx="10881360" cy="3513328"/>
          </a:xfrm>
          <a:prstGeom prst="roundRect">
            <a:avLst>
              <a:gd name="adj" fmla="val 3000"/>
            </a:avLst>
          </a:prstGeom>
          <a:solidFill>
            <a:srgbClr val="0A1C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Box 222"/>
          <p:cNvSpPr txBox="1"/>
          <p:nvPr/>
        </p:nvSpPr>
        <p:spPr>
          <a:xfrm>
            <a:off x="960120" y="1975104"/>
            <a:ext cx="10332720" cy="2946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b="0" dirty="0">
                <a:solidFill>
                  <a:srgbClr val="FFFFFF"/>
                </a:solidFill>
                <a:latin typeface="Consolas"/>
                <a:cs typeface="Consolas"/>
              </a:rPr>
              <a:t>using </a:t>
            </a:r>
            <a:r>
              <a:rPr lang="en-US" b="0" dirty="0" err="1">
                <a:solidFill>
                  <a:srgbClr val="FFFFFF"/>
                </a:solidFill>
                <a:latin typeface="Consolas"/>
                <a:cs typeface="Consolas"/>
              </a:rPr>
              <a:t>System.Text</a:t>
            </a:r>
            <a:r>
              <a:rPr lang="en-US" b="0" dirty="0">
                <a:solidFill>
                  <a:srgbClr val="FFFFFF"/>
                </a:solidFill>
                <a:latin typeface="Consolas"/>
                <a:cs typeface="Consolas"/>
              </a:rPr>
              <a:t>;</a:t>
            </a:r>
            <a:br>
              <a:rPr lang="en-US" b="0" dirty="0">
                <a:solidFill>
                  <a:srgbClr val="FFFFFF"/>
                </a:solidFill>
                <a:latin typeface="Consolas"/>
                <a:cs typeface="Consolas"/>
              </a:rPr>
            </a:br>
            <a:r>
              <a:rPr lang="en-US" b="0" dirty="0">
                <a:solidFill>
                  <a:srgbClr val="FFFFFF"/>
                </a:solidFill>
                <a:latin typeface="Consolas"/>
                <a:cs typeface="Consolas"/>
              </a:rPr>
              <a:t>using OpenAI;</a:t>
            </a:r>
          </a:p>
          <a:p>
            <a:pPr algn="l">
              <a:lnSpc>
                <a:spcPct val="118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onsolas"/>
              </a:rPr>
              <a:t>using </a:t>
            </a:r>
            <a:r>
              <a:rPr lang="en-US" dirty="0" err="1">
                <a:solidFill>
                  <a:srgbClr val="FFFFFF"/>
                </a:solidFill>
                <a:latin typeface="Consolas"/>
              </a:rPr>
              <a:t>Microsoft.Extensions.Configuration</a:t>
            </a:r>
            <a:r>
              <a:rPr lang="en-US" dirty="0">
                <a:solidFill>
                  <a:srgbClr val="FFFFFF"/>
                </a:solidFill>
                <a:latin typeface="Consolas"/>
              </a:rPr>
              <a:t>;</a:t>
            </a:r>
          </a:p>
          <a:p>
            <a:pPr algn="l">
              <a:lnSpc>
                <a:spcPct val="118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onsolas"/>
              </a:rPr>
              <a:t>using Microsoft.Extensions.AI;</a:t>
            </a:r>
          </a:p>
          <a:p>
            <a:pPr algn="l">
              <a:lnSpc>
                <a:spcPct val="118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onsolas"/>
              </a:rPr>
              <a:t>using </a:t>
            </a:r>
            <a:r>
              <a:rPr lang="en-US" dirty="0" err="1">
                <a:solidFill>
                  <a:srgbClr val="FFFFFF"/>
                </a:solidFill>
                <a:latin typeface="Consolas"/>
              </a:rPr>
              <a:t>Microsoft.Extensions.VectorData</a:t>
            </a:r>
            <a:r>
              <a:rPr lang="en-US" dirty="0">
                <a:solidFill>
                  <a:srgbClr val="FFFFFF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FFFFFF"/>
                </a:solidFill>
                <a:latin typeface="Consolas"/>
              </a:rPr>
              <a:t>using </a:t>
            </a:r>
            <a:r>
              <a:rPr lang="en-US" dirty="0" err="1">
                <a:solidFill>
                  <a:srgbClr val="FFFFFF"/>
                </a:solidFill>
                <a:latin typeface="Consolas"/>
              </a:rPr>
              <a:t>CommunityToolkit.VectorData.InMemory</a:t>
            </a:r>
            <a:r>
              <a:rPr lang="en-US" dirty="0">
                <a:solidFill>
                  <a:srgbClr val="FFFFFF"/>
                </a:solidFill>
                <a:latin typeface="Consolas"/>
              </a:rPr>
              <a:t>;</a:t>
            </a:r>
          </a:p>
          <a:p>
            <a:pPr algn="l">
              <a:lnSpc>
                <a:spcPct val="118000"/>
              </a:lnSpc>
              <a:buNone/>
            </a:pPr>
            <a:endParaRPr lang="en-US" b="0" dirty="0">
              <a:solidFill>
                <a:srgbClr val="FFFFFF"/>
              </a:solidFill>
              <a:latin typeface="Consolas"/>
              <a:cs typeface="Consolas"/>
            </a:endParaRPr>
          </a:p>
          <a:p>
            <a:pPr algn="l">
              <a:lnSpc>
                <a:spcPct val="118000"/>
              </a:lnSpc>
              <a:buNone/>
            </a:pPr>
            <a:r>
              <a:rPr lang="en-US" b="0" dirty="0">
                <a:solidFill>
                  <a:srgbClr val="FFFFFF"/>
                </a:solidFill>
                <a:latin typeface="Consolas"/>
                <a:cs typeface="Consolas"/>
              </a:rPr>
              <a:t>var config = new </a:t>
            </a:r>
            <a:r>
              <a:rPr lang="en-US" b="0" dirty="0" err="1">
                <a:solidFill>
                  <a:srgbClr val="FFFFFF"/>
                </a:solidFill>
                <a:latin typeface="Consolas"/>
                <a:cs typeface="Consolas"/>
              </a:rPr>
              <a:t>ConfigurationBuilder</a:t>
            </a:r>
            <a:r>
              <a:rPr lang="en-US" b="0" dirty="0">
                <a:solidFill>
                  <a:srgbClr val="FFFFFF"/>
                </a:solidFill>
                <a:latin typeface="Consolas"/>
                <a:cs typeface="Consolas"/>
              </a:rPr>
              <a:t>()</a:t>
            </a:r>
          </a:p>
          <a:p>
            <a:pPr algn="l">
              <a:lnSpc>
                <a:spcPct val="118000"/>
              </a:lnSpc>
              <a:buNone/>
            </a:pPr>
            <a:r>
              <a:rPr lang="en-US" b="0" dirty="0">
                <a:solidFill>
                  <a:srgbClr val="FFFFFF"/>
                </a:solidFill>
                <a:latin typeface="Consolas"/>
                <a:cs typeface="Consolas"/>
              </a:rPr>
              <a:t>    .</a:t>
            </a:r>
            <a:r>
              <a:rPr lang="en-US" b="0" dirty="0" err="1">
                <a:solidFill>
                  <a:srgbClr val="FFFFFF"/>
                </a:solidFill>
                <a:latin typeface="Consolas"/>
                <a:cs typeface="Consolas"/>
              </a:rPr>
              <a:t>AddUserSecrets</a:t>
            </a:r>
            <a:r>
              <a:rPr lang="en-US" b="0" dirty="0">
                <a:solidFill>
                  <a:srgbClr val="FFFFFF"/>
                </a:solidFill>
                <a:latin typeface="Consolas"/>
                <a:cs typeface="Consolas"/>
              </a:rPr>
              <a:t>&lt;Program&gt;()</a:t>
            </a:r>
          </a:p>
          <a:p>
            <a:pPr algn="l">
              <a:lnSpc>
                <a:spcPct val="118000"/>
              </a:lnSpc>
              <a:buNone/>
            </a:pPr>
            <a:r>
              <a:rPr lang="en-US" b="0" dirty="0">
                <a:solidFill>
                  <a:srgbClr val="FFFFFF"/>
                </a:solidFill>
                <a:latin typeface="Consolas"/>
                <a:cs typeface="Consolas"/>
              </a:rPr>
              <a:t>    .Build();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640080" y="540613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64DFED"/>
                </a:solidFill>
                <a:latin typeface="Segoe UI Light"/>
                <a:cs typeface="Segoe UI Light"/>
              </a:rPr>
              <a:t>✓  We’ll be using OpenAI APIs in this demo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45546-70CB-8D92-2A43-ACAB416C0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lideNum 218">
            <a:extLst>
              <a:ext uri="{FF2B5EF4-FFF2-40B4-BE49-F238E27FC236}">
                <a16:creationId xmlns:a16="http://schemas.microsoft.com/office/drawing/2014/main" id="{E1DE3BA0-C1D6-FA78-F9CD-B67C21AD52EB}"/>
              </a:ext>
            </a:extLst>
          </p:cNvPr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23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219" name="Pill 219">
            <a:extLst>
              <a:ext uri="{FF2B5EF4-FFF2-40B4-BE49-F238E27FC236}">
                <a16:creationId xmlns:a16="http://schemas.microsoft.com/office/drawing/2014/main" id="{4E5A8F85-B7E9-BF1E-9BD0-EB4EC3C6F042}"/>
              </a:ext>
            </a:extLst>
          </p:cNvPr>
          <p:cNvSpPr/>
          <p:nvPr/>
        </p:nvSpPr>
        <p:spPr>
          <a:xfrm>
            <a:off x="640080" y="347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102858"/>
                </a:solidFill>
                <a:latin typeface="Segoe UI Light"/>
              </a:rPr>
              <a:t>STEP 4</a:t>
            </a:r>
          </a:p>
        </p:txBody>
      </p:sp>
      <p:sp>
        <p:nvSpPr>
          <p:cNvPr id="220" name="TextBox 220">
            <a:extLst>
              <a:ext uri="{FF2B5EF4-FFF2-40B4-BE49-F238E27FC236}">
                <a16:creationId xmlns:a16="http://schemas.microsoft.com/office/drawing/2014/main" id="{A3423A3D-4DE3-6B86-8256-DA98D6D7177B}"/>
              </a:ext>
            </a:extLst>
          </p:cNvPr>
          <p:cNvSpPr txBox="1"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w Cen MT"/>
                <a:cs typeface="Tw Cen MT"/>
              </a:rPr>
              <a:t>CREATE THE CLIENTS</a:t>
            </a:r>
          </a:p>
        </p:txBody>
      </p:sp>
      <p:sp>
        <p:nvSpPr>
          <p:cNvPr id="221" name="Card 221">
            <a:extLst>
              <a:ext uri="{FF2B5EF4-FFF2-40B4-BE49-F238E27FC236}">
                <a16:creationId xmlns:a16="http://schemas.microsoft.com/office/drawing/2014/main" id="{11E80FCE-01E1-E01E-54A5-3DA27A5C3A2B}"/>
              </a:ext>
            </a:extLst>
          </p:cNvPr>
          <p:cNvSpPr/>
          <p:nvPr/>
        </p:nvSpPr>
        <p:spPr>
          <a:xfrm>
            <a:off x="640080" y="1691640"/>
            <a:ext cx="10881360" cy="3513328"/>
          </a:xfrm>
          <a:prstGeom prst="roundRect">
            <a:avLst>
              <a:gd name="adj" fmla="val 3000"/>
            </a:avLst>
          </a:prstGeom>
          <a:solidFill>
            <a:srgbClr val="0A1C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Box 222">
            <a:extLst>
              <a:ext uri="{FF2B5EF4-FFF2-40B4-BE49-F238E27FC236}">
                <a16:creationId xmlns:a16="http://schemas.microsoft.com/office/drawing/2014/main" id="{1C11C8B4-372E-7B71-EE1F-793529659394}"/>
              </a:ext>
            </a:extLst>
          </p:cNvPr>
          <p:cNvSpPr txBox="1"/>
          <p:nvPr/>
        </p:nvSpPr>
        <p:spPr>
          <a:xfrm>
            <a:off x="960120" y="1975104"/>
            <a:ext cx="10332720" cy="2946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var openAi = new OpenAIClient(config["OpenAI:Key"]!);</a:t>
            </a:r>
          </a:p>
          <a:p>
            <a:pPr algn="l">
              <a:lnSpc>
                <a:spcPct val="118000"/>
              </a:lnSpc>
              <a:buNone/>
            </a:pPr>
            <a:endParaRPr lang="en-US" sz="2000" dirty="0"/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var embedder = openAi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.GetEmbeddingClient("text-embedding-3-small")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.AsIEmbeddingGenerator();</a:t>
            </a:r>
          </a:p>
          <a:p>
            <a:pPr algn="l">
              <a:lnSpc>
                <a:spcPct val="118000"/>
              </a:lnSpc>
              <a:buNone/>
            </a:pPr>
            <a:endParaRPr lang="en-US" sz="2000" dirty="0"/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var chat = openAi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.GetChatClient("gpt-4o-mini").AsIChatClient();</a:t>
            </a:r>
          </a:p>
        </p:txBody>
      </p:sp>
      <p:sp>
        <p:nvSpPr>
          <p:cNvPr id="223" name="TextBox 223">
            <a:extLst>
              <a:ext uri="{FF2B5EF4-FFF2-40B4-BE49-F238E27FC236}">
                <a16:creationId xmlns:a16="http://schemas.microsoft.com/office/drawing/2014/main" id="{79048337-6F84-F516-1738-47DD12D97A32}"/>
              </a:ext>
            </a:extLst>
          </p:cNvPr>
          <p:cNvSpPr txBox="1"/>
          <p:nvPr/>
        </p:nvSpPr>
        <p:spPr>
          <a:xfrm>
            <a:off x="640080" y="540613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64DFED"/>
                </a:solidFill>
                <a:latin typeface="Segoe UI Light"/>
                <a:cs typeface="Segoe UI Light"/>
              </a:rPr>
              <a:t>✓  Two clients: one makes vectors, one writes answers</a:t>
            </a:r>
          </a:p>
        </p:txBody>
      </p:sp>
      <p:sp>
        <p:nvSpPr>
          <p:cNvPr id="224" name="TextBox 224">
            <a:extLst>
              <a:ext uri="{FF2B5EF4-FFF2-40B4-BE49-F238E27FC236}">
                <a16:creationId xmlns:a16="http://schemas.microsoft.com/office/drawing/2014/main" id="{EEF20391-E8EB-85A8-0DE3-1B9CA6E43000}"/>
              </a:ext>
            </a:extLst>
          </p:cNvPr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  <p:extLst>
      <p:ext uri="{BB962C8B-B14F-4D97-AF65-F5344CB8AC3E}">
        <p14:creationId xmlns:p14="http://schemas.microsoft.com/office/powerpoint/2010/main" val="1085532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lideNum 225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24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226" name="Pill 226"/>
          <p:cNvSpPr/>
          <p:nvPr/>
        </p:nvSpPr>
        <p:spPr>
          <a:xfrm>
            <a:off x="640080" y="347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102858"/>
                </a:solidFill>
                <a:latin typeface="Segoe UI Light"/>
              </a:rPr>
              <a:t>STEP 5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w Cen MT"/>
                <a:cs typeface="Tw Cen MT"/>
              </a:rPr>
              <a:t>DEFINE THE RECORD</a:t>
            </a:r>
          </a:p>
        </p:txBody>
      </p:sp>
      <p:sp>
        <p:nvSpPr>
          <p:cNvPr id="228" name="Card 228"/>
          <p:cNvSpPr/>
          <p:nvPr/>
        </p:nvSpPr>
        <p:spPr>
          <a:xfrm>
            <a:off x="640080" y="1691640"/>
            <a:ext cx="10881360" cy="3513328"/>
          </a:xfrm>
          <a:prstGeom prst="roundRect">
            <a:avLst>
              <a:gd name="adj" fmla="val 3000"/>
            </a:avLst>
          </a:prstGeom>
          <a:solidFill>
            <a:srgbClr val="0A1C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9" name="TextBox 229"/>
          <p:cNvSpPr txBox="1"/>
          <p:nvPr/>
        </p:nvSpPr>
        <p:spPr>
          <a:xfrm>
            <a:off x="960120" y="1975104"/>
            <a:ext cx="10332720" cy="2946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public class PageChunk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{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[VectorStoreKey]  public string Id { get; set; } = "";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[VectorStoreData] public string Text { get; set; } = "";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[VectorStoreData] public string Url { get; set; } = "";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[VectorStoreVector(1536)]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public ReadOnlyMemory&lt;float&gt; Embedding { get; set; }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230" name="TextBox 230"/>
          <p:cNvSpPr txBox="1"/>
          <p:nvPr/>
        </p:nvSpPr>
        <p:spPr>
          <a:xfrm>
            <a:off x="640080" y="540613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64DFED"/>
                </a:solidFill>
                <a:latin typeface="Segoe UI Light"/>
                <a:cs typeface="Segoe UI Light"/>
              </a:rPr>
              <a:t>✓  1536 must match the embedding model’s dimensions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lideNum 232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25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233" name="Pill 233"/>
          <p:cNvSpPr/>
          <p:nvPr/>
        </p:nvSpPr>
        <p:spPr>
          <a:xfrm>
            <a:off x="640080" y="347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102858"/>
                </a:solidFill>
                <a:latin typeface="Segoe UI Light"/>
              </a:rPr>
              <a:t>STEP 6</a:t>
            </a:r>
          </a:p>
        </p:txBody>
      </p:sp>
      <p:sp>
        <p:nvSpPr>
          <p:cNvPr id="234" name="TextBox 234"/>
          <p:cNvSpPr txBox="1"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w Cen MT"/>
                <a:cs typeface="Tw Cen MT"/>
              </a:rPr>
              <a:t>CREATE THE VECTOR STORE</a:t>
            </a:r>
          </a:p>
        </p:txBody>
      </p:sp>
      <p:sp>
        <p:nvSpPr>
          <p:cNvPr id="235" name="Card 235"/>
          <p:cNvSpPr/>
          <p:nvPr/>
        </p:nvSpPr>
        <p:spPr>
          <a:xfrm>
            <a:off x="640080" y="1691640"/>
            <a:ext cx="10881360" cy="3145028"/>
          </a:xfrm>
          <a:prstGeom prst="roundRect">
            <a:avLst>
              <a:gd name="adj" fmla="val 3000"/>
            </a:avLst>
          </a:prstGeom>
          <a:solidFill>
            <a:srgbClr val="0A1C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6" name="TextBox 236"/>
          <p:cNvSpPr txBox="1"/>
          <p:nvPr/>
        </p:nvSpPr>
        <p:spPr>
          <a:xfrm>
            <a:off x="960120" y="1975104"/>
            <a:ext cx="10332720" cy="2578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var store = new InMemoryVectorStore(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new() { EmbeddingGenerator = embedder });</a:t>
            </a:r>
          </a:p>
          <a:p>
            <a:pPr algn="l">
              <a:lnSpc>
                <a:spcPct val="118000"/>
              </a:lnSpc>
              <a:buNone/>
            </a:pPr>
            <a:endParaRPr lang="en-US" sz="2000" dirty="0"/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var pages = store.GetCollection&lt;string, PageChunk&gt;(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"site-pages");</a:t>
            </a:r>
          </a:p>
          <a:p>
            <a:pPr algn="l">
              <a:lnSpc>
                <a:spcPct val="118000"/>
              </a:lnSpc>
              <a:buNone/>
            </a:pPr>
            <a:endParaRPr lang="en-US" sz="2000" dirty="0"/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await pages.EnsureCollectionExistsAsync();</a:t>
            </a:r>
          </a:p>
        </p:txBody>
      </p:sp>
      <p:sp>
        <p:nvSpPr>
          <p:cNvPr id="237" name="TextBox 237"/>
          <p:cNvSpPr txBox="1"/>
          <p:nvPr/>
        </p:nvSpPr>
        <p:spPr>
          <a:xfrm>
            <a:off x="640080" y="503783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64DFED"/>
                </a:solidFill>
                <a:latin typeface="Segoe UI Light"/>
                <a:cs typeface="Segoe UI Light"/>
              </a:rPr>
              <a:t>✓  This is a “toy” in-memory vector store</a:t>
            </a:r>
          </a:p>
        </p:txBody>
      </p:sp>
      <p:sp>
        <p:nvSpPr>
          <p:cNvPr id="238" name="TextBox 238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lideNum 239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26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240" name="Pill 240"/>
          <p:cNvSpPr/>
          <p:nvPr/>
        </p:nvSpPr>
        <p:spPr>
          <a:xfrm>
            <a:off x="640080" y="347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102858"/>
                </a:solidFill>
                <a:latin typeface="Segoe UI Light"/>
              </a:rPr>
              <a:t>STEP 7</a:t>
            </a:r>
          </a:p>
        </p:txBody>
      </p:sp>
      <p:sp>
        <p:nvSpPr>
          <p:cNvPr id="241" name="TextBox 241"/>
          <p:cNvSpPr txBox="1"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w Cen MT"/>
                <a:cs typeface="Tw Cen MT"/>
              </a:rPr>
              <a:t>POINT AT THE CORPUS</a:t>
            </a:r>
          </a:p>
        </p:txBody>
      </p:sp>
      <p:sp>
        <p:nvSpPr>
          <p:cNvPr id="242" name="Card 242"/>
          <p:cNvSpPr/>
          <p:nvPr/>
        </p:nvSpPr>
        <p:spPr>
          <a:xfrm>
            <a:off x="640080" y="1691640"/>
            <a:ext cx="10881360" cy="3145028"/>
          </a:xfrm>
          <a:prstGeom prst="roundRect">
            <a:avLst>
              <a:gd name="adj" fmla="val 3000"/>
            </a:avLst>
          </a:prstGeom>
          <a:solidFill>
            <a:srgbClr val="0A1C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3" name="TextBox 243"/>
          <p:cNvSpPr txBox="1"/>
          <p:nvPr/>
        </p:nvSpPr>
        <p:spPr>
          <a:xfrm>
            <a:off x="960120" y="1975104"/>
            <a:ext cx="10332720" cy="2578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var files = Directory.GetFiles("docs", "*.md");</a:t>
            </a:r>
          </a:p>
          <a:p>
            <a:pPr algn="l">
              <a:lnSpc>
                <a:spcPct val="118000"/>
              </a:lnSpc>
              <a:buNone/>
            </a:pPr>
            <a:endParaRPr lang="en-US" sz="2000" dirty="0"/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foreach (var file in files)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{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var text = await File.ReadAllTextAsync(file);</a:t>
            </a:r>
          </a:p>
          <a:p>
            <a:pPr>
              <a:lnSpc>
                <a:spcPct val="118000"/>
              </a:lnSpc>
            </a:pPr>
            <a:r>
              <a:rPr lang="en-US" sz="2000" dirty="0">
                <a:solidFill>
                  <a:srgbClr val="FFFFFF"/>
                </a:solidFill>
                <a:latin typeface="Consolas"/>
              </a:rPr>
              <a:t>    </a:t>
            </a:r>
            <a:r>
              <a:rPr lang="en-US" sz="2000" dirty="0" err="1">
                <a:solidFill>
                  <a:srgbClr val="FFFFFF"/>
                </a:solidFill>
                <a:latin typeface="Consolas"/>
              </a:rPr>
              <a:t>Console.WriteLine</a:t>
            </a:r>
            <a:r>
              <a:rPr lang="en-US" sz="2000" dirty="0">
                <a:solidFill>
                  <a:srgbClr val="FFFFFF"/>
                </a:solidFill>
                <a:latin typeface="Consolas"/>
              </a:rPr>
              <a:t>($"Loading file {file}...");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// chunk + embed next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244" name="TextBox 244"/>
          <p:cNvSpPr txBox="1"/>
          <p:nvPr/>
        </p:nvSpPr>
        <p:spPr>
          <a:xfrm>
            <a:off x="640080" y="503783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64DFED"/>
                </a:solidFill>
                <a:latin typeface="Segoe UI Light"/>
                <a:cs typeface="Segoe UI Light"/>
              </a:rPr>
              <a:t>✓  8 pages saved from the target website sit in docs/</a:t>
            </a:r>
          </a:p>
        </p:txBody>
      </p:sp>
      <p:sp>
        <p:nvSpPr>
          <p:cNvPr id="245" name="TextBox 245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Num 2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27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247" name="Pill 247"/>
          <p:cNvSpPr/>
          <p:nvPr/>
        </p:nvSpPr>
        <p:spPr>
          <a:xfrm>
            <a:off x="640080" y="347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102858"/>
                </a:solidFill>
                <a:latin typeface="Segoe UI Light"/>
              </a:rPr>
              <a:t>STEP 8</a:t>
            </a:r>
          </a:p>
        </p:txBody>
      </p:sp>
      <p:sp>
        <p:nvSpPr>
          <p:cNvPr id="248" name="TextBox 248"/>
          <p:cNvSpPr txBox="1"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w Cen MT"/>
                <a:cs typeface="Tw Cen MT"/>
              </a:rPr>
              <a:t>INGEST: CHUNK THE TEXT</a:t>
            </a:r>
          </a:p>
        </p:txBody>
      </p:sp>
      <p:sp>
        <p:nvSpPr>
          <p:cNvPr id="249" name="Card 249"/>
          <p:cNvSpPr/>
          <p:nvPr/>
        </p:nvSpPr>
        <p:spPr>
          <a:xfrm>
            <a:off x="640080" y="1691640"/>
            <a:ext cx="10881360" cy="4206240"/>
          </a:xfrm>
          <a:prstGeom prst="roundRect">
            <a:avLst>
              <a:gd name="adj" fmla="val 3000"/>
            </a:avLst>
          </a:prstGeom>
          <a:solidFill>
            <a:srgbClr val="0A1C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0" name="TextBox 250"/>
          <p:cNvSpPr txBox="1"/>
          <p:nvPr/>
        </p:nvSpPr>
        <p:spPr>
          <a:xfrm>
            <a:off x="960120" y="1920240"/>
            <a:ext cx="10332720" cy="388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static IEnumerable&lt;string&gt; Chunk(string text, int max = 1500)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{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    text = text.Replace("\r\n", "\n");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    var sb = new StringBuilder();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    var paras = text.Split("\n\n",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                    StringSplitOptions.RemoveEmptyEntries);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    foreach (var p in paras)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    {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        if (sb.Length + p.Length &gt; max &amp;&amp; sb.Length &gt; 0)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        { yield return sb.ToString(); sb.Clear(); }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        sb.AppendLine(p.Trim());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    }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    if (sb.Length &gt; 0) yield return sb.ToString();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251" name="TextBox 251"/>
          <p:cNvSpPr txBox="1"/>
          <p:nvPr/>
        </p:nvSpPr>
        <p:spPr>
          <a:xfrm>
            <a:off x="640080" y="598017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64DFED"/>
                </a:solidFill>
                <a:latin typeface="Segoe UI Light"/>
                <a:cs typeface="Segoe UI Light"/>
              </a:rPr>
              <a:t>✓  Packs whole paragraphs into chunks of up to max characters</a:t>
            </a:r>
          </a:p>
        </p:txBody>
      </p:sp>
      <p:sp>
        <p:nvSpPr>
          <p:cNvPr id="252" name="TextBox 252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lideNum 246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28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247" name="Pill 247"/>
          <p:cNvSpPr/>
          <p:nvPr/>
        </p:nvSpPr>
        <p:spPr>
          <a:xfrm>
            <a:off x="640080" y="347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102858"/>
                </a:solidFill>
                <a:latin typeface="Segoe UI Light"/>
              </a:rPr>
              <a:t>STEP 9</a:t>
            </a:r>
          </a:p>
        </p:txBody>
      </p:sp>
      <p:sp>
        <p:nvSpPr>
          <p:cNvPr id="248" name="TextBox 248"/>
          <p:cNvSpPr txBox="1"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w Cen MT"/>
                <a:cs typeface="Tw Cen MT"/>
              </a:rPr>
              <a:t>INGEST: EMBED AND UPSERT</a:t>
            </a:r>
          </a:p>
        </p:txBody>
      </p:sp>
      <p:sp>
        <p:nvSpPr>
          <p:cNvPr id="249" name="Card 249"/>
          <p:cNvSpPr/>
          <p:nvPr/>
        </p:nvSpPr>
        <p:spPr>
          <a:xfrm>
            <a:off x="640080" y="1691640"/>
            <a:ext cx="10881360" cy="3513328"/>
          </a:xfrm>
          <a:prstGeom prst="roundRect">
            <a:avLst>
              <a:gd name="adj" fmla="val 3000"/>
            </a:avLst>
          </a:prstGeom>
          <a:solidFill>
            <a:srgbClr val="0A1C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0" name="TextBox 250"/>
          <p:cNvSpPr txBox="1"/>
          <p:nvPr/>
        </p:nvSpPr>
        <p:spPr>
          <a:xfrm>
            <a:off x="960120" y="1975104"/>
            <a:ext cx="10332720" cy="2946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92D050"/>
                </a:solidFill>
                <a:latin typeface="Consolas"/>
                <a:cs typeface="Consolas"/>
              </a:rPr>
              <a:t>// continue inside for loop: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foreach (var chunk in Chunk(text, 1000))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{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var v = await embedder.GenerateAsync(chunk);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await pages.UpsertAsync(new PageChunk {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    Id = Guid.NewGuid().ToString(),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    Text = chunk, Url = file,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    Embedding = v.Vector });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251" name="TextBox 251"/>
          <p:cNvSpPr txBox="1"/>
          <p:nvPr/>
        </p:nvSpPr>
        <p:spPr>
          <a:xfrm>
            <a:off x="640080" y="540613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64DFED"/>
                </a:solidFill>
                <a:latin typeface="Segoe UI Light"/>
                <a:cs typeface="Segoe UI Light"/>
              </a:rPr>
              <a:t>✓  One vector and one record per chunk, not per page</a:t>
            </a:r>
          </a:p>
        </p:txBody>
      </p:sp>
      <p:sp>
        <p:nvSpPr>
          <p:cNvPr id="252" name="TextBox 252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lideNum 253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29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254" name="Pill 254"/>
          <p:cNvSpPr/>
          <p:nvPr/>
        </p:nvSpPr>
        <p:spPr>
          <a:xfrm>
            <a:off x="640080" y="347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102858"/>
                </a:solidFill>
                <a:latin typeface="Segoe UI Light"/>
              </a:rPr>
              <a:t>STEP 10</a:t>
            </a:r>
          </a:p>
        </p:txBody>
      </p:sp>
      <p:sp>
        <p:nvSpPr>
          <p:cNvPr id="255" name="TextBox 255"/>
          <p:cNvSpPr txBox="1"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w Cen MT"/>
                <a:cs typeface="Tw Cen MT"/>
              </a:rPr>
              <a:t>QUERY: SEARCH THE STORE</a:t>
            </a:r>
          </a:p>
        </p:txBody>
      </p:sp>
      <p:sp>
        <p:nvSpPr>
          <p:cNvPr id="256" name="Card 256"/>
          <p:cNvSpPr/>
          <p:nvPr/>
        </p:nvSpPr>
        <p:spPr>
          <a:xfrm>
            <a:off x="640080" y="1691640"/>
            <a:ext cx="10881360" cy="2776728"/>
          </a:xfrm>
          <a:prstGeom prst="roundRect">
            <a:avLst>
              <a:gd name="adj" fmla="val 3000"/>
            </a:avLst>
          </a:prstGeom>
          <a:solidFill>
            <a:srgbClr val="0A1C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7" name="TextBox 257"/>
          <p:cNvSpPr txBox="1"/>
          <p:nvPr/>
        </p:nvSpPr>
        <p:spPr>
          <a:xfrm>
            <a:off x="960120" y="1975104"/>
            <a:ext cx="10332720" cy="2209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Console.Write("Question: ");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var question = Console.ReadLine()!;</a:t>
            </a:r>
          </a:p>
          <a:p>
            <a:pPr algn="l">
              <a:lnSpc>
                <a:spcPct val="118000"/>
              </a:lnSpc>
              <a:buNone/>
            </a:pPr>
            <a:endParaRPr lang="en-US" sz="2000" dirty="0"/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var qv = await embedder.GenerateAsync(question);</a:t>
            </a:r>
          </a:p>
          <a:p>
            <a:pPr algn="l">
              <a:lnSpc>
                <a:spcPct val="118000"/>
              </a:lnSpc>
              <a:buNone/>
            </a:pPr>
            <a:endParaRPr lang="en-US" sz="2000" dirty="0"/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var hits = pages.SearchAsync(qv.Vector, top: 3);</a:t>
            </a:r>
          </a:p>
        </p:txBody>
      </p:sp>
      <p:sp>
        <p:nvSpPr>
          <p:cNvPr id="258" name="TextBox 258"/>
          <p:cNvSpPr txBox="1"/>
          <p:nvPr/>
        </p:nvSpPr>
        <p:spPr>
          <a:xfrm>
            <a:off x="640080" y="466953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64DFED"/>
                </a:solidFill>
                <a:latin typeface="Segoe UI Light"/>
                <a:cs typeface="Segoe UI Light"/>
              </a:rPr>
              <a:t>✓  Three chunks come back, each with a similarity score</a:t>
            </a:r>
          </a:p>
        </p:txBody>
      </p:sp>
      <p:sp>
        <p:nvSpPr>
          <p:cNvPr id="259" name="TextBox 259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lideNum 260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30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261" name="Pill 261"/>
          <p:cNvSpPr/>
          <p:nvPr/>
        </p:nvSpPr>
        <p:spPr>
          <a:xfrm>
            <a:off x="640080" y="347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102858"/>
                </a:solidFill>
                <a:latin typeface="Segoe UI Light"/>
              </a:rPr>
              <a:t>STEP 11</a:t>
            </a:r>
          </a:p>
        </p:txBody>
      </p:sp>
      <p:sp>
        <p:nvSpPr>
          <p:cNvPr id="262" name="TextBox 262"/>
          <p:cNvSpPr txBox="1"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w Cen MT"/>
                <a:cs typeface="Tw Cen MT"/>
              </a:rPr>
              <a:t>BUILD THE AUGMENTED PROMPT</a:t>
            </a:r>
          </a:p>
        </p:txBody>
      </p:sp>
      <p:sp>
        <p:nvSpPr>
          <p:cNvPr id="263" name="Card 263"/>
          <p:cNvSpPr/>
          <p:nvPr/>
        </p:nvSpPr>
        <p:spPr>
          <a:xfrm>
            <a:off x="640080" y="1691640"/>
            <a:ext cx="10881360" cy="3881628"/>
          </a:xfrm>
          <a:prstGeom prst="roundRect">
            <a:avLst>
              <a:gd name="adj" fmla="val 3000"/>
            </a:avLst>
          </a:prstGeom>
          <a:solidFill>
            <a:srgbClr val="0A1C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4" name="TextBox 264"/>
          <p:cNvSpPr txBox="1"/>
          <p:nvPr/>
        </p:nvSpPr>
        <p:spPr>
          <a:xfrm>
            <a:off x="960120" y="1975104"/>
            <a:ext cx="10332720" cy="3314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var context = new StringBuilder();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await foreach (var hit in hits)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context.AppendLine(hit.Record.Text);</a:t>
            </a:r>
          </a:p>
          <a:p>
            <a:pPr algn="l">
              <a:lnSpc>
                <a:spcPct val="118000"/>
              </a:lnSpc>
              <a:buNone/>
            </a:pPr>
            <a:endParaRPr lang="en-US" sz="2000" dirty="0"/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var prompt = $"""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Answer using ONLY the context below.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CONTEXT:  {context}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QUESTION: {question}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    """;</a:t>
            </a:r>
          </a:p>
        </p:txBody>
      </p:sp>
      <p:sp>
        <p:nvSpPr>
          <p:cNvPr id="265" name="TextBox 265"/>
          <p:cNvSpPr txBox="1"/>
          <p:nvPr/>
        </p:nvSpPr>
        <p:spPr>
          <a:xfrm>
            <a:off x="640080" y="577443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64DFED"/>
                </a:solidFill>
                <a:latin typeface="Segoe UI Light"/>
                <a:cs typeface="Segoe UI Light"/>
              </a:rPr>
              <a:t>✓  This prompt is the whole trick — print it and read it</a:t>
            </a:r>
          </a:p>
        </p:txBody>
      </p:sp>
      <p:sp>
        <p:nvSpPr>
          <p:cNvPr id="266" name="TextBox 266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lideNum 267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31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268" name="Pill 268"/>
          <p:cNvSpPr/>
          <p:nvPr/>
        </p:nvSpPr>
        <p:spPr>
          <a:xfrm>
            <a:off x="640080" y="34747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6A6F4"/>
          </a:solidFill>
          <a:ln>
            <a:noFill/>
          </a:ln>
        </p:spPr>
        <p:txBody>
          <a:bodyPr lIns="45720" tIns="0" rIns="4572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102858"/>
                </a:solidFill>
                <a:latin typeface="Segoe UI Light"/>
              </a:rPr>
              <a:t>STEP 12</a:t>
            </a:r>
          </a:p>
        </p:txBody>
      </p:sp>
      <p:sp>
        <p:nvSpPr>
          <p:cNvPr id="269" name="TextBox 269"/>
          <p:cNvSpPr txBox="1"/>
          <p:nvPr/>
        </p:nvSpPr>
        <p:spPr>
          <a:xfrm>
            <a:off x="640080" y="8412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w Cen MT"/>
                <a:cs typeface="Tw Cen MT"/>
              </a:rPr>
              <a:t>GENERATE THE ANSWER</a:t>
            </a:r>
          </a:p>
        </p:txBody>
      </p:sp>
      <p:sp>
        <p:nvSpPr>
          <p:cNvPr id="270" name="Card 270"/>
          <p:cNvSpPr/>
          <p:nvPr/>
        </p:nvSpPr>
        <p:spPr>
          <a:xfrm>
            <a:off x="640080" y="1691640"/>
            <a:ext cx="10881360" cy="1671828"/>
          </a:xfrm>
          <a:prstGeom prst="roundRect">
            <a:avLst>
              <a:gd name="adj" fmla="val 3000"/>
            </a:avLst>
          </a:prstGeom>
          <a:solidFill>
            <a:srgbClr val="0A1C4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1" name="TextBox 271"/>
          <p:cNvSpPr txBox="1"/>
          <p:nvPr/>
        </p:nvSpPr>
        <p:spPr>
          <a:xfrm>
            <a:off x="960120" y="1975104"/>
            <a:ext cx="10332720" cy="1104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var reply = await chat.GetResponseAsync(prompt);</a:t>
            </a:r>
          </a:p>
          <a:p>
            <a:pPr algn="l">
              <a:lnSpc>
                <a:spcPct val="118000"/>
              </a:lnSpc>
              <a:buNone/>
            </a:pPr>
            <a:endParaRPr lang="en-US" sz="2000" dirty="0"/>
          </a:p>
          <a:p>
            <a:pPr algn="l">
              <a:lnSpc>
                <a:spcPct val="118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Consolas"/>
                <a:cs typeface="Consolas"/>
              </a:rPr>
              <a:t>Console.WriteLine(reply.Text);</a:t>
            </a:r>
          </a:p>
        </p:txBody>
      </p:sp>
      <p:sp>
        <p:nvSpPr>
          <p:cNvPr id="272" name="TextBox 272"/>
          <p:cNvSpPr txBox="1"/>
          <p:nvPr/>
        </p:nvSpPr>
        <p:spPr>
          <a:xfrm>
            <a:off x="640080" y="356463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64DFED"/>
                </a:solidFill>
                <a:latin typeface="Segoe UI Light"/>
                <a:cs typeface="Segoe UI Light"/>
              </a:rPr>
              <a:t>✓  The model answers from the pages, not from memory</a:t>
            </a:r>
          </a:p>
        </p:txBody>
      </p:sp>
      <p:sp>
        <p:nvSpPr>
          <p:cNvPr id="273" name="TextBox 273"/>
          <p:cNvSpPr txBox="1"/>
          <p:nvPr/>
        </p:nvSpPr>
        <p:spPr>
          <a:xfrm>
            <a:off x="640080" y="40218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800" b="0" dirty="0">
                <a:solidFill>
                  <a:srgbClr val="A8BBDD"/>
                </a:solidFill>
                <a:latin typeface="Segoe UI Light"/>
                <a:cs typeface="Segoe UI Light"/>
              </a:rPr>
              <a:t>Nothing here is RAG-specific — it is an ordinary chat call.</a:t>
            </a:r>
          </a:p>
        </p:txBody>
      </p:sp>
      <p:sp>
        <p:nvSpPr>
          <p:cNvPr id="274" name="TextBox 274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lideNum 275"/>
          <p:cNvSpPr txBox="1"/>
          <p:nvPr/>
        </p:nvSpPr>
        <p:spPr>
          <a:xfrm>
            <a:off x="411480" y="256032"/>
            <a:ext cx="731520" cy="3200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>
              <a:buNone/>
            </a:pPr>
            <a:fld id="{294A09A9-5501-47C1-A89A-A340965A2BE2}" type="slidenum">
              <a:rPr lang="en-US" sz="1400" dirty="0">
                <a:solidFill>
                  <a:srgbClr val="A8BBDD"/>
                </a:solidFill>
                <a:latin typeface="Segoe UI Light"/>
              </a:rPr>
              <a:pPr>
                <a:buNone/>
              </a:pPr>
              <a:t>32</a:t>
            </a:fld>
            <a:endParaRPr lang="en-US" sz="1400" dirty="0">
              <a:solidFill>
                <a:srgbClr val="A8BBDD"/>
              </a:solidFill>
              <a:latin typeface="Segoe UI Light"/>
            </a:endParaRPr>
          </a:p>
        </p:txBody>
      </p:sp>
      <p:sp>
        <p:nvSpPr>
          <p:cNvPr id="276" name="TextBox 276"/>
          <p:cNvSpPr txBox="1"/>
          <p:nvPr/>
        </p:nvSpPr>
        <p:spPr>
          <a:xfrm>
            <a:off x="640080" y="38404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RUN IT</a:t>
            </a:r>
          </a:p>
        </p:txBody>
      </p:sp>
      <p:sp>
        <p:nvSpPr>
          <p:cNvPr id="277" name="Card 277"/>
          <p:cNvSpPr/>
          <p:nvPr/>
        </p:nvSpPr>
        <p:spPr>
          <a:xfrm>
            <a:off x="640080" y="1481328"/>
            <a:ext cx="10881360" cy="3877056"/>
          </a:xfrm>
          <a:prstGeom prst="roundRect">
            <a:avLst>
              <a:gd name="adj" fmla="val 3000"/>
            </a:avLst>
          </a:prstGeom>
          <a:solidFill>
            <a:srgbClr val="07143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8" name="TextBox 278"/>
          <p:cNvSpPr txBox="1"/>
          <p:nvPr/>
        </p:nvSpPr>
        <p:spPr>
          <a:xfrm>
            <a:off x="960120" y="1764792"/>
            <a:ext cx="10332720" cy="331012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800" b="0" dirty="0">
                <a:solidFill>
                  <a:srgbClr val="64DFED"/>
                </a:solidFill>
                <a:latin typeface="Consolas"/>
                <a:cs typeface="Consolas"/>
              </a:rPr>
              <a:t>&gt; dotnet run</a:t>
            </a:r>
          </a:p>
          <a:p>
            <a:pPr algn="l">
              <a:lnSpc>
                <a:spcPct val="118000"/>
              </a:lnSpc>
              <a:buNone/>
            </a:pPr>
            <a:endParaRPr lang="en-US" sz="1800" dirty="0"/>
          </a:p>
          <a:p>
            <a:pPr algn="l">
              <a:lnSpc>
                <a:spcPct val="118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Ingesting 8 pages from docs/ ...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  Indexed 34 chunks.</a:t>
            </a:r>
          </a:p>
          <a:p>
            <a:pPr algn="l">
              <a:lnSpc>
                <a:spcPct val="118000"/>
              </a:lnSpc>
              <a:buNone/>
            </a:pPr>
            <a:endParaRPr lang="en-US" sz="1800" dirty="0"/>
          </a:p>
          <a:p>
            <a:pPr algn="l">
              <a:lnSpc>
                <a:spcPct val="118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Question: How do I book an appointment?</a:t>
            </a:r>
          </a:p>
          <a:p>
            <a:pPr algn="l">
              <a:lnSpc>
                <a:spcPct val="118000"/>
              </a:lnSpc>
              <a:buNone/>
            </a:pPr>
            <a:endParaRPr lang="en-US" sz="1800" dirty="0"/>
          </a:p>
          <a:p>
            <a:pPr algn="l">
              <a:lnSpc>
                <a:spcPct val="118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Answer: Through the website, the mobile app, or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1800" b="0" dirty="0">
                <a:solidFill>
                  <a:srgbClr val="FFFFFF"/>
                </a:solidFill>
                <a:latin typeface="Consolas"/>
                <a:cs typeface="Consolas"/>
              </a:rPr>
              <a:t>by calling the service centre.  [source: page3.md]</a:t>
            </a:r>
          </a:p>
        </p:txBody>
      </p:sp>
      <p:sp>
        <p:nvSpPr>
          <p:cNvPr id="279" name="TextBox 279"/>
          <p:cNvSpPr txBox="1"/>
          <p:nvPr/>
        </p:nvSpPr>
        <p:spPr>
          <a:xfrm>
            <a:off x="640080" y="55595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000" b="0" dirty="0">
                <a:solidFill>
                  <a:srgbClr val="F6A6F4"/>
                </a:solidFill>
                <a:latin typeface="Segoe UI Light"/>
                <a:cs typeface="Segoe UI Light"/>
              </a:rPr>
              <a:t>Now ask something the pages do not cover — and watch it decline.</a:t>
            </a:r>
          </a:p>
        </p:txBody>
      </p:sp>
      <p:sp>
        <p:nvSpPr>
          <p:cNvPr id="280" name="TextBox 280"/>
          <p:cNvSpPr txBox="1"/>
          <p:nvPr/>
        </p:nvSpPr>
        <p:spPr>
          <a:xfrm>
            <a:off x="411480" y="63276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BC92-868A-26B2-CBC0-C9D94E65F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w Cen MT"/>
                <a:cs typeface="Tw Cen MT"/>
              </a:rPr>
              <a:t>WHAT JUST HAPPENED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C1627-7A56-025E-482D-E2AB014EDF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2200" b="0" dirty="0">
                <a:solidFill>
                  <a:srgbClr val="FFFFFF"/>
                </a:solidFill>
                <a:latin typeface="Segoe UI Light"/>
                <a:cs typeface="Segoe UI Light"/>
              </a:rPr>
              <a:t>We never retrained anything.</a:t>
            </a:r>
          </a:p>
          <a:p>
            <a:pPr algn="l">
              <a:lnSpc>
                <a:spcPct val="115000"/>
              </a:lnSpc>
              <a:buNone/>
            </a:pPr>
            <a:endParaRPr lang="en-US" sz="1000" dirty="0"/>
          </a:p>
          <a:p>
            <a:pPr algn="ctr">
              <a:lnSpc>
                <a:spcPct val="120000"/>
              </a:lnSpc>
              <a:buNone/>
            </a:pPr>
            <a:r>
              <a:rPr lang="en-US" sz="2200" b="0" dirty="0">
                <a:solidFill>
                  <a:srgbClr val="FFFFFF"/>
                </a:solidFill>
                <a:latin typeface="Segoe UI Light"/>
                <a:cs typeface="Segoe UI Light"/>
              </a:rPr>
              <a:t>We embedded our pages once, searched them per question, and pasted the winners into the prompt.</a:t>
            </a:r>
          </a:p>
        </p:txBody>
      </p:sp>
    </p:spTree>
    <p:extLst>
      <p:ext uri="{BB962C8B-B14F-4D97-AF65-F5344CB8AC3E}">
        <p14:creationId xmlns:p14="http://schemas.microsoft.com/office/powerpoint/2010/main" val="19587596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w Cen MT"/>
                <a:cs typeface="Tw Cen MT"/>
              </a:rPr>
              <a:t>TAKING IT TO PRODUCTION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605EE-24B6-95D8-DE5E-BEC2F03EC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Swap the store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Azure AI Search, Qdrant, Postgres + pgvector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Same interfaces — the rest of the code is unchanged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0F07-3291-4EE2-1286-04C9716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92CDF0"/>
                </a:solidFill>
                <a:latin typeface="Segoe UI Light"/>
                <a:cs typeface="Segoe UI Light"/>
              </a:rPr>
              <a:t>Then improve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F22CC9-1295-2B21-05A9-68A44E669B8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Research chunking and overlap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Hybrid keyword + vector search</a:t>
            </a:r>
          </a:p>
          <a:p>
            <a:pPr marL="228600" indent="-228600" algn="l">
              <a:lnSpc>
                <a:spcPct val="115000"/>
              </a:lnSpc>
              <a:spcAft>
                <a:spcPts val="700"/>
              </a:spcAft>
              <a:buClr>
                <a:srgbClr val="F6A6F4"/>
              </a:buClr>
              <a:buSzPct val="90000"/>
              <a:buFont typeface="Arial" panose="020B0604020202020204" pitchFamily="34" charset="0"/>
              <a:buChar char="●"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Evaluate answers before you ship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200" b="0" dirty="0">
                <a:solidFill>
                  <a:srgbClr val="A8BBDD"/>
                </a:solidFill>
                <a:latin typeface="Segoe UI Light"/>
                <a:cs typeface="Segoe UI Light"/>
              </a:rPr>
              <a:t>RAG  ·  Module 1</a:t>
            </a:r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w Cen MT"/>
                <a:cs typeface="Tw Cen MT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035808"/>
            <a:ext cx="4846320" cy="3246120"/>
          </a:xfrm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Segoe UI Light"/>
                <a:cs typeface="Segoe UI Light"/>
              </a:rPr>
              <a:t>Questions?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.NET AI RAG quickstart</a:t>
            </a:r>
          </a:p>
          <a:p>
            <a:pPr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900" b="0" dirty="0">
                <a:solidFill>
                  <a:srgbClr val="92CDF0"/>
                </a:solidFill>
                <a:latin typeface="Consolas"/>
                <a:cs typeface="Consolas"/>
              </a:rPr>
              <a:t>learn.microsoft.com/dotnet/ai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Vector data in .NET</a:t>
            </a:r>
          </a:p>
          <a:p>
            <a:pPr algn="l">
              <a:lnSpc>
                <a:spcPct val="115000"/>
              </a:lnSpc>
              <a:spcAft>
                <a:spcPts val="700"/>
              </a:spcAft>
              <a:buNone/>
            </a:pPr>
            <a:r>
              <a:rPr lang="en-US" sz="1900" b="0" dirty="0">
                <a:solidFill>
                  <a:srgbClr val="92CDF0"/>
                </a:solidFill>
                <a:latin typeface="Consolas"/>
                <a:cs typeface="Consolas"/>
              </a:rPr>
              <a:t>devblogs.microsoft.com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2000" b="0" dirty="0">
                <a:solidFill>
                  <a:srgbClr val="FFFFFF"/>
                </a:solidFill>
                <a:latin typeface="Segoe UI Light"/>
                <a:cs typeface="Segoe UI Light"/>
              </a:rPr>
              <a:t>VS Code docs</a:t>
            </a:r>
          </a:p>
          <a:p>
            <a:pPr algn="l">
              <a:lnSpc>
                <a:spcPct val="115000"/>
              </a:lnSpc>
              <a:buNone/>
            </a:pPr>
            <a:r>
              <a:rPr lang="en-US" sz="1900" b="0" dirty="0">
                <a:solidFill>
                  <a:srgbClr val="92CDF0"/>
                </a:solidFill>
                <a:latin typeface="Consolas"/>
                <a:cs typeface="Consolas"/>
              </a:rPr>
              <a:t>code.visualstudio.com/docs</a:t>
            </a:r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TM66925244</Template>
  <TotalTime>519</TotalTime>
  <Words>1876</Words>
  <Application>Microsoft Office PowerPoint</Application>
  <PresentationFormat>Widescreen</PresentationFormat>
  <Paragraphs>359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Consolas</vt:lpstr>
      <vt:lpstr>Courier New</vt:lpstr>
      <vt:lpstr>Segoe UI Light</vt:lpstr>
      <vt:lpstr>Tw Cen MT</vt:lpstr>
      <vt:lpstr>Office Theme</vt:lpstr>
      <vt:lpstr>RETRIEVAL-AUGMENTED GENERATION</vt:lpstr>
      <vt:lpstr>WHAT WE’LL BUILD TODAY</vt:lpstr>
      <vt:lpstr>AGENDA</vt:lpstr>
      <vt:lpstr>WHAT RAG SOLVES</vt:lpstr>
      <vt:lpstr>AN OPEN-BOOK EXAM FOR THE MODEL.</vt:lpstr>
      <vt:lpstr>PowerPoint Presentation</vt:lpstr>
      <vt:lpstr>PowerPoint Presentation</vt:lpstr>
      <vt:lpstr>PowerPoint Presentation</vt:lpstr>
      <vt:lpstr>PowerPoint Presentation</vt:lpstr>
      <vt:lpstr>WHAT IS A VECTOR STORE?</vt:lpstr>
      <vt:lpstr>PHASE 1 — INGEST</vt:lpstr>
      <vt:lpstr>PHASE 2 — QUERY</vt:lpstr>
      <vt:lpstr>RAG, FINE-TUNING, OR TOOLS?</vt:lpstr>
      <vt:lpstr>OUR STACK</vt:lpstr>
      <vt:lpstr>PowerPoint Presentation</vt:lpstr>
      <vt:lpstr>PowerPoint Presentation</vt:lpstr>
      <vt:lpstr>TWO MODELS, TWO JOBS</vt:lpstr>
      <vt:lpstr>BUILD IT — STEP BY STEP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JUST HAPPENED</vt:lpstr>
      <vt:lpstr>TAKING IT TO PRODUCTION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Uri Goldstein</dc:creator>
  <cp:lastModifiedBy>Uri Goldstein</cp:lastModifiedBy>
  <cp:revision>22</cp:revision>
  <dcterms:created xsi:type="dcterms:W3CDTF">2026-06-30T20:53:55Z</dcterms:created>
  <dcterms:modified xsi:type="dcterms:W3CDTF">2026-10-13T11:12:32Z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