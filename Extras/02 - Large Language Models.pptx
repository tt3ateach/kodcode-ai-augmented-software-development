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2" r:id="rId1"/>
  </p:sldMasterIdLst>
  <p:notesMasterIdLst>
    <p:notesMasterId r:id="rId40"/>
  </p:notesMasterIdLst>
  <p:sldIdLst>
    <p:sldId id="297" r:id="rId2"/>
    <p:sldId id="259" r:id="rId3"/>
    <p:sldId id="260" r:id="rId4"/>
    <p:sldId id="261" r:id="rId5"/>
    <p:sldId id="262" r:id="rId6"/>
    <p:sldId id="263"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2"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129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pause for 2-3 seconds before moving on. Lets people reset.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module. Linger. Some students arrive expecting magic; others arrive cynical. Both groups benefit from this framing. Pre-empt the obvious objection: 'but it solves novel problems!' — yes, because prediction at this scale captures patterns we don't have words for. But the operation itself is mechanical.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loop. Each generated token becomes part of the next input. This explains why models sometimes 'paint themselves into a corner' — they committed to a token three tokens ago that constrained everything after. It also explains why streaming output looks the way it does: each token is genuinely being computed in sequence.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Chinese example is intentional — surprises students. Non-English speakers pay 2–3× more per request. The C# example with indentation is the killer for our audience: notice that a single method signature with namespaces and generics can be 15+ tokens. Multiply by thousands of lines of context and you see why context management becomes critical. Tease the next slide: pricing implications.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concrete: a 'small' refactor where you include three 500-line files in context is already ~15k tokens of input. Add the model's response (~2k tokens). At $3/$15 per million tokens for a frontier model, that's a few cents per attempt — trivial individually, but at team scale, with retries, it adds up. The latency point matters more than cost for most teams.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section short. We're not training transformers; we're using them. The goal is intuition for context-window behavior.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draw matrix diagrams. Every developer has seen them and they don't help. The one thing that matters: attention is N² in context length, which is why context windows have hard limits. If a student asks for more depth, point them to Karpathy's 'Let's build GPT' video as homework.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time, mention flash attention, sliding window attention, and sparse variants as 'tricks that move the wall but don't remove it.' Otherwise skip — these are just escape hatches for the quadratic cost.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'lost in the middle' phenomenon is well-documented. Even with 200k context, models attend most strongly to the start and end. Putting critical instructions at the very top of a prompt file works for this reason. This is also why context management isn't 'just stuff everything in' — quality degrades before you hit the token limit.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most underrated. It explains 'personality' — refusals, hedging, helpfulness — which sets up persona files later in the week.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metaphor: pretraining is the foundation, fine-tuning is the framing, RLHF is the paint. Most of what users interact with is paint. Pretraining uses ~trillions of tokens; SFT uses ~hundreds of thousands; RLHF uses tens of thousands of preference pairs. And yet RLHF has outsized influence on what the user sees.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model is rarely shown to users — most public APIs give you the post-SFT/RLHF model. Llama base, GPT-3 base, etc. are exceptions you can still try. They feel weird: confident, rambling, no idea when to stop. Mention that the cutoff is fixed at this stage. Later RLHF tweaks behavior but not knowledge.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SFT yourself on open models (Llama, Mistral) with LoRA on a single GPU. This is how domain-specific models get made. For our purposes — using Copilot — SFT is invisible but explains a lot. The reason Copilot 'gets' coding tasks is that its SFT corpus is heavy on code Q&amp;A.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DPO (Direct Preference Optimization) is a 2023 simplification of RLHF that skips the separate reward model. Mathematically equivalent in expectation, much simpler to train. Most newer open models use DPO. The key point: 'personality' is bolt-on, not intrinsic. This sets up persona files and copilot-instructions.md later.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good prompting habits start to make sense. If the model is a pattern-completer, then giving it good patterns to complete is the whole game. That's what we'll spend Module 2 on. If someone asks 'so it's just autocomplete?' — yes, in the same way a Boeing 747 is just a kite.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Surprising fact: even GPT-4 with temperature=0 isn't truly deterministic in production. Beam search is rare in modern chat models — too slow and tends to produce bland output.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doesn't expose these knobs directly to end users in the IDE, but they exist under the hood. When you use the API or build agents, you'll set them yourself. The intuition matters even when you can't tune them: it explains why responses vary.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catches every team that tries to put LLM output under traditional CI. Snapshot tests will break daily. xUnit's [Theory] tests with hardcoded expected strings will go red. Tell teams to set this expectation upfront: LLM outputs are sampled, even at temperature 0. Test the contract (does it parse as valid C#? does it compile? does it pass static checks?), not the exact text.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temperature 0.0 run pre-cached in case the network is slow — the surprise is that even at 0, the runs may differ slightly. Use that to reinforce the previous slide. Time-box to 8 minutes. The point is calibration, not coverage.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uses different models for autocomplete vs. chat. Autocomplete needs to be sub-100ms, so it uses smaller, FIM-tuned models. Chat can take 1–10 seconds, so it uses larger models. This is why turning off autocomplete and using only chat feels slower than expected — you've lost the fast model entirely.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models work by generating hidden 'thinking' tokens before their visible response. These tokens cost money and time but produce much better answers on hard problems. You'll see Copilot's model picker offer both. By Friday, students should have an instinct: is this task fast-model-shaped or reasoning-model-shaped?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framing: these aren't bugs. They're properties. You learn to spot them and design around them.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NuGet package hallucination is now a real attack vector — squatters register hallucinated package names to ship malware. We'll cover this in detail in Day 3's security module. For now: never npm install / dotnet add package what the model suggests without checking it exists. Mitigation pattern: trust the structure (the model knows what good code looks like), verify the specifics (does this API actually exist?).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highest-engagement moment of the module. Plan it well. If you don't have time to prep custom examples, ask Copilot for 'how to use Microsoft.Extensions.Caching.Hybrid in a service' or similar bleeding-edge questions on the morning of class — it will often hallucinate convincingly. Time-box to 10 minutes. The takeaway is the habit, not the count.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best question to ask before trusting a model: 'is this something it could plausibly have seen in training?' Your internal codebase: no. A common open-source library at a stable version: probably yes. A library released last month: definitely no. This question alone catches a huge fraction of hallucination-related issues.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these tasks: use tools. The model is great at deciding *which* tool to call. It's terrible at being the tool. This sets up tool use / function calling as the bridge to agents — which we'll preview at the end of this module. The strawberry example: 'how many r's in strawberry' has been a famous LLM fail for years. Many models can do it now, but the underlying issue (no character-level awareness) is unchanged.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one cultural takeaway you want them to leave with, it's this slide. The teams that get burned by AI tools are the ones that stop reading the diff. The teams that thrive are the ones that read every change — and use AI to do it faster, not less.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get hung up on which model is 'best' right now — the answer changes every few months. What stays constant: the categories. Frontier vs. open. Chat vs. reasoning. Cheap-and-fast vs. premium. These framings outlive the specific model names. For on-prem enterprise audiences: mention that BYOK and self-hosted open models are an option for IP-sensitive code.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pricing changes too fast to put on a slide — but the ratios stay stable. Premium models are typically 5-20× the cost of fast models per token. If you're running tens of thousands of agent invocations a day, those ratios matter to the CFO.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this table back up at the start of Module 4 — students will reach for it when the model picker first appears. The Friday capstone will give them practice deciding which tier to use; this slide is the cheat sheet.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everything that follows in the course. Module 2 (prompting) is about how to talk to the LLM half. Module 3 (context) is about what the LLM sees. Days 2 and beyond add tools and loops. Loop back to the 'last mile' theme — it scales in importance as autonomy grows.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any questions before we break? Then signal the break.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Signal the break length and where coffee is. Foreshadow that Module 2 has the first exercise.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971799" y="1473200"/>
            <a:ext cx="5398295" cy="1816098"/>
          </a:xfrm>
        </p:spPr>
        <p:txBody>
          <a:bodyPr anchor="b">
            <a:normAutofit/>
          </a:bodyPr>
          <a:lstStyle>
            <a:lvl1pPr algn="r">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2971799" y="3289300"/>
            <a:ext cx="5398295" cy="1054100"/>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699419" y="4402932"/>
            <a:ext cx="1200150" cy="283369"/>
          </a:xfrm>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a:xfrm>
            <a:off x="2971799" y="4402932"/>
            <a:ext cx="3670469" cy="283369"/>
          </a:xfrm>
        </p:spPr>
        <p:txBody>
          <a:bodyPr/>
          <a:lstStyle/>
          <a:p>
            <a:endParaRPr lang="en-US" dirty="0"/>
          </a:p>
        </p:txBody>
      </p:sp>
      <p:sp>
        <p:nvSpPr>
          <p:cNvPr id="6" name="Slide Number Placeholder 5"/>
          <p:cNvSpPr>
            <a:spLocks noGrp="1"/>
          </p:cNvSpPr>
          <p:nvPr>
            <p:ph type="sldNum" sz="quarter" idx="12"/>
          </p:nvPr>
        </p:nvSpPr>
        <p:spPr>
          <a:xfrm>
            <a:off x="7956719" y="4402932"/>
            <a:ext cx="413375" cy="28336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8125079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51163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2481436"/>
            <a:ext cx="7598570" cy="1101600"/>
          </a:xfrm>
        </p:spPr>
        <p:txBody>
          <a:bodyPr anchor="b"/>
          <a:lstStyle>
            <a:lvl1pPr algn="l">
              <a:defRPr sz="3000" b="0" cap="all"/>
            </a:lvl1pPr>
          </a:lstStyle>
          <a:p>
            <a:r>
              <a:rPr lang="en-US"/>
              <a:t>Click to edit Master title style</a:t>
            </a:r>
            <a:endParaRPr lang="en-US" dirty="0"/>
          </a:p>
        </p:txBody>
      </p:sp>
      <p:sp>
        <p:nvSpPr>
          <p:cNvPr id="3" name="Text Placeholder 2"/>
          <p:cNvSpPr>
            <a:spLocks noGrp="1"/>
          </p:cNvSpPr>
          <p:nvPr>
            <p:ph type="body" idx="1"/>
          </p:nvPr>
        </p:nvSpPr>
        <p:spPr>
          <a:xfrm>
            <a:off x="514349" y="3583036"/>
            <a:ext cx="7598571" cy="6453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608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51" y="1606550"/>
            <a:ext cx="3746501" cy="273685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66421" y="1606551"/>
            <a:ext cx="3746499" cy="27368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1596408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30252" y="1663700"/>
            <a:ext cx="3531791"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1" y="2152651"/>
            <a:ext cx="3747692" cy="21907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2003" y="1670050"/>
            <a:ext cx="35421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67612" y="2152651"/>
            <a:ext cx="3746501" cy="21907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749473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850289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3402840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555750"/>
            <a:ext cx="2760664"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486151" y="457201"/>
            <a:ext cx="4626770" cy="3886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4350" y="2584450"/>
            <a:ext cx="2760664" cy="13716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2604065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200150"/>
            <a:ext cx="4623490" cy="102870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52190" y="685800"/>
            <a:ext cx="2460731" cy="3429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14350" y="2228850"/>
            <a:ext cx="4623490" cy="13716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418350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3549649"/>
            <a:ext cx="759857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8701" y="699084"/>
            <a:ext cx="6569870" cy="23737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14351" y="3974702"/>
            <a:ext cx="7598570" cy="3702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0396249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343149"/>
          </a:xfrm>
        </p:spPr>
        <p:txBody>
          <a:bodyPr anchor="ctr">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514350" y="3257550"/>
            <a:ext cx="7598571"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0212055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5" name="TextBox 14"/>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1" name="TextBox 10"/>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23406" y="2514600"/>
            <a:ext cx="7004388"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5599" y="3257550"/>
            <a:ext cx="7614275"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7976986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2" y="2481436"/>
            <a:ext cx="7598569"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514351" y="3583036"/>
            <a:ext cx="7598570"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1338110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3" name="TextBox 12"/>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4" name="TextBox 13"/>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6"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4350" y="2914650"/>
            <a:ext cx="7601577" cy="66675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4349" y="3581400"/>
            <a:ext cx="7601577" cy="762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42614163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0573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4351" y="2628900"/>
            <a:ext cx="7598571"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4350" y="3257550"/>
            <a:ext cx="7598571"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70149902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91987-6452-42A9-BE1F-7013B43AD25B}" type="slidenum">
              <a:rPr lang="en-US" smtClean="0"/>
              <a:t>‹#›</a:t>
            </a:fld>
            <a:endParaRPr lang="en-US"/>
          </a:p>
        </p:txBody>
      </p:sp>
      <p:sp>
        <p:nvSpPr>
          <p:cNvPr id="8" name="Title 1"/>
          <p:cNvSpPr>
            <a:spLocks noGrp="1"/>
          </p:cNvSpPr>
          <p:nvPr>
            <p:ph type="title"/>
          </p:nvPr>
        </p:nvSpPr>
        <p:spPr>
          <a:xfrm>
            <a:off x="514351" y="457201"/>
            <a:ext cx="7598569" cy="1092200"/>
          </a:xfrm>
        </p:spPr>
        <p:txBody>
          <a:bodyPr/>
          <a:lstStyle/>
          <a:p>
            <a:r>
              <a:rPr lang="en-US"/>
              <a:t>Click to edit Master title style</a:t>
            </a:r>
            <a:endParaRPr lang="en-US" dirty="0"/>
          </a:p>
        </p:txBody>
      </p:sp>
    </p:spTree>
    <p:extLst>
      <p:ext uri="{BB962C8B-B14F-4D97-AF65-F5344CB8AC3E}">
        <p14:creationId xmlns:p14="http://schemas.microsoft.com/office/powerpoint/2010/main" val="1485885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Vertical Title 1"/>
          <p:cNvSpPr>
            <a:spLocks noGrp="1"/>
          </p:cNvSpPr>
          <p:nvPr>
            <p:ph type="title" orient="vert"/>
          </p:nvPr>
        </p:nvSpPr>
        <p:spPr>
          <a:xfrm>
            <a:off x="6494006" y="457200"/>
            <a:ext cx="1618914" cy="38862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457200"/>
            <a:ext cx="5874087" cy="38862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D91987-6452-42A9-BE1F-7013B43AD25B}" type="slidenum">
              <a:rPr lang="en-US" smtClean="0"/>
              <a:t>‹#›</a:t>
            </a:fld>
            <a:endParaRPr lang="en-US"/>
          </a:p>
        </p:txBody>
      </p:sp>
    </p:spTree>
    <p:extLst>
      <p:ext uri="{BB962C8B-B14F-4D97-AF65-F5344CB8AC3E}">
        <p14:creationId xmlns:p14="http://schemas.microsoft.com/office/powerpoint/2010/main" val="25071457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ECTION_MAST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920240"/>
            <a:ext cx="8046720" cy="457200"/>
          </a:xfrm>
          <a:prstGeom prst="rect">
            <a:avLst/>
          </a:prstGeom>
          <a:noFill/>
          <a:ln/>
        </p:spPr>
        <p:txBody>
          <a:bodyPr wrap="square" rtlCol="0"/>
          <a:lstStyle>
            <a:lvl1pPr marL="0" indent="0" algn="l">
              <a:buNone/>
              <a:defRPr lang="en-US" sz="1400" b="1" kern="0" spc="300" dirty="0">
                <a:solidFill>
                  <a:srgbClr val="475569"/>
                </a:solidFill>
                <a:latin typeface="Calibri" pitchFamily="34" charset="0"/>
                <a:ea typeface="Calibri" pitchFamily="34" charset="-122"/>
                <a:cs typeface="Calibri" pitchFamily="34" charset="-120"/>
              </a:defRPr>
            </a:lvl1pPr>
          </a:lstStyle>
          <a:p>
            <a:pPr marL="0" indent="0" algn="l">
              <a:buNone/>
            </a:pPr>
            <a:endParaRPr lang="en-US" sz="1400" dirty="0"/>
          </a:p>
        </p:txBody>
      </p:sp>
      <p:sp>
        <p:nvSpPr>
          <p:cNvPr id="3" name="Text 0"/>
          <p:cNvSpPr>
            <a:spLocks noGrp="1"/>
          </p:cNvSpPr>
          <p:nvPr>
            <p:ph type="title" idx="101" hasCustomPrompt="1"/>
          </p:nvPr>
        </p:nvSpPr>
        <p:spPr>
          <a:xfrm>
            <a:off x="548640" y="2377440"/>
            <a:ext cx="8046720" cy="1097280"/>
          </a:xfrm>
          <a:prstGeom prst="rect">
            <a:avLst/>
          </a:prstGeom>
          <a:noFill/>
          <a:ln/>
        </p:spPr>
        <p:txBody>
          <a:bodyPr wrap="square" rtlCol="0"/>
          <a:lstStyle>
            <a:lvl1pPr marL="0" indent="0" algn="l">
              <a:buNone/>
              <a:defRPr lang="en-US" sz="3600" b="1" dirty="0">
                <a:solidFill>
                  <a:srgbClr val="1A1A1A"/>
                </a:solidFill>
                <a:latin typeface="Calibri" pitchFamily="34" charset="0"/>
                <a:ea typeface="Calibri" pitchFamily="34" charset="-122"/>
                <a:cs typeface="Calibri" pitchFamily="34" charset="-120"/>
              </a:defRPr>
            </a:lvl1pPr>
          </a:lstStyle>
          <a:p>
            <a:pPr marL="0" indent="0" algn="l">
              <a:buNone/>
            </a:pPr>
            <a:endParaRPr lang="en-US" sz="3600" dirty="0"/>
          </a:p>
        </p:txBody>
      </p:sp>
      <p:sp>
        <p:nvSpPr>
          <p:cNvPr id="4" name="Text 0"/>
          <p:cNvSpPr>
            <a:spLocks noGrp="1"/>
          </p:cNvSpPr>
          <p:nvPr>
            <p:ph type="body" idx="102" hasCustomPrompt="1"/>
          </p:nvPr>
        </p:nvSpPr>
        <p:spPr>
          <a:xfrm>
            <a:off x="548640" y="3520440"/>
            <a:ext cx="8046720" cy="457200"/>
          </a:xfrm>
          <a:prstGeom prst="rect">
            <a:avLst/>
          </a:prstGeom>
          <a:noFill/>
          <a:ln/>
        </p:spPr>
        <p:txBody>
          <a:bodyPr wrap="square" rtlCol="0"/>
          <a:lstStyle>
            <a:lvl1pPr marL="0" indent="0" algn="l">
              <a:buNone/>
              <a:defRPr lang="en-US" sz="1600" dirty="0">
                <a:solidFill>
                  <a:srgbClr val="6B6B6B"/>
                </a:solidFill>
                <a:latin typeface="Calibri" pitchFamily="34" charset="0"/>
                <a:ea typeface="Calibri" pitchFamily="34" charset="-122"/>
                <a:cs typeface="Calibri" pitchFamily="34" charset="-120"/>
              </a:defRPr>
            </a:lvl1pPr>
          </a:lstStyle>
          <a:p>
            <a:pPr marL="0" indent="0" algn="l">
              <a:buNone/>
            </a:pPr>
            <a:endParaRPr lang="en-US" sz="1600" dirty="0"/>
          </a:p>
        </p:txBody>
      </p:sp>
    </p:spTree>
    <p:extLst>
      <p:ext uri="{BB962C8B-B14F-4D97-AF65-F5344CB8AC3E}">
        <p14:creationId xmlns:p14="http://schemas.microsoft.com/office/powerpoint/2010/main" val="4009501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_MAST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2800" b="1" dirty="0">
                <a:solidFill>
                  <a:srgbClr val="1A1A1A"/>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3" name="Text 0"/>
          <p:cNvSpPr>
            <a:spLocks noGrp="1"/>
          </p:cNvSpPr>
          <p:nvPr>
            <p:ph type="body" idx="101" hasCustomPrompt="1"/>
          </p:nvPr>
        </p:nvSpPr>
        <p:spPr>
          <a:xfrm>
            <a:off x="457200" y="1143000"/>
            <a:ext cx="8229600" cy="3749040"/>
          </a:xfrm>
          <a:prstGeom prst="rect">
            <a:avLst/>
          </a:prstGeom>
          <a:noFill/>
          <a:ln/>
        </p:spPr>
        <p:txBody>
          <a:bodyPr wrap="square" rtlCol="0"/>
          <a:lstStyle>
            <a:lvl1pPr marL="0" indent="0" algn="l">
              <a:buNone/>
              <a:defRPr lang="en-US" sz="1800" dirty="0">
                <a:solidFill>
                  <a:srgbClr val="333333"/>
                </a:solidFill>
                <a:latin typeface="Calibri" pitchFamily="34" charset="0"/>
                <a:ea typeface="Calibri" pitchFamily="34" charset="-122"/>
                <a:cs typeface="Calibri" pitchFamily="34" charset="-120"/>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59536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5611812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EMO_MAST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6858000" cy="685800"/>
          </a:xfrm>
          <a:prstGeom prst="rect">
            <a:avLst/>
          </a:prstGeom>
          <a:noFill/>
          <a:ln/>
        </p:spPr>
        <p:txBody>
          <a:bodyPr wrap="square" rtlCol="0"/>
          <a:lstStyle>
            <a:lvl1pPr marL="0" indent="0" algn="l">
              <a:buNone/>
              <a:defRPr lang="en-US" sz="2800" b="1" dirty="0">
                <a:solidFill>
                  <a:srgbClr val="1A1A1A"/>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5" name="Text 2"/>
          <p:cNvSpPr>
            <a:spLocks noGrp="1"/>
          </p:cNvSpPr>
          <p:nvPr>
            <p:ph type="body" idx="103" hasCustomPrompt="1"/>
          </p:nvPr>
        </p:nvSpPr>
        <p:spPr>
          <a:xfrm>
            <a:off x="457200" y="1143000"/>
            <a:ext cx="8229600" cy="3749040"/>
          </a:xfrm>
          <a:prstGeom prst="rect">
            <a:avLst/>
          </a:prstGeom>
          <a:noFill/>
          <a:ln/>
        </p:spPr>
        <p:txBody>
          <a:bodyPr wrap="square" rtlCol="0"/>
          <a:lstStyle>
            <a:lvl1pPr marL="0" indent="0" algn="l">
              <a:buNone/>
              <a:defRPr lang="en-US" sz="1800" dirty="0">
                <a:solidFill>
                  <a:srgbClr val="333333"/>
                </a:solidFill>
                <a:latin typeface="Calibri" pitchFamily="34" charset="0"/>
                <a:ea typeface="Calibri" pitchFamily="34" charset="-122"/>
                <a:cs typeface="Calibri" pitchFamily="34" charset="-120"/>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59536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21056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1" y="457201"/>
            <a:ext cx="7598569" cy="1092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4351" y="1606551"/>
            <a:ext cx="7598569" cy="27368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42245" y="4402932"/>
            <a:ext cx="1200150"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smtClean="0"/>
              <a:pPr/>
              <a:t>7/1/2026</a:t>
            </a:fld>
            <a:endParaRPr lang="en-US" dirty="0"/>
          </a:p>
        </p:txBody>
      </p:sp>
      <p:sp>
        <p:nvSpPr>
          <p:cNvPr id="5" name="Footer Placeholder 4"/>
          <p:cNvSpPr>
            <a:spLocks noGrp="1"/>
          </p:cNvSpPr>
          <p:nvPr>
            <p:ph type="ftr" sz="quarter" idx="3"/>
          </p:nvPr>
        </p:nvSpPr>
        <p:spPr>
          <a:xfrm>
            <a:off x="514351" y="4402932"/>
            <a:ext cx="5870744" cy="283369"/>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699546" y="4402932"/>
            <a:ext cx="413375"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843555266"/>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BDC48-BD96-02B0-817B-E389445410C1}"/>
              </a:ext>
            </a:extLst>
          </p:cNvPr>
          <p:cNvSpPr>
            <a:spLocks noGrp="1"/>
          </p:cNvSpPr>
          <p:nvPr>
            <p:ph type="ctrTitle"/>
          </p:nvPr>
        </p:nvSpPr>
        <p:spPr/>
        <p:txBody>
          <a:bodyPr/>
          <a:lstStyle/>
          <a:p>
            <a:r>
              <a:rPr lang="en-US" dirty="0"/>
              <a:t>02 – Large Language Models</a:t>
            </a:r>
          </a:p>
        </p:txBody>
      </p:sp>
      <p:sp>
        <p:nvSpPr>
          <p:cNvPr id="5" name="Subtitle 4">
            <a:extLst>
              <a:ext uri="{FF2B5EF4-FFF2-40B4-BE49-F238E27FC236}">
                <a16:creationId xmlns:a16="http://schemas.microsoft.com/office/drawing/2014/main" id="{FFC79080-E263-310D-ACAB-E670A2FFF2EB}"/>
              </a:ext>
            </a:extLst>
          </p:cNvPr>
          <p:cNvSpPr>
            <a:spLocks noGrp="1"/>
          </p:cNvSpPr>
          <p:nvPr>
            <p:ph type="subTitle" idx="1"/>
          </p:nvPr>
        </p:nvSpPr>
        <p:spPr/>
        <p:txBody>
          <a:bodyPr/>
          <a:lstStyle/>
          <a:p>
            <a:endParaRPr lang="LID4096"/>
          </a:p>
        </p:txBody>
      </p:sp>
    </p:spTree>
    <p:extLst>
      <p:ext uri="{BB962C8B-B14F-4D97-AF65-F5344CB8AC3E}">
        <p14:creationId xmlns:p14="http://schemas.microsoft.com/office/powerpoint/2010/main" val="1843458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Mental model &amp; tokens</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1  ·  20 MINUTES</a:t>
            </a:r>
            <a:endParaRPr lang="en-US" sz="1400" dirty="0"/>
          </a:p>
        </p:txBody>
      </p:sp>
      <p:sp>
        <p:nvSpPr>
          <p:cNvPr id="4" name="Text 0"/>
          <p:cNvSpPr>
            <a:spLocks noGrp="1"/>
          </p:cNvSpPr>
          <p:nvPr>
            <p:ph type="body" idx="4294967295"/>
          </p:nvPr>
        </p:nvSpPr>
        <p:spPr>
          <a:xfrm>
            <a:off x="514351"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What an LLM actually does, and the unit it does it in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An LLM in one sentence</a:t>
            </a:r>
            <a:endParaRPr lang="en-US" sz="2800" dirty="0"/>
          </a:p>
        </p:txBody>
      </p:sp>
      <p:sp>
        <p:nvSpPr>
          <p:cNvPr id="7" name="Content Placeholder 6">
            <a:extLst>
              <a:ext uri="{FF2B5EF4-FFF2-40B4-BE49-F238E27FC236}">
                <a16:creationId xmlns:a16="http://schemas.microsoft.com/office/drawing/2014/main" id="{449EAECA-78C7-9BF0-EF78-D467DE0016B9}"/>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a:t>
            </a:fld>
            <a:endParaRPr lang="en-US">
              <a:solidFill>
                <a:schemeClr val="tx1"/>
              </a:solidFill>
            </a:endParaRPr>
          </a:p>
        </p:txBody>
      </p:sp>
      <p:sp>
        <p:nvSpPr>
          <p:cNvPr id="3" name="Text 1"/>
          <p:cNvSpPr/>
          <p:nvPr/>
        </p:nvSpPr>
        <p:spPr>
          <a:xfrm>
            <a:off x="457200" y="1645920"/>
            <a:ext cx="8229600" cy="1097280"/>
          </a:xfrm>
          <a:prstGeom prst="rect">
            <a:avLst/>
          </a:prstGeom>
          <a:noFill/>
          <a:ln/>
        </p:spPr>
        <p:txBody>
          <a:bodyPr wrap="square" rtlCol="0" anchor="ctr"/>
          <a:lstStyle/>
          <a:p>
            <a:pPr marL="0" indent="0" algn="l">
              <a:buNone/>
            </a:pPr>
            <a:r>
              <a:rPr lang="en-US" sz="3200" b="1" dirty="0">
                <a:latin typeface="Calibri" pitchFamily="34" charset="0"/>
                <a:ea typeface="Calibri" pitchFamily="34" charset="-122"/>
                <a:cs typeface="Calibri" pitchFamily="34" charset="-120"/>
              </a:rPr>
              <a:t>A next-token predictor over a probability distribution.</a:t>
            </a:r>
            <a:endParaRPr lang="en-US" sz="3200" dirty="0"/>
          </a:p>
        </p:txBody>
      </p:sp>
      <p:sp>
        <p:nvSpPr>
          <p:cNvPr id="4" name="Text 2"/>
          <p:cNvSpPr/>
          <p:nvPr/>
        </p:nvSpPr>
        <p:spPr>
          <a:xfrm>
            <a:off x="457200" y="3108960"/>
            <a:ext cx="8229600" cy="1645920"/>
          </a:xfrm>
          <a:prstGeom prst="rect">
            <a:avLst/>
          </a:prstGeom>
          <a:noFill/>
          <a:ln/>
        </p:spPr>
        <p:txBody>
          <a:bodyPr wrap="square" rtlCol="0" anchor="t"/>
          <a:lstStyle/>
          <a:p>
            <a:pPr marL="0" indent="0">
              <a:spcAft>
                <a:spcPts val="1200"/>
              </a:spcAft>
              <a:buNone/>
            </a:pPr>
            <a:r>
              <a:rPr lang="en-US" sz="1600" dirty="0">
                <a:latin typeface="Calibri" pitchFamily="34" charset="0"/>
                <a:ea typeface="Calibri" pitchFamily="34" charset="-122"/>
                <a:cs typeface="Calibri" pitchFamily="34" charset="-120"/>
              </a:rPr>
              <a:t>That's it. No reasoning engine. No database of facts. No 'understanding' in the human sense.</a:t>
            </a:r>
            <a:endParaRPr lang="en-US" sz="1600" dirty="0"/>
          </a:p>
          <a:p>
            <a:pPr marL="0" indent="0">
              <a:buNone/>
            </a:pPr>
            <a:r>
              <a:rPr lang="en-US" sz="1600" dirty="0">
                <a:latin typeface="Calibri" pitchFamily="34" charset="0"/>
                <a:ea typeface="Calibri" pitchFamily="34" charset="-122"/>
                <a:cs typeface="Calibri" pitchFamily="34" charset="-120"/>
              </a:rPr>
              <a:t>Every magical-looking behavior — code generation, summarization, conversation — emerges from one operation, repeated billions of times.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How prediction actually works</a:t>
            </a:r>
            <a:endParaRPr lang="en-US" sz="2800" dirty="0"/>
          </a:p>
        </p:txBody>
      </p:sp>
      <p:sp>
        <p:nvSpPr>
          <p:cNvPr id="6" name="Content Placeholder 5">
            <a:extLst>
              <a:ext uri="{FF2B5EF4-FFF2-40B4-BE49-F238E27FC236}">
                <a16:creationId xmlns:a16="http://schemas.microsoft.com/office/drawing/2014/main" id="{6D47C0C5-BB01-5835-9925-A5C716683462}"/>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4</a:t>
            </a:fld>
            <a:endParaRPr lang="en-US">
              <a:solidFill>
                <a:schemeClr val="tx1"/>
              </a:solidFill>
            </a:endParaRPr>
          </a:p>
        </p:txBody>
      </p:sp>
      <p:sp>
        <p:nvSpPr>
          <p:cNvPr id="3" name="Text 1"/>
          <p:cNvSpPr/>
          <p:nvPr/>
        </p:nvSpPr>
        <p:spPr>
          <a:xfrm>
            <a:off x="457200" y="1188720"/>
            <a:ext cx="8229600" cy="2194560"/>
          </a:xfrm>
          <a:prstGeom prst="rect">
            <a:avLst/>
          </a:prstGeom>
          <a:noFill/>
          <a:ln/>
        </p:spPr>
        <p:txBody>
          <a:bodyPr wrap="square" rtlCol="0" anchor="t"/>
          <a:lstStyle/>
          <a:p>
            <a:pPr marL="342900" indent="-342900">
              <a:spcAft>
                <a:spcPts val="1000"/>
              </a:spcAft>
              <a:buSzPct val="100000"/>
              <a:buChar char="•"/>
            </a:pPr>
            <a:r>
              <a:rPr lang="en-US" sz="1700" dirty="0">
                <a:latin typeface="Calibri" pitchFamily="34" charset="0"/>
                <a:ea typeface="Calibri" pitchFamily="34" charset="-122"/>
                <a:cs typeface="Calibri" pitchFamily="34" charset="-120"/>
              </a:rPr>
              <a:t>Take input tokens (your prompt + everything in context)</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Compute a probability for every possible next token in the vocabulary (~50k–200k options)</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Pick one — greedily, by sampling, or by beam search</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Append the chosen token to the input. Repeat until done.</a:t>
            </a:r>
            <a:endParaRPr lang="en-US" sz="1700" dirty="0"/>
          </a:p>
        </p:txBody>
      </p:sp>
      <p:sp>
        <p:nvSpPr>
          <p:cNvPr id="4" name="Text 2"/>
          <p:cNvSpPr/>
          <p:nvPr/>
        </p:nvSpPr>
        <p:spPr>
          <a:xfrm>
            <a:off x="457200" y="3749040"/>
            <a:ext cx="8229600" cy="914400"/>
          </a:xfrm>
          <a:prstGeom prst="rect">
            <a:avLst/>
          </a:prstGeom>
          <a:noFill/>
          <a:ln/>
        </p:spPr>
        <p:txBody>
          <a:bodyPr wrap="square" rtlCol="0" anchor="t"/>
          <a:lstStyle/>
          <a:p>
            <a:pPr marL="0" indent="0">
              <a:buNone/>
            </a:pPr>
            <a:r>
              <a:rPr lang="en-US" sz="1600" b="1" i="1" dirty="0">
                <a:latin typeface="Calibri" pitchFamily="34" charset="0"/>
                <a:ea typeface="Calibri" pitchFamily="34" charset="-122"/>
                <a:cs typeface="Calibri" pitchFamily="34" charset="-120"/>
              </a:rPr>
              <a:t>Consequence: </a:t>
            </a:r>
            <a:r>
              <a:rPr lang="en-US" sz="1600" i="1" dirty="0">
                <a:latin typeface="Calibri" pitchFamily="34" charset="0"/>
                <a:ea typeface="Calibri" pitchFamily="34" charset="-122"/>
                <a:cs typeface="Calibri" pitchFamily="34" charset="-120"/>
              </a:rPr>
              <a:t>the model has no plan. It picks one token, then sees what it just wrote, then picks the next. Coherence is emergent, not designed.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Tokens, not words</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5</a:t>
            </a:fld>
            <a:endParaRPr lang="en-US">
              <a:solidFill>
                <a:schemeClr val="tx1"/>
              </a:solidFill>
            </a:endParaRPr>
          </a:p>
        </p:txBody>
      </p:sp>
      <p:sp>
        <p:nvSpPr>
          <p:cNvPr id="3" name="Text 1"/>
          <p:cNvSpPr/>
          <p:nvPr/>
        </p:nvSpPr>
        <p:spPr>
          <a:xfrm>
            <a:off x="457200" y="1188720"/>
            <a:ext cx="8229600" cy="822960"/>
          </a:xfrm>
          <a:prstGeom prst="rect">
            <a:avLst/>
          </a:prstGeom>
          <a:noFill/>
          <a:ln/>
        </p:spPr>
        <p:txBody>
          <a:bodyPr wrap="square" lIns="0" tIns="0" rIns="0" bIns="0" rtlCol="0" anchor="t"/>
          <a:lstStyle/>
          <a:p>
            <a:pPr marL="0" indent="0">
              <a:buNone/>
            </a:pPr>
            <a:r>
              <a:rPr lang="en-US" sz="1700" dirty="0">
                <a:latin typeface="Calibri" pitchFamily="34" charset="0"/>
                <a:ea typeface="Calibri" pitchFamily="34" charset="-122"/>
                <a:cs typeface="Calibri" pitchFamily="34" charset="-120"/>
              </a:rPr>
              <a:t>Models don't see words. They see </a:t>
            </a:r>
            <a:r>
              <a:rPr lang="en-US" sz="1700" b="1" dirty="0">
                <a:latin typeface="Calibri" pitchFamily="34" charset="0"/>
                <a:ea typeface="Calibri" pitchFamily="34" charset="-122"/>
                <a:cs typeface="Calibri" pitchFamily="34" charset="-120"/>
              </a:rPr>
              <a:t>tokens</a:t>
            </a:r>
            <a:r>
              <a:rPr lang="en-US" sz="1700" dirty="0">
                <a:latin typeface="Calibri" pitchFamily="34" charset="0"/>
                <a:ea typeface="Calibri" pitchFamily="34" charset="-122"/>
                <a:cs typeface="Calibri" pitchFamily="34" charset="-120"/>
              </a:rPr>
              <a:t> — subword units learned during training (BPE, SentencePiece).</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2049113914"/>
              </p:ext>
            </p:extLst>
          </p:nvPr>
        </p:nvGraphicFramePr>
        <p:xfrm>
          <a:off x="457200" y="2103120"/>
          <a:ext cx="8229600" cy="2304288"/>
        </p:xfrm>
        <a:graphic>
          <a:graphicData uri="http://schemas.openxmlformats.org/drawingml/2006/table">
            <a:tbl>
              <a:tblPr/>
              <a:tblGrid>
                <a:gridCol w="3664857">
                  <a:extLst>
                    <a:ext uri="{9D8B030D-6E8A-4147-A177-3AD203B41FA5}">
                      <a16:colId xmlns:a16="http://schemas.microsoft.com/office/drawing/2014/main" val="20000"/>
                    </a:ext>
                  </a:extLst>
                </a:gridCol>
                <a:gridCol w="1335314">
                  <a:extLst>
                    <a:ext uri="{9D8B030D-6E8A-4147-A177-3AD203B41FA5}">
                      <a16:colId xmlns:a16="http://schemas.microsoft.com/office/drawing/2014/main" val="20001"/>
                    </a:ext>
                  </a:extLst>
                </a:gridCol>
                <a:gridCol w="3229429">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Input</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no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 Tokens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no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Why</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no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Hello world</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2</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Common words, single tokens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antidisestablishmentarianism</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6</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Rare → split into morphemes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public async Task&lt;IActionResult&gt;</a:t>
                      </a:r>
                      <a:endParaRPr lang="en-US" sz="1300" dirty="0">
                        <a:solidFill>
                          <a:schemeClr val="tx1"/>
                        </a:solidFill>
                        <a:latin typeface="Courier New" charset="0"/>
                        <a:ea typeface="Courier New" charset="0"/>
                        <a:cs typeface="Courier New"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~12</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Indentation + generics burn tokens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数据库连接</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~10</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Non-English: often 2–3× more tokens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1234567890</a:t>
                      </a:r>
                      <a:endParaRPr lang="en-US" sz="1400" dirty="0">
                        <a:solidFill>
                          <a:schemeClr val="tx1"/>
                        </a:solidFill>
                        <a:latin typeface="Courier New" charset="0"/>
                        <a:ea typeface="Courier New" charset="0"/>
                        <a:cs typeface="Courier New"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Numbers split unpredictably</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Why tokens matter — three places they bite</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6</a:t>
            </a:fld>
            <a:endParaRPr lang="en-US">
              <a:solidFill>
                <a:schemeClr val="tx1"/>
              </a:solidFill>
            </a:endParaRPr>
          </a:p>
        </p:txBody>
      </p:sp>
      <p:sp>
        <p:nvSpPr>
          <p:cNvPr id="3" name="Text 1"/>
          <p:cNvSpPr/>
          <p:nvPr/>
        </p:nvSpPr>
        <p:spPr>
          <a:xfrm>
            <a:off x="457200" y="1188720"/>
            <a:ext cx="8229600" cy="3657600"/>
          </a:xfrm>
          <a:prstGeom prst="rect">
            <a:avLst/>
          </a:prstGeom>
          <a:noFill/>
          <a:ln/>
        </p:spPr>
        <p:txBody>
          <a:bodyPr wrap="square" rtlCol="0" anchor="t"/>
          <a:lstStyle/>
          <a:p>
            <a:pPr marL="0" indent="0">
              <a:buNone/>
            </a:pPr>
            <a:r>
              <a:rPr lang="en-US" b="1" dirty="0">
                <a:latin typeface="Calibri" pitchFamily="34" charset="0"/>
                <a:ea typeface="Calibri" pitchFamily="34" charset="-122"/>
                <a:cs typeface="Calibri" pitchFamily="34" charset="-120"/>
              </a:rPr>
              <a:t>Pricing.  </a:t>
            </a:r>
            <a:r>
              <a:rPr lang="en-US" dirty="0">
                <a:latin typeface="Calibri" pitchFamily="34" charset="0"/>
                <a:ea typeface="Calibri" pitchFamily="34" charset="-122"/>
                <a:cs typeface="Calibri" pitchFamily="34" charset="-120"/>
              </a:rPr>
              <a:t>You are billed per token, input + output. A long .cs file in context isn't 'free' just because you didn't pay attention to its size.</a:t>
            </a:r>
          </a:p>
          <a:p>
            <a:pPr marL="0" indent="0">
              <a:buNone/>
            </a:pPr>
            <a:endParaRPr lang="en-US" dirty="0"/>
          </a:p>
          <a:p>
            <a:pPr marL="0" indent="0">
              <a:buNone/>
            </a:pPr>
            <a:r>
              <a:rPr lang="en-US" b="1" dirty="0">
                <a:latin typeface="Calibri" pitchFamily="34" charset="0"/>
                <a:ea typeface="Calibri" pitchFamily="34" charset="-122"/>
                <a:cs typeface="Calibri" pitchFamily="34" charset="-120"/>
              </a:rPr>
              <a:t>Context windows.  </a:t>
            </a:r>
            <a:r>
              <a:rPr lang="en-US" dirty="0">
                <a:latin typeface="Calibri" pitchFamily="34" charset="0"/>
                <a:ea typeface="Calibri" pitchFamily="34" charset="-122"/>
                <a:cs typeface="Calibri" pitchFamily="34" charset="-120"/>
              </a:rPr>
              <a:t>Measured in tokens, not lines or files. A '128k context' model fits roughly 96k words — or a few medium-sized C# files plus history.</a:t>
            </a:r>
            <a:endParaRPr lang="en-US" dirty="0"/>
          </a:p>
          <a:p>
            <a:pPr marL="0" indent="0">
              <a:buNone/>
            </a:pPr>
            <a:endParaRPr lang="en-US" b="1" dirty="0">
              <a:latin typeface="Calibri" pitchFamily="34" charset="0"/>
              <a:ea typeface="Calibri" pitchFamily="34" charset="-122"/>
              <a:cs typeface="Calibri" pitchFamily="34" charset="-120"/>
            </a:endParaRPr>
          </a:p>
          <a:p>
            <a:pPr marL="0" indent="0">
              <a:buNone/>
            </a:pPr>
            <a:r>
              <a:rPr lang="en-US" b="1" dirty="0">
                <a:latin typeface="Calibri" pitchFamily="34" charset="0"/>
                <a:ea typeface="Calibri" pitchFamily="34" charset="-122"/>
                <a:cs typeface="Calibri" pitchFamily="34" charset="-120"/>
              </a:rPr>
              <a:t>Latency.  </a:t>
            </a:r>
            <a:r>
              <a:rPr lang="en-US" dirty="0">
                <a:latin typeface="Calibri" pitchFamily="34" charset="0"/>
                <a:ea typeface="Calibri" pitchFamily="34" charset="-122"/>
                <a:cs typeface="Calibri" pitchFamily="34" charset="-120"/>
              </a:rPr>
              <a:t>Output is generated token-by-token. A 2,000-token response takes ~5× longer than a 400-token one. This is why concise prompts matter.</a:t>
            </a:r>
            <a:endParaRPr lang="en-US" dirty="0"/>
          </a:p>
          <a:p>
            <a:pPr marL="0" indent="0">
              <a:buNone/>
            </a:pPr>
            <a:endParaRPr lang="en-US" b="1" dirty="0">
              <a:latin typeface="Calibri" pitchFamily="34" charset="0"/>
              <a:ea typeface="Calibri" pitchFamily="34" charset="-122"/>
              <a:cs typeface="Calibri" pitchFamily="34" charset="-120"/>
            </a:endParaRPr>
          </a:p>
          <a:p>
            <a:pPr marL="0" indent="0">
              <a:buNone/>
            </a:pPr>
            <a:r>
              <a:rPr lang="en-US" b="1" dirty="0">
                <a:latin typeface="Calibri" pitchFamily="34" charset="0"/>
                <a:ea typeface="Calibri" pitchFamily="34" charset="-122"/>
                <a:cs typeface="Calibri" pitchFamily="34" charset="-120"/>
              </a:rPr>
              <a:t>Rule of thumb:  </a:t>
            </a:r>
            <a:r>
              <a:rPr lang="en-US" i="1" dirty="0">
                <a:latin typeface="Calibri" pitchFamily="34" charset="0"/>
                <a:ea typeface="Calibri" pitchFamily="34" charset="-122"/>
                <a:cs typeface="Calibri" pitchFamily="34" charset="-120"/>
              </a:rPr>
              <a:t>1 token ≈ ¾ of an English word. For C# code, assume 1 token ≈ 3 characters.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Architecture, just enough</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2  ·  10 MINUTES</a:t>
            </a:r>
            <a:endParaRPr lang="en-US" sz="1400" dirty="0"/>
          </a:p>
        </p:txBody>
      </p:sp>
      <p:sp>
        <p:nvSpPr>
          <p:cNvPr id="4" name="Text 0"/>
          <p:cNvSpPr>
            <a:spLocks noGrp="1"/>
          </p:cNvSpPr>
          <p:nvPr>
            <p:ph type="body" idx="4294967295"/>
          </p:nvPr>
        </p:nvSpPr>
        <p:spPr>
          <a:xfrm>
            <a:off x="514351"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Why context windows exist, and why they cost what they cost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The transformer, top to bottom</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8</a:t>
            </a:fld>
            <a:endParaRPr lang="en-US">
              <a:solidFill>
                <a:schemeClr val="tx1"/>
              </a:solidFill>
            </a:endParaRPr>
          </a:p>
        </p:txBody>
      </p:sp>
      <p:sp>
        <p:nvSpPr>
          <p:cNvPr id="3" name="Text 1"/>
          <p:cNvSpPr/>
          <p:nvPr/>
        </p:nvSpPr>
        <p:spPr>
          <a:xfrm>
            <a:off x="457200" y="1371600"/>
            <a:ext cx="8229600" cy="914400"/>
          </a:xfrm>
          <a:prstGeom prst="rect">
            <a:avLst/>
          </a:prstGeom>
          <a:noFill/>
          <a:ln/>
        </p:spPr>
        <p:txBody>
          <a:bodyPr wrap="square" rtlCol="0" anchor="ctr"/>
          <a:lstStyle/>
          <a:p>
            <a:pPr marL="0" indent="0" algn="ctr">
              <a:buNone/>
            </a:pPr>
            <a:r>
              <a:rPr lang="en-US" sz="1400" dirty="0">
                <a:latin typeface="Courier New" pitchFamily="34" charset="0"/>
                <a:ea typeface="Courier New" pitchFamily="34" charset="-122"/>
                <a:cs typeface="Courier New" pitchFamily="34" charset="-120"/>
              </a:rPr>
              <a:t>Token in  →  embedding lookup  →  many attention layers (32–96)  →  next-token probability distribution  →  token out</a:t>
            </a:r>
            <a:endParaRPr lang="en-US" sz="1400" dirty="0"/>
          </a:p>
        </p:txBody>
      </p:sp>
      <p:sp>
        <p:nvSpPr>
          <p:cNvPr id="4" name="Text 2"/>
          <p:cNvSpPr/>
          <p:nvPr/>
        </p:nvSpPr>
        <p:spPr>
          <a:xfrm>
            <a:off x="457200" y="2651760"/>
            <a:ext cx="8229600" cy="1828800"/>
          </a:xfrm>
          <a:prstGeom prst="rect">
            <a:avLst/>
          </a:prstGeom>
          <a:noFill/>
          <a:ln/>
        </p:spPr>
        <p:txBody>
          <a:bodyPr wrap="square" rtlCol="0" anchor="t"/>
          <a:lstStyle/>
          <a:p>
            <a:pPr marL="0" indent="0">
              <a:spcAft>
                <a:spcPts val="1200"/>
              </a:spcAft>
              <a:buNone/>
            </a:pPr>
            <a:r>
              <a:rPr lang="en-US" sz="1600" b="1" dirty="0">
                <a:latin typeface="Calibri" pitchFamily="34" charset="0"/>
                <a:ea typeface="Calibri" pitchFamily="34" charset="-122"/>
                <a:cs typeface="Calibri" pitchFamily="34" charset="-120"/>
              </a:rPr>
              <a:t>The internals don't help you write better prompts.</a:t>
            </a:r>
            <a:endParaRPr lang="en-US" sz="1600" dirty="0"/>
          </a:p>
          <a:p>
            <a:pPr marL="0" indent="0">
              <a:buNone/>
            </a:pPr>
            <a:r>
              <a:rPr lang="en-US" sz="1600" dirty="0">
                <a:latin typeface="Calibri" pitchFamily="34" charset="0"/>
                <a:ea typeface="Calibri" pitchFamily="34" charset="-122"/>
                <a:cs typeface="Calibri" pitchFamily="34" charset="-120"/>
              </a:rPr>
              <a:t>What does help: knowing the bottleneck is attention. Attention is where the model decides which earlier tokens matter for predicting the next one — and it's expensive.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Attention in one line</a:t>
            </a:r>
            <a:endParaRPr lang="en-US" sz="2800" dirty="0"/>
          </a:p>
        </p:txBody>
      </p:sp>
      <p:sp>
        <p:nvSpPr>
          <p:cNvPr id="6" name="Content Placeholder 5">
            <a:extLst>
              <a:ext uri="{FF2B5EF4-FFF2-40B4-BE49-F238E27FC236}">
                <a16:creationId xmlns:a16="http://schemas.microsoft.com/office/drawing/2014/main" id="{47F67BE8-BE9E-D14C-82E2-50497412FAEB}"/>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9</a:t>
            </a:fld>
            <a:endParaRPr lang="en-US">
              <a:solidFill>
                <a:schemeClr val="tx1"/>
              </a:solidFill>
            </a:endParaRPr>
          </a:p>
        </p:txBody>
      </p:sp>
      <p:sp>
        <p:nvSpPr>
          <p:cNvPr id="3" name="Text 1"/>
          <p:cNvSpPr/>
          <p:nvPr/>
        </p:nvSpPr>
        <p:spPr>
          <a:xfrm>
            <a:off x="640080" y="1463040"/>
            <a:ext cx="7863840" cy="1371600"/>
          </a:xfrm>
          <a:prstGeom prst="rect">
            <a:avLst/>
          </a:prstGeom>
          <a:noFill/>
          <a:ln/>
        </p:spPr>
        <p:txBody>
          <a:bodyPr wrap="square" rtlCol="0" anchor="ctr"/>
          <a:lstStyle/>
          <a:p>
            <a:pPr marL="0" indent="0" algn="l">
              <a:buNone/>
            </a:pPr>
            <a:r>
              <a:rPr lang="en-US" sz="2200" i="1" dirty="0">
                <a:latin typeface="Calibri" pitchFamily="34" charset="0"/>
                <a:ea typeface="Calibri" pitchFamily="34" charset="-122"/>
                <a:cs typeface="Calibri" pitchFamily="34" charset="-120"/>
              </a:rPr>
              <a:t>When predicting each token, the model looks at every other token in its context and weighs how much each one matters right now.</a:t>
            </a:r>
            <a:endParaRPr lang="en-US" sz="2200" dirty="0"/>
          </a:p>
        </p:txBody>
      </p:sp>
      <p:sp>
        <p:nvSpPr>
          <p:cNvPr id="4" name="Text 2"/>
          <p:cNvSpPr/>
          <p:nvPr/>
        </p:nvSpPr>
        <p:spPr>
          <a:xfrm>
            <a:off x="457200" y="3017520"/>
            <a:ext cx="8229600" cy="1737360"/>
          </a:xfrm>
          <a:prstGeom prst="rect">
            <a:avLst/>
          </a:prstGeom>
          <a:noFill/>
          <a:ln/>
        </p:spPr>
        <p:txBody>
          <a:bodyPr wrap="square" rtlCol="0" anchor="t"/>
          <a:lstStyle/>
          <a:p>
            <a:pPr marL="0" indent="0">
              <a:spcAft>
                <a:spcPts val="1000"/>
              </a:spcAft>
              <a:buNone/>
            </a:pPr>
            <a:r>
              <a:rPr lang="en-US" sz="1500" b="1" dirty="0">
                <a:latin typeface="Calibri" pitchFamily="34" charset="0"/>
                <a:ea typeface="Calibri" pitchFamily="34" charset="-122"/>
                <a:cs typeface="Calibri" pitchFamily="34" charset="-120"/>
              </a:rPr>
              <a:t>The 'looks at every other token' part is the cost.</a:t>
            </a:r>
            <a:endParaRPr lang="en-US" sz="1500" dirty="0"/>
          </a:p>
          <a:p>
            <a:pPr marL="0" indent="0">
              <a:buNone/>
            </a:pPr>
            <a:r>
              <a:rPr lang="en-US" sz="1500" dirty="0">
                <a:latin typeface="Calibri" pitchFamily="34" charset="0"/>
                <a:ea typeface="Calibri" pitchFamily="34" charset="-122"/>
                <a:cs typeface="Calibri" pitchFamily="34" charset="-120"/>
              </a:rPr>
              <a:t>•  Doubling context → ~4× compute for attention</a:t>
            </a:r>
            <a:endParaRPr lang="en-US" sz="1500" dirty="0"/>
          </a:p>
          <a:p>
            <a:pPr marL="0" indent="0">
              <a:buNone/>
            </a:pPr>
            <a:r>
              <a:rPr lang="en-US" sz="1500" dirty="0">
                <a:latin typeface="Calibri" pitchFamily="34" charset="0"/>
                <a:ea typeface="Calibri" pitchFamily="34" charset="-122"/>
                <a:cs typeface="Calibri" pitchFamily="34" charset="-120"/>
              </a:rPr>
              <a:t>•  Doubling context → 2× memory</a:t>
            </a:r>
            <a:endParaRPr lang="en-US" sz="1500" dirty="0"/>
          </a:p>
          <a:p>
            <a:pPr marL="0" indent="0">
              <a:buNone/>
            </a:pPr>
            <a:r>
              <a:rPr lang="en-US" sz="1500" dirty="0">
                <a:latin typeface="Calibri" pitchFamily="34" charset="0"/>
                <a:ea typeface="Calibri" pitchFamily="34" charset="-122"/>
                <a:cs typeface="Calibri" pitchFamily="34" charset="-120"/>
              </a:rPr>
              <a:t>•  This is the engineering wall behind every 'context window' number you see on a spec sheet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Why context windows are finite</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10</a:t>
            </a:fld>
            <a:endParaRPr lang="en-US">
              <a:solidFill>
                <a:schemeClr val="tx1"/>
              </a:solidFill>
            </a:endParaRPr>
          </a:p>
        </p:txBody>
      </p:sp>
      <p:sp>
        <p:nvSpPr>
          <p:cNvPr id="3" name="Text 1"/>
          <p:cNvSpPr/>
          <p:nvPr/>
        </p:nvSpPr>
        <p:spPr>
          <a:xfrm>
            <a:off x="457200" y="1188720"/>
            <a:ext cx="8229600" cy="2560320"/>
          </a:xfrm>
          <a:prstGeom prst="rect">
            <a:avLst/>
          </a:prstGeom>
          <a:noFill/>
          <a:ln/>
        </p:spPr>
        <p:txBody>
          <a:bodyPr wrap="square" rtlCol="0" anchor="t"/>
          <a:lstStyle/>
          <a:p>
            <a:pPr marL="342900" indent="-342900">
              <a:spcAft>
                <a:spcPts val="1000"/>
              </a:spcAft>
              <a:buSzPct val="100000"/>
              <a:buChar char="•"/>
            </a:pPr>
            <a:r>
              <a:rPr lang="en-US" sz="1700" dirty="0">
                <a:latin typeface="Calibri" pitchFamily="34" charset="0"/>
                <a:ea typeface="Calibri" pitchFamily="34" charset="-122"/>
                <a:cs typeface="Calibri" pitchFamily="34" charset="-120"/>
              </a:rPr>
              <a:t>Memory and compute scale quadratically with context length</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Even with engineering tricks (flash attention, sliding window, sparse), there is a hard cap per model</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Bigger ≠ free: a 1M-token context is technically possible, but you pay for what you send — every time</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Long context also degrades quality: attention thins out, retrieval gets noisier, the model forgets the middle ('lost in the middle' effect)</a:t>
            </a:r>
            <a:endParaRPr lang="en-US" sz="1700" dirty="0"/>
          </a:p>
        </p:txBody>
      </p:sp>
      <p:sp>
        <p:nvSpPr>
          <p:cNvPr id="4" name="Text 2"/>
          <p:cNvSpPr/>
          <p:nvPr/>
        </p:nvSpPr>
        <p:spPr>
          <a:xfrm>
            <a:off x="457200" y="4023360"/>
            <a:ext cx="8229600" cy="640080"/>
          </a:xfrm>
          <a:prstGeom prst="rect">
            <a:avLst/>
          </a:prstGeom>
          <a:noFill/>
          <a:ln/>
        </p:spPr>
        <p:txBody>
          <a:bodyPr wrap="square" rtlCol="0" anchor="t"/>
          <a:lstStyle/>
          <a:p>
            <a:pPr marL="0" indent="0">
              <a:buNone/>
            </a:pPr>
            <a:r>
              <a:rPr lang="en-US" sz="1500" b="1" dirty="0">
                <a:latin typeface="Calibri" pitchFamily="34" charset="0"/>
                <a:ea typeface="Calibri" pitchFamily="34" charset="-122"/>
                <a:cs typeface="Calibri" pitchFamily="34" charset="-120"/>
              </a:rPr>
              <a:t>Implication for Day 1: </a:t>
            </a:r>
            <a:r>
              <a:rPr lang="en-US" sz="1500" i="1" dirty="0">
                <a:latin typeface="Calibri" pitchFamily="34" charset="0"/>
                <a:ea typeface="Calibri" pitchFamily="34" charset="-122"/>
                <a:cs typeface="Calibri" pitchFamily="34" charset="-120"/>
              </a:rPr>
              <a:t>we'll spend Module 3 entirely on context management. It's the highest-leverage skill in this course.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The training pipeline</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3  ·  15 MINUTES</a:t>
            </a:r>
            <a:endParaRPr lang="en-US" sz="1400" dirty="0"/>
          </a:p>
        </p:txBody>
      </p:sp>
      <p:sp>
        <p:nvSpPr>
          <p:cNvPr id="4" name="Text 0"/>
          <p:cNvSpPr>
            <a:spLocks noGrp="1"/>
          </p:cNvSpPr>
          <p:nvPr>
            <p:ph type="body" idx="4294967295"/>
          </p:nvPr>
        </p:nvSpPr>
        <p:spPr>
          <a:xfrm>
            <a:off x="514351"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Why the model behaves the way it does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From raw text to chatbot — three stages</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12</a:t>
            </a:fld>
            <a:endParaRPr lang="en-US"/>
          </a:p>
        </p:txBody>
      </p:sp>
      <p:sp>
        <p:nvSpPr>
          <p:cNvPr id="3" name="Shape 1"/>
          <p:cNvSpPr/>
          <p:nvPr/>
        </p:nvSpPr>
        <p:spPr>
          <a:xfrm>
            <a:off x="365760" y="1554480"/>
            <a:ext cx="2606040" cy="2377440"/>
          </a:xfrm>
          <a:prstGeom prst="roundRect">
            <a:avLst>
              <a:gd name="adj" fmla="val 3077"/>
            </a:avLst>
          </a:prstGeom>
          <a:solidFill>
            <a:srgbClr val="FAFAFA"/>
          </a:solidFill>
          <a:ln w="6350">
            <a:solidFill>
              <a:srgbClr val="D6D6D6"/>
            </a:solidFill>
            <a:prstDash val="solid"/>
          </a:ln>
        </p:spPr>
        <p:txBody>
          <a:bodyPr/>
          <a:lstStyle/>
          <a:p>
            <a:endParaRPr lang="en-US"/>
          </a:p>
        </p:txBody>
      </p:sp>
      <p:sp>
        <p:nvSpPr>
          <p:cNvPr id="4" name="Text 2"/>
          <p:cNvSpPr/>
          <p:nvPr/>
        </p:nvSpPr>
        <p:spPr>
          <a:xfrm>
            <a:off x="502920" y="1691640"/>
            <a:ext cx="2331720" cy="320040"/>
          </a:xfrm>
          <a:prstGeom prst="rect">
            <a:avLst/>
          </a:prstGeom>
          <a:noFill/>
          <a:ln/>
        </p:spPr>
        <p:txBody>
          <a:bodyPr wrap="square" rtlCol="0" anchor="ctr"/>
          <a:lstStyle/>
          <a:p>
            <a:pPr marL="0" indent="0">
              <a:buNone/>
            </a:pPr>
            <a:r>
              <a:rPr lang="en-US" sz="1200" b="1" kern="0" spc="200" dirty="0">
                <a:solidFill>
                  <a:srgbClr val="1A1A1A"/>
                </a:solidFill>
                <a:latin typeface="Calibri" pitchFamily="34" charset="0"/>
                <a:ea typeface="Calibri" pitchFamily="34" charset="-122"/>
                <a:cs typeface="Calibri" pitchFamily="34" charset="-120"/>
              </a:rPr>
              <a:t>Stage 1</a:t>
            </a:r>
            <a:endParaRPr lang="en-US" sz="1200" dirty="0"/>
          </a:p>
        </p:txBody>
      </p:sp>
      <p:sp>
        <p:nvSpPr>
          <p:cNvPr id="5" name="Text 3"/>
          <p:cNvSpPr/>
          <p:nvPr/>
        </p:nvSpPr>
        <p:spPr>
          <a:xfrm>
            <a:off x="502920" y="2011680"/>
            <a:ext cx="2331720" cy="502920"/>
          </a:xfrm>
          <a:prstGeom prst="rect">
            <a:avLst/>
          </a:prstGeom>
          <a:noFill/>
          <a:ln/>
        </p:spPr>
        <p:txBody>
          <a:bodyPr wrap="square" rtlCol="0" anchor="t"/>
          <a:lstStyle/>
          <a:p>
            <a:pPr marL="0" indent="0">
              <a:buNone/>
            </a:pPr>
            <a:r>
              <a:rPr lang="en-US" sz="1700" b="1" dirty="0">
                <a:solidFill>
                  <a:srgbClr val="1A1A1A"/>
                </a:solidFill>
                <a:latin typeface="Calibri" pitchFamily="34" charset="0"/>
                <a:ea typeface="Calibri" pitchFamily="34" charset="-122"/>
                <a:cs typeface="Calibri" pitchFamily="34" charset="-120"/>
              </a:rPr>
              <a:t>Pretraining</a:t>
            </a:r>
            <a:endParaRPr lang="en-US" sz="1700" dirty="0"/>
          </a:p>
        </p:txBody>
      </p:sp>
      <p:sp>
        <p:nvSpPr>
          <p:cNvPr id="6" name="Text 4"/>
          <p:cNvSpPr/>
          <p:nvPr/>
        </p:nvSpPr>
        <p:spPr>
          <a:xfrm>
            <a:off x="502920" y="2560320"/>
            <a:ext cx="2331720" cy="868680"/>
          </a:xfrm>
          <a:prstGeom prst="rect">
            <a:avLst/>
          </a:prstGeom>
          <a:noFill/>
          <a:ln/>
        </p:spPr>
        <p:txBody>
          <a:bodyPr wrap="square" rtlCol="0" anchor="t"/>
          <a:lstStyle/>
          <a:p>
            <a:pPr marL="0" indent="0">
              <a:buNone/>
            </a:pPr>
            <a:r>
              <a:rPr lang="en-US" sz="1200" dirty="0">
                <a:solidFill>
                  <a:srgbClr val="333333"/>
                </a:solidFill>
                <a:latin typeface="Calibri" pitchFamily="34" charset="0"/>
                <a:ea typeface="Calibri" pitchFamily="34" charset="-122"/>
                <a:cs typeface="Calibri" pitchFamily="34" charset="-120"/>
              </a:rPr>
              <a:t>Predict the next token in a trillion-token corpus of the open internet, books, and code.</a:t>
            </a:r>
            <a:endParaRPr lang="en-US" sz="1200" dirty="0"/>
          </a:p>
        </p:txBody>
      </p:sp>
      <p:sp>
        <p:nvSpPr>
          <p:cNvPr id="7" name="Text 5"/>
          <p:cNvSpPr/>
          <p:nvPr/>
        </p:nvSpPr>
        <p:spPr>
          <a:xfrm>
            <a:off x="502920" y="3429000"/>
            <a:ext cx="2331720" cy="411480"/>
          </a:xfrm>
          <a:prstGeom prst="rect">
            <a:avLst/>
          </a:prstGeom>
          <a:noFill/>
          <a:ln/>
        </p:spPr>
        <p:txBody>
          <a:bodyPr wrap="square" rtlCol="0" anchor="t"/>
          <a:lstStyle/>
          <a:p>
            <a:pPr marL="0" indent="0">
              <a:buNone/>
            </a:pPr>
            <a:r>
              <a:rPr lang="en-US" sz="1200" i="1" dirty="0">
                <a:solidFill>
                  <a:srgbClr val="475569"/>
                </a:solidFill>
                <a:latin typeface="Calibri" pitchFamily="34" charset="0"/>
                <a:ea typeface="Calibri" pitchFamily="34" charset="-122"/>
                <a:cs typeface="Calibri" pitchFamily="34" charset="-120"/>
              </a:rPr>
              <a:t>A base model.</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Knows a lot, follows nothing.</a:t>
            </a:r>
            <a:endParaRPr lang="en-US" sz="1200" dirty="0"/>
          </a:p>
        </p:txBody>
      </p:sp>
      <p:sp>
        <p:nvSpPr>
          <p:cNvPr id="8" name="Shape 6"/>
          <p:cNvSpPr/>
          <p:nvPr/>
        </p:nvSpPr>
        <p:spPr>
          <a:xfrm>
            <a:off x="3154680" y="1554480"/>
            <a:ext cx="2606040" cy="2377440"/>
          </a:xfrm>
          <a:prstGeom prst="roundRect">
            <a:avLst>
              <a:gd name="adj" fmla="val 3077"/>
            </a:avLst>
          </a:prstGeom>
          <a:solidFill>
            <a:srgbClr val="FAFAFA"/>
          </a:solidFill>
          <a:ln w="6350">
            <a:solidFill>
              <a:srgbClr val="D6D6D6"/>
            </a:solidFill>
            <a:prstDash val="solid"/>
          </a:ln>
        </p:spPr>
        <p:txBody>
          <a:bodyPr/>
          <a:lstStyle/>
          <a:p>
            <a:endParaRPr lang="en-US"/>
          </a:p>
        </p:txBody>
      </p:sp>
      <p:sp>
        <p:nvSpPr>
          <p:cNvPr id="9" name="Text 7"/>
          <p:cNvSpPr/>
          <p:nvPr/>
        </p:nvSpPr>
        <p:spPr>
          <a:xfrm>
            <a:off x="3291840" y="1691640"/>
            <a:ext cx="2331720" cy="320040"/>
          </a:xfrm>
          <a:prstGeom prst="rect">
            <a:avLst/>
          </a:prstGeom>
          <a:noFill/>
          <a:ln/>
        </p:spPr>
        <p:txBody>
          <a:bodyPr wrap="square" rtlCol="0" anchor="ctr"/>
          <a:lstStyle/>
          <a:p>
            <a:pPr marL="0" indent="0">
              <a:buNone/>
            </a:pPr>
            <a:r>
              <a:rPr lang="en-US" sz="1200" b="1" kern="0" spc="200" dirty="0">
                <a:solidFill>
                  <a:srgbClr val="475569"/>
                </a:solidFill>
                <a:latin typeface="Calibri" pitchFamily="34" charset="0"/>
                <a:ea typeface="Calibri" pitchFamily="34" charset="-122"/>
                <a:cs typeface="Calibri" pitchFamily="34" charset="-120"/>
              </a:rPr>
              <a:t>Stage 2</a:t>
            </a:r>
            <a:endParaRPr lang="en-US" sz="1200" dirty="0"/>
          </a:p>
        </p:txBody>
      </p:sp>
      <p:sp>
        <p:nvSpPr>
          <p:cNvPr id="10" name="Text 8"/>
          <p:cNvSpPr/>
          <p:nvPr/>
        </p:nvSpPr>
        <p:spPr>
          <a:xfrm>
            <a:off x="3291840" y="2011680"/>
            <a:ext cx="2331720" cy="502920"/>
          </a:xfrm>
          <a:prstGeom prst="rect">
            <a:avLst/>
          </a:prstGeom>
          <a:noFill/>
          <a:ln/>
        </p:spPr>
        <p:txBody>
          <a:bodyPr wrap="square" rtlCol="0" anchor="t"/>
          <a:lstStyle/>
          <a:p>
            <a:pPr marL="0" indent="0">
              <a:buNone/>
            </a:pPr>
            <a:r>
              <a:rPr lang="en-US" sz="1700" b="1" dirty="0">
                <a:solidFill>
                  <a:srgbClr val="1A1A1A"/>
                </a:solidFill>
                <a:latin typeface="Calibri" pitchFamily="34" charset="0"/>
                <a:ea typeface="Calibri" pitchFamily="34" charset="-122"/>
                <a:cs typeface="Calibri" pitchFamily="34" charset="-120"/>
              </a:rPr>
              <a:t>Supervised Fine-Tuning</a:t>
            </a:r>
            <a:endParaRPr lang="en-US" sz="1700" dirty="0"/>
          </a:p>
        </p:txBody>
      </p:sp>
      <p:sp>
        <p:nvSpPr>
          <p:cNvPr id="11" name="Text 9"/>
          <p:cNvSpPr/>
          <p:nvPr/>
        </p:nvSpPr>
        <p:spPr>
          <a:xfrm>
            <a:off x="3291840" y="2560320"/>
            <a:ext cx="2331720" cy="868680"/>
          </a:xfrm>
          <a:prstGeom prst="rect">
            <a:avLst/>
          </a:prstGeom>
          <a:noFill/>
          <a:ln/>
        </p:spPr>
        <p:txBody>
          <a:bodyPr wrap="square" rtlCol="0" anchor="t"/>
          <a:lstStyle/>
          <a:p>
            <a:pPr marL="0" indent="0">
              <a:buNone/>
            </a:pPr>
            <a:r>
              <a:rPr lang="en-US" sz="1200" dirty="0">
                <a:solidFill>
                  <a:srgbClr val="333333"/>
                </a:solidFill>
                <a:latin typeface="Calibri" pitchFamily="34" charset="0"/>
                <a:ea typeface="Calibri" pitchFamily="34" charset="-122"/>
                <a:cs typeface="Calibri" pitchFamily="34" charset="-120"/>
              </a:rPr>
              <a:t>Show curated examples of instruction → desired response. Much smaller dataset.</a:t>
            </a:r>
            <a:endParaRPr lang="en-US" sz="1200" dirty="0"/>
          </a:p>
        </p:txBody>
      </p:sp>
      <p:sp>
        <p:nvSpPr>
          <p:cNvPr id="12" name="Text 10"/>
          <p:cNvSpPr/>
          <p:nvPr/>
        </p:nvSpPr>
        <p:spPr>
          <a:xfrm>
            <a:off x="3291840" y="3429000"/>
            <a:ext cx="2331720" cy="411480"/>
          </a:xfrm>
          <a:prstGeom prst="rect">
            <a:avLst/>
          </a:prstGeom>
          <a:noFill/>
          <a:ln/>
        </p:spPr>
        <p:txBody>
          <a:bodyPr wrap="square" rtlCol="0" anchor="t"/>
          <a:lstStyle/>
          <a:p>
            <a:pPr marL="0" indent="0">
              <a:buNone/>
            </a:pPr>
            <a:r>
              <a:rPr lang="en-US" sz="1200" i="1" dirty="0">
                <a:solidFill>
                  <a:srgbClr val="475569"/>
                </a:solidFill>
                <a:latin typeface="Calibri" pitchFamily="34" charset="0"/>
                <a:ea typeface="Calibri" pitchFamily="34" charset="-122"/>
                <a:cs typeface="Calibri" pitchFamily="34" charset="-120"/>
              </a:rPr>
              <a:t>An assistant.</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Follows instructions, helpful tone.</a:t>
            </a:r>
            <a:endParaRPr lang="en-US" sz="1200" dirty="0"/>
          </a:p>
        </p:txBody>
      </p:sp>
      <p:sp>
        <p:nvSpPr>
          <p:cNvPr id="13" name="Shape 11"/>
          <p:cNvSpPr/>
          <p:nvPr/>
        </p:nvSpPr>
        <p:spPr>
          <a:xfrm>
            <a:off x="5943600" y="1554480"/>
            <a:ext cx="2606040" cy="2377440"/>
          </a:xfrm>
          <a:prstGeom prst="roundRect">
            <a:avLst>
              <a:gd name="adj" fmla="val 3077"/>
            </a:avLst>
          </a:prstGeom>
          <a:solidFill>
            <a:srgbClr val="FAFAFA"/>
          </a:solidFill>
          <a:ln w="6350">
            <a:solidFill>
              <a:srgbClr val="D6D6D6"/>
            </a:solidFill>
            <a:prstDash val="solid"/>
          </a:ln>
        </p:spPr>
        <p:txBody>
          <a:bodyPr/>
          <a:lstStyle/>
          <a:p>
            <a:endParaRPr lang="en-US"/>
          </a:p>
        </p:txBody>
      </p:sp>
      <p:sp>
        <p:nvSpPr>
          <p:cNvPr id="14" name="Text 12"/>
          <p:cNvSpPr/>
          <p:nvPr/>
        </p:nvSpPr>
        <p:spPr>
          <a:xfrm>
            <a:off x="6080760" y="1691640"/>
            <a:ext cx="2331720" cy="320040"/>
          </a:xfrm>
          <a:prstGeom prst="rect">
            <a:avLst/>
          </a:prstGeom>
          <a:noFill/>
          <a:ln/>
        </p:spPr>
        <p:txBody>
          <a:bodyPr wrap="square" rtlCol="0" anchor="ctr"/>
          <a:lstStyle/>
          <a:p>
            <a:pPr marL="0" indent="0">
              <a:buNone/>
            </a:pPr>
            <a:r>
              <a:rPr lang="en-US" sz="1200" b="1" kern="0" spc="200" dirty="0">
                <a:solidFill>
                  <a:srgbClr val="6B6B6B"/>
                </a:solidFill>
                <a:latin typeface="Calibri" pitchFamily="34" charset="0"/>
                <a:ea typeface="Calibri" pitchFamily="34" charset="-122"/>
                <a:cs typeface="Calibri" pitchFamily="34" charset="-120"/>
              </a:rPr>
              <a:t>Stage 3</a:t>
            </a:r>
            <a:endParaRPr lang="en-US" sz="1200" dirty="0"/>
          </a:p>
        </p:txBody>
      </p:sp>
      <p:sp>
        <p:nvSpPr>
          <p:cNvPr id="15" name="Text 13"/>
          <p:cNvSpPr/>
          <p:nvPr/>
        </p:nvSpPr>
        <p:spPr>
          <a:xfrm>
            <a:off x="6080760" y="2011680"/>
            <a:ext cx="2331720" cy="502920"/>
          </a:xfrm>
          <a:prstGeom prst="rect">
            <a:avLst/>
          </a:prstGeom>
          <a:noFill/>
          <a:ln/>
        </p:spPr>
        <p:txBody>
          <a:bodyPr wrap="square" rtlCol="0" anchor="t"/>
          <a:lstStyle/>
          <a:p>
            <a:pPr marL="0" indent="0">
              <a:buNone/>
            </a:pPr>
            <a:r>
              <a:rPr lang="en-US" sz="1700" b="1" dirty="0">
                <a:solidFill>
                  <a:srgbClr val="1A1A1A"/>
                </a:solidFill>
                <a:latin typeface="Calibri" pitchFamily="34" charset="0"/>
                <a:ea typeface="Calibri" pitchFamily="34" charset="-122"/>
                <a:cs typeface="Calibri" pitchFamily="34" charset="-120"/>
              </a:rPr>
              <a:t>RLHF / DPO</a:t>
            </a:r>
            <a:endParaRPr lang="en-US" sz="1700" dirty="0"/>
          </a:p>
        </p:txBody>
      </p:sp>
      <p:sp>
        <p:nvSpPr>
          <p:cNvPr id="16" name="Text 14"/>
          <p:cNvSpPr/>
          <p:nvPr/>
        </p:nvSpPr>
        <p:spPr>
          <a:xfrm>
            <a:off x="6080760" y="2560320"/>
            <a:ext cx="2331720" cy="868680"/>
          </a:xfrm>
          <a:prstGeom prst="rect">
            <a:avLst/>
          </a:prstGeom>
          <a:noFill/>
          <a:ln/>
        </p:spPr>
        <p:txBody>
          <a:bodyPr wrap="square" rtlCol="0" anchor="t"/>
          <a:lstStyle/>
          <a:p>
            <a:pPr marL="0" indent="0">
              <a:buNone/>
            </a:pPr>
            <a:r>
              <a:rPr lang="en-US" sz="1200" dirty="0">
                <a:solidFill>
                  <a:srgbClr val="333333"/>
                </a:solidFill>
                <a:latin typeface="Calibri" pitchFamily="34" charset="0"/>
                <a:ea typeface="Calibri" pitchFamily="34" charset="-122"/>
                <a:cs typeface="Calibri" pitchFamily="34" charset="-120"/>
              </a:rPr>
              <a:t>Humans rank multiple responses. Model learns to prefer ranked-higher ones.</a:t>
            </a:r>
            <a:endParaRPr lang="en-US" sz="1200" dirty="0"/>
          </a:p>
        </p:txBody>
      </p:sp>
      <p:sp>
        <p:nvSpPr>
          <p:cNvPr id="17" name="Text 15"/>
          <p:cNvSpPr/>
          <p:nvPr/>
        </p:nvSpPr>
        <p:spPr>
          <a:xfrm>
            <a:off x="6080760" y="3429000"/>
            <a:ext cx="2331720" cy="411480"/>
          </a:xfrm>
          <a:prstGeom prst="rect">
            <a:avLst/>
          </a:prstGeom>
          <a:noFill/>
          <a:ln/>
        </p:spPr>
        <p:txBody>
          <a:bodyPr wrap="square" rtlCol="0" anchor="t"/>
          <a:lstStyle/>
          <a:p>
            <a:pPr marL="0" indent="0">
              <a:buNone/>
            </a:pPr>
            <a:r>
              <a:rPr lang="en-US" sz="1200" i="1" dirty="0">
                <a:solidFill>
                  <a:srgbClr val="475569"/>
                </a:solidFill>
                <a:latin typeface="Calibri" pitchFamily="34" charset="0"/>
                <a:ea typeface="Calibri" pitchFamily="34" charset="-122"/>
                <a:cs typeface="Calibri" pitchFamily="34" charset="-120"/>
              </a:rPr>
              <a:t>A polished assistant.</a:t>
            </a:r>
            <a:endParaRPr lang="en-US" sz="1200" dirty="0"/>
          </a:p>
          <a:p>
            <a:pPr marL="0" indent="0">
              <a:buNone/>
            </a:pPr>
            <a:r>
              <a:rPr lang="en-US" sz="1200" i="1" dirty="0">
                <a:solidFill>
                  <a:srgbClr val="475569"/>
                </a:solidFill>
                <a:latin typeface="Calibri" pitchFamily="34" charset="0"/>
                <a:ea typeface="Calibri" pitchFamily="34" charset="-122"/>
                <a:cs typeface="Calibri" pitchFamily="34" charset="-120"/>
              </a:rPr>
              <a:t>This is where 'personality' lives.</a:t>
            </a:r>
            <a:endParaRPr lang="en-US" sz="1200" dirty="0"/>
          </a:p>
        </p:txBody>
      </p:sp>
      <p:sp>
        <p:nvSpPr>
          <p:cNvPr id="18" name="Text 16"/>
          <p:cNvSpPr/>
          <p:nvPr/>
        </p:nvSpPr>
        <p:spPr>
          <a:xfrm>
            <a:off x="457200" y="4206240"/>
            <a:ext cx="8229600" cy="457200"/>
          </a:xfrm>
          <a:prstGeom prst="rect">
            <a:avLst/>
          </a:prstGeom>
          <a:noFill/>
          <a:ln/>
        </p:spPr>
        <p:txBody>
          <a:bodyPr wrap="square" rtlCol="0" anchor="ctr"/>
          <a:lstStyle/>
          <a:p>
            <a:pPr marL="0" indent="0" algn="ctr">
              <a:buNone/>
            </a:pPr>
            <a:r>
              <a:rPr lang="en-US" sz="1300" i="1" dirty="0">
                <a:solidFill>
                  <a:srgbClr val="6B6B6B"/>
                </a:solidFill>
                <a:latin typeface="Calibri" pitchFamily="34" charset="0"/>
                <a:ea typeface="Calibri" pitchFamily="34" charset="-122"/>
                <a:cs typeface="Calibri" pitchFamily="34" charset="-120"/>
              </a:rPr>
              <a:t>Each stage is shorter than the last but has more behavioral impact per token. RLHF is tiny — and it sets the tone you experience.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Stage 1 — Pretraining</a:t>
            </a:r>
            <a:endParaRPr lang="en-US" sz="2800" dirty="0"/>
          </a:p>
        </p:txBody>
      </p:sp>
      <p:sp>
        <p:nvSpPr>
          <p:cNvPr id="5" name="Content Placeholder 4">
            <a:extLst>
              <a:ext uri="{FF2B5EF4-FFF2-40B4-BE49-F238E27FC236}">
                <a16:creationId xmlns:a16="http://schemas.microsoft.com/office/drawing/2014/main" id="{FBEC9053-8282-11D8-54F8-980C892E3111}"/>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13</a:t>
            </a:fld>
            <a:endParaRPr lang="en-US">
              <a:solidFill>
                <a:schemeClr val="tx1"/>
              </a:solidFill>
            </a:endParaRPr>
          </a:p>
        </p:txBody>
      </p:sp>
      <p:sp>
        <p:nvSpPr>
          <p:cNvPr id="3" name="Text 1"/>
          <p:cNvSpPr/>
          <p:nvPr/>
        </p:nvSpPr>
        <p:spPr>
          <a:xfrm>
            <a:off x="457200" y="1188720"/>
            <a:ext cx="8229600" cy="2926080"/>
          </a:xfrm>
          <a:prstGeom prst="rect">
            <a:avLst/>
          </a:prstGeom>
          <a:noFill/>
          <a:ln/>
        </p:spPr>
        <p:txBody>
          <a:bodyPr wrap="square" rtlCol="0" anchor="t"/>
          <a:lstStyle/>
          <a:p>
            <a:pPr marL="342900" indent="-342900">
              <a:spcAft>
                <a:spcPts val="1000"/>
              </a:spcAft>
              <a:buSzPct val="100000"/>
              <a:buChar char="•"/>
            </a:pPr>
            <a:r>
              <a:rPr lang="en-US" sz="1600" dirty="0">
                <a:latin typeface="Calibri" pitchFamily="34" charset="0"/>
                <a:ea typeface="Calibri" pitchFamily="34" charset="-122"/>
                <a:cs typeface="Calibri" pitchFamily="34" charset="-120"/>
              </a:rPr>
              <a:t>Trillions of tokens of text and code — Common Crawl, GitHub, books, scientific papers, Wikipedia</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Objective: predict the next token, billions of times</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No 'understanding' of tasks, no concept of an assistant</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Result: a base model that completes text. Give it 'public class Order' and it continues plausibly — but ask it to 'help me debug' and it has no idea what you want</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Knowledge cutoff lives here — the model only knows what was in the corpus</a:t>
            </a:r>
            <a:endParaRPr lang="en-US" sz="1600" dirty="0"/>
          </a:p>
        </p:txBody>
      </p:sp>
      <p:sp>
        <p:nvSpPr>
          <p:cNvPr id="4" name="Text 2"/>
          <p:cNvSpPr/>
          <p:nvPr/>
        </p:nvSpPr>
        <p:spPr>
          <a:xfrm>
            <a:off x="457200" y="4206240"/>
            <a:ext cx="8229600" cy="548640"/>
          </a:xfrm>
          <a:prstGeom prst="rect">
            <a:avLst/>
          </a:prstGeom>
          <a:noFill/>
          <a:ln/>
        </p:spPr>
        <p:txBody>
          <a:bodyPr wrap="square" rtlCol="0" anchor="ctr"/>
          <a:lstStyle/>
          <a:p>
            <a:pPr marL="0" indent="0">
              <a:buNone/>
            </a:pPr>
            <a:r>
              <a:rPr lang="en-US" sz="1400" b="1" i="1" dirty="0">
                <a:latin typeface="Calibri" pitchFamily="34" charset="0"/>
                <a:ea typeface="Calibri" pitchFamily="34" charset="-122"/>
                <a:cs typeface="Calibri" pitchFamily="34" charset="-120"/>
              </a:rPr>
              <a:t>Cost: </a:t>
            </a:r>
            <a:r>
              <a:rPr lang="en-US" sz="1400" i="1" dirty="0">
                <a:latin typeface="Calibri" pitchFamily="34" charset="0"/>
                <a:ea typeface="Calibri" pitchFamily="34" charset="-122"/>
                <a:cs typeface="Calibri" pitchFamily="34" charset="-120"/>
              </a:rPr>
              <a:t>tens to hundreds of millions of dollars per frontier model. This is why there are only a handful of frontier labs.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Stage 2 — Supervised Fine-Tuning (SFT)</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14</a:t>
            </a:fld>
            <a:endParaRPr lang="en-US">
              <a:solidFill>
                <a:schemeClr val="tx1"/>
              </a:solidFill>
            </a:endParaRPr>
          </a:p>
        </p:txBody>
      </p:sp>
      <p:sp>
        <p:nvSpPr>
          <p:cNvPr id="3" name="Text 1"/>
          <p:cNvSpPr/>
          <p:nvPr/>
        </p:nvSpPr>
        <p:spPr>
          <a:xfrm>
            <a:off x="457200" y="1188720"/>
            <a:ext cx="8229600" cy="3200400"/>
          </a:xfrm>
          <a:prstGeom prst="rect">
            <a:avLst/>
          </a:prstGeom>
          <a:noFill/>
          <a:ln/>
        </p:spPr>
        <p:txBody>
          <a:bodyPr wrap="square" rtlCol="0" anchor="t"/>
          <a:lstStyle/>
          <a:p>
            <a:pPr marL="342900" indent="-342900">
              <a:spcAft>
                <a:spcPts val="1000"/>
              </a:spcAft>
              <a:buSzPct val="100000"/>
              <a:buChar char="•"/>
            </a:pPr>
            <a:r>
              <a:rPr lang="en-US" dirty="0">
                <a:latin typeface="Calibri" pitchFamily="34" charset="0"/>
                <a:ea typeface="Calibri" pitchFamily="34" charset="-122"/>
                <a:cs typeface="Calibri" pitchFamily="34" charset="-120"/>
              </a:rPr>
              <a:t>Curated dataset of (instruction, ideal response) pairs — typically tens to hundreds of thousands</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Often written by skilled human annotators, sometimes augmented by larger models</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Teaches the model the shape of an assistant: helpful tone, follows instructions, stays on topic</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Drastically smaller dataset than pretraining — but sharp behavioral effect</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This is where instruction-following is born. Without SFT, the base model wouldn't reliably do what you ask</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Stage 3 — RLHF (or DPO, its newer cousin)</a:t>
            </a:r>
            <a:endParaRPr lang="en-US" sz="2800" dirty="0"/>
          </a:p>
        </p:txBody>
      </p:sp>
      <p:sp>
        <p:nvSpPr>
          <p:cNvPr id="5" name="Content Placeholder 4">
            <a:extLst>
              <a:ext uri="{FF2B5EF4-FFF2-40B4-BE49-F238E27FC236}">
                <a16:creationId xmlns:a16="http://schemas.microsoft.com/office/drawing/2014/main" id="{8F6A172A-221E-A519-2C0D-8DBEAB052F41}"/>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15</a:t>
            </a:fld>
            <a:endParaRPr lang="en-US">
              <a:solidFill>
                <a:schemeClr val="tx1"/>
              </a:solidFill>
            </a:endParaRPr>
          </a:p>
        </p:txBody>
      </p:sp>
      <p:sp>
        <p:nvSpPr>
          <p:cNvPr id="3" name="Text 1"/>
          <p:cNvSpPr/>
          <p:nvPr/>
        </p:nvSpPr>
        <p:spPr>
          <a:xfrm>
            <a:off x="457200" y="1188720"/>
            <a:ext cx="8229600" cy="2194560"/>
          </a:xfrm>
          <a:prstGeom prst="rect">
            <a:avLst/>
          </a:prstGeom>
          <a:noFill/>
          <a:ln/>
        </p:spPr>
        <p:txBody>
          <a:bodyPr wrap="square" rtlCol="0" anchor="t"/>
          <a:lstStyle/>
          <a:p>
            <a:pPr marL="342900" indent="-342900">
              <a:spcAft>
                <a:spcPts val="1000"/>
              </a:spcAft>
              <a:buSzPct val="100000"/>
              <a:buChar char="•"/>
            </a:pPr>
            <a:r>
              <a:rPr lang="en-US" sz="1600" dirty="0">
                <a:latin typeface="Calibri" pitchFamily="34" charset="0"/>
                <a:ea typeface="Calibri" pitchFamily="34" charset="-122"/>
                <a:cs typeface="Calibri" pitchFamily="34" charset="-120"/>
              </a:rPr>
              <a:t>Show the model a prompt. Have it generate multiple responses.</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A human ranks them: response A &gt; response B &gt; response C.</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Use the ranking signal to update the model toward preferred outputs.</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Tiny dataset — tens of thousands of preference pairs. Huge effect on perceived behavior.</a:t>
            </a:r>
            <a:endParaRPr lang="en-US" sz="1600" dirty="0"/>
          </a:p>
        </p:txBody>
      </p:sp>
      <p:sp>
        <p:nvSpPr>
          <p:cNvPr id="4" name="Text 2"/>
          <p:cNvSpPr/>
          <p:nvPr/>
        </p:nvSpPr>
        <p:spPr>
          <a:xfrm>
            <a:off x="457200" y="3520440"/>
            <a:ext cx="8229600" cy="1280160"/>
          </a:xfrm>
          <a:prstGeom prst="rect">
            <a:avLst/>
          </a:prstGeom>
          <a:noFill/>
          <a:ln/>
        </p:spPr>
        <p:txBody>
          <a:bodyPr wrap="square" rtlCol="0" anchor="t"/>
          <a:lstStyle/>
          <a:p>
            <a:pPr marL="0" indent="0">
              <a:spcAft>
                <a:spcPts val="800"/>
              </a:spcAft>
              <a:buNone/>
            </a:pPr>
            <a:r>
              <a:rPr lang="en-US" sz="1400" b="1" dirty="0">
                <a:latin typeface="Calibri" pitchFamily="34" charset="0"/>
                <a:ea typeface="Calibri" pitchFamily="34" charset="-122"/>
                <a:cs typeface="Calibri" pitchFamily="34" charset="-120"/>
              </a:rPr>
              <a:t>This is where personality comes from:</a:t>
            </a:r>
            <a:endParaRPr lang="en-US" sz="1400" dirty="0"/>
          </a:p>
          <a:p>
            <a:pPr marL="0" indent="0">
              <a:buNone/>
            </a:pPr>
            <a:r>
              <a:rPr lang="en-US" sz="1400" dirty="0">
                <a:latin typeface="Calibri" pitchFamily="34" charset="0"/>
                <a:ea typeface="Calibri" pitchFamily="34" charset="-122"/>
                <a:cs typeface="Calibri" pitchFamily="34" charset="-120"/>
              </a:rPr>
              <a:t>•  Refusals and safety hedging</a:t>
            </a:r>
            <a:endParaRPr lang="en-US" sz="1400" dirty="0"/>
          </a:p>
          <a:p>
            <a:pPr marL="0" indent="0">
              <a:buNone/>
            </a:pPr>
            <a:r>
              <a:rPr lang="en-US" sz="1400" dirty="0">
                <a:latin typeface="Calibri" pitchFamily="34" charset="0"/>
                <a:ea typeface="Calibri" pitchFamily="34" charset="-122"/>
                <a:cs typeface="Calibri" pitchFamily="34" charset="-120"/>
              </a:rPr>
              <a:t>•  'I'd be happy to help with that' politeness</a:t>
            </a:r>
            <a:endParaRPr lang="en-US" sz="1400" dirty="0"/>
          </a:p>
          <a:p>
            <a:pPr marL="0" indent="0">
              <a:buNone/>
            </a:pPr>
            <a:r>
              <a:rPr lang="en-US" sz="1400" dirty="0">
                <a:latin typeface="Calibri" pitchFamily="34" charset="0"/>
                <a:ea typeface="Calibri" pitchFamily="34" charset="-122"/>
                <a:cs typeface="Calibri" pitchFamily="34" charset="-120"/>
              </a:rPr>
              <a:t>•  Markdown formatting habits</a:t>
            </a:r>
            <a:endParaRPr lang="en-US" sz="1400" dirty="0"/>
          </a:p>
          <a:p>
            <a:pPr marL="0" indent="0">
              <a:buNone/>
            </a:pPr>
            <a:r>
              <a:rPr lang="en-US" sz="1400" dirty="0">
                <a:latin typeface="Calibri" pitchFamily="34" charset="0"/>
                <a:ea typeface="Calibri" pitchFamily="34" charset="-122"/>
                <a:cs typeface="Calibri" pitchFamily="34" charset="-120"/>
              </a:rPr>
              <a:t>•  Uncertainty hedges ('it depends', 'in general')</a:t>
            </a:r>
            <a:endParaRPr lang="en-US" sz="1400" dirty="0"/>
          </a:p>
          <a:p>
            <a:pPr marL="0" indent="0">
              <a:buNone/>
            </a:pPr>
            <a:r>
              <a:rPr lang="en-US" sz="1400" dirty="0">
                <a:latin typeface="Calibri" pitchFamily="34" charset="0"/>
                <a:ea typeface="Calibri" pitchFamily="34" charset="-122"/>
                <a:cs typeface="Calibri" pitchFamily="34" charset="-120"/>
              </a:rPr>
              <a:t>•  The 'helpful tone' that makes one model feel different from another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Why this matters for your day job</a:t>
            </a:r>
            <a:endParaRPr lang="en-US" sz="2800" dirty="0"/>
          </a:p>
        </p:txBody>
      </p:sp>
      <p:sp>
        <p:nvSpPr>
          <p:cNvPr id="4" name="Content Placeholder 3">
            <a:extLst>
              <a:ext uri="{FF2B5EF4-FFF2-40B4-BE49-F238E27FC236}">
                <a16:creationId xmlns:a16="http://schemas.microsoft.com/office/drawing/2014/main" id="{828C6BFC-6FF2-76AF-B475-7247C8B461EA}"/>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16</a:t>
            </a:fld>
            <a:endParaRPr lang="en-US">
              <a:solidFill>
                <a:schemeClr val="tx1"/>
              </a:solidFill>
            </a:endParaRPr>
          </a:p>
        </p:txBody>
      </p:sp>
      <p:sp>
        <p:nvSpPr>
          <p:cNvPr id="3" name="Text 1"/>
          <p:cNvSpPr/>
          <p:nvPr/>
        </p:nvSpPr>
        <p:spPr>
          <a:xfrm>
            <a:off x="457200" y="1188720"/>
            <a:ext cx="8229600" cy="3657600"/>
          </a:xfrm>
          <a:prstGeom prst="rect">
            <a:avLst/>
          </a:prstGeom>
          <a:noFill/>
          <a:ln/>
        </p:spPr>
        <p:txBody>
          <a:bodyPr wrap="square" rtlCol="0" anchor="t"/>
          <a:lstStyle/>
          <a:p>
            <a:pPr marL="0" indent="0">
              <a:spcAft>
                <a:spcPts val="800"/>
              </a:spcAft>
              <a:buNone/>
            </a:pPr>
            <a:r>
              <a:rPr lang="en-US" sz="1500" b="1" dirty="0">
                <a:latin typeface="Calibri" pitchFamily="34" charset="0"/>
                <a:ea typeface="Calibri" pitchFamily="34" charset="-122"/>
                <a:cs typeface="Calibri" pitchFamily="34" charset="-120"/>
              </a:rPr>
              <a:t>The model is:</a:t>
            </a:r>
            <a:endParaRPr lang="en-US" sz="1500" dirty="0"/>
          </a:p>
          <a:p>
            <a:pPr marL="0" indent="0">
              <a:buNone/>
            </a:pPr>
            <a:r>
              <a:rPr lang="en-US" sz="1500" dirty="0">
                <a:latin typeface="Calibri" pitchFamily="34" charset="0"/>
                <a:ea typeface="Calibri" pitchFamily="34" charset="-122"/>
                <a:cs typeface="Calibri" pitchFamily="34" charset="-120"/>
              </a:rPr>
              <a:t>•  Not a search engine — its 'knowledge' is statistical patterns, not facts</a:t>
            </a:r>
            <a:endParaRPr lang="en-US" sz="1500" dirty="0"/>
          </a:p>
          <a:p>
            <a:pPr marL="0" indent="0">
              <a:buNone/>
            </a:pPr>
            <a:r>
              <a:rPr lang="en-US" sz="1500" dirty="0">
                <a:latin typeface="Calibri" pitchFamily="34" charset="0"/>
                <a:ea typeface="Calibri" pitchFamily="34" charset="-122"/>
                <a:cs typeface="Calibri" pitchFamily="34" charset="-120"/>
              </a:rPr>
              <a:t>•  Not a database — it cannot recall specific data points reliably</a:t>
            </a:r>
            <a:endParaRPr lang="en-US" sz="1500" dirty="0"/>
          </a:p>
          <a:p>
            <a:pPr marL="0" indent="0">
              <a:buNone/>
            </a:pPr>
            <a:r>
              <a:rPr lang="en-US" sz="1500" dirty="0">
                <a:latin typeface="Calibri" pitchFamily="34" charset="0"/>
                <a:ea typeface="Calibri" pitchFamily="34" charset="-122"/>
                <a:cs typeface="Calibri" pitchFamily="34" charset="-120"/>
              </a:rPr>
              <a:t>•  Not a calculator — arithmetic is a side effect of next-token prediction</a:t>
            </a:r>
            <a:endParaRPr lang="en-US" sz="1500" dirty="0"/>
          </a:p>
          <a:p>
            <a:pPr marL="0" indent="0">
              <a:spcAft>
                <a:spcPts val="1400"/>
              </a:spcAft>
              <a:buNone/>
            </a:pPr>
            <a:r>
              <a:rPr lang="en-US" sz="1500" dirty="0">
                <a:latin typeface="Calibri" pitchFamily="34" charset="0"/>
                <a:ea typeface="Calibri" pitchFamily="34" charset="-122"/>
                <a:cs typeface="Calibri" pitchFamily="34" charset="-120"/>
              </a:rPr>
              <a:t>•  Not a person — its 'helpfulness' is RLHF, not understanding</a:t>
            </a:r>
            <a:endParaRPr lang="en-US" sz="1500" dirty="0"/>
          </a:p>
          <a:p>
            <a:pPr marL="0" indent="0">
              <a:spcAft>
                <a:spcPts val="800"/>
              </a:spcAft>
              <a:buNone/>
            </a:pPr>
            <a:r>
              <a:rPr lang="en-US" sz="1500" b="1" dirty="0">
                <a:latin typeface="Calibri" pitchFamily="34" charset="0"/>
                <a:ea typeface="Calibri" pitchFamily="34" charset="-122"/>
                <a:cs typeface="Calibri" pitchFamily="34" charset="-120"/>
              </a:rPr>
              <a:t>It is:</a:t>
            </a:r>
            <a:endParaRPr lang="en-US" sz="1500" dirty="0"/>
          </a:p>
          <a:p>
            <a:pPr marL="0" indent="0">
              <a:buNone/>
            </a:pPr>
            <a:r>
              <a:rPr lang="en-US" sz="1500" dirty="0">
                <a:latin typeface="Calibri" pitchFamily="34" charset="0"/>
                <a:ea typeface="Calibri" pitchFamily="34" charset="-122"/>
                <a:cs typeface="Calibri" pitchFamily="34" charset="-120"/>
              </a:rPr>
              <a:t>•  A pattern-completer at massive scale, with an assistant persona on top</a:t>
            </a:r>
            <a:endParaRPr lang="en-US" sz="1500" dirty="0"/>
          </a:p>
          <a:p>
            <a:pPr marL="0" indent="0">
              <a:buNone/>
            </a:pPr>
            <a:r>
              <a:rPr lang="en-US" sz="1500" dirty="0">
                <a:latin typeface="Calibri" pitchFamily="34" charset="0"/>
                <a:ea typeface="Calibri" pitchFamily="34" charset="-122"/>
                <a:cs typeface="Calibri" pitchFamily="34" charset="-120"/>
              </a:rPr>
              <a:t>•  Excellent at things it has seen many examples of (idiomatic C#, common patterns)</a:t>
            </a:r>
            <a:endParaRPr lang="en-US" sz="1500" dirty="0"/>
          </a:p>
          <a:p>
            <a:pPr marL="0" indent="0">
              <a:buNone/>
            </a:pPr>
            <a:r>
              <a:rPr lang="en-US" sz="1500" dirty="0">
                <a:latin typeface="Calibri" pitchFamily="34" charset="0"/>
                <a:ea typeface="Calibri" pitchFamily="34" charset="-122"/>
                <a:cs typeface="Calibri" pitchFamily="34" charset="-120"/>
              </a:rPr>
              <a:t>•  Unreliable on things it has not (your internal codebase, your specific version)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Inference &amp; sampling</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4  ·  10 MINUTES</a:t>
            </a:r>
            <a:endParaRPr lang="en-US" sz="1400" dirty="0"/>
          </a:p>
        </p:txBody>
      </p:sp>
      <p:sp>
        <p:nvSpPr>
          <p:cNvPr id="4" name="Text 0"/>
          <p:cNvSpPr>
            <a:spLocks noGrp="1"/>
          </p:cNvSpPr>
          <p:nvPr>
            <p:ph type="body" idx="4294967295"/>
          </p:nvPr>
        </p:nvSpPr>
        <p:spPr>
          <a:xfrm>
            <a:off x="514351"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Turning probabilities into the text you actually see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Inference — what happens at request time</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18</a:t>
            </a:fld>
            <a:endParaRPr lang="en-US">
              <a:solidFill>
                <a:schemeClr val="tx1"/>
              </a:solidFill>
            </a:endParaRPr>
          </a:p>
        </p:txBody>
      </p:sp>
      <p:sp>
        <p:nvSpPr>
          <p:cNvPr id="3" name="Text 1"/>
          <p:cNvSpPr/>
          <p:nvPr/>
        </p:nvSpPr>
        <p:spPr>
          <a:xfrm>
            <a:off x="457200" y="1188720"/>
            <a:ext cx="8229600" cy="2743200"/>
          </a:xfrm>
          <a:prstGeom prst="rect">
            <a:avLst/>
          </a:prstGeom>
          <a:noFill/>
          <a:ln/>
        </p:spPr>
        <p:txBody>
          <a:bodyPr wrap="square" rtlCol="0" anchor="t"/>
          <a:lstStyle/>
          <a:p>
            <a:pPr marL="342900" indent="-342900">
              <a:spcAft>
                <a:spcPts val="1000"/>
              </a:spcAft>
              <a:buSzPct val="100000"/>
              <a:buChar char="•"/>
            </a:pPr>
            <a:r>
              <a:rPr lang="en-US" dirty="0">
                <a:latin typeface="Calibri" pitchFamily="34" charset="0"/>
                <a:ea typeface="Calibri" pitchFamily="34" charset="-122"/>
                <a:cs typeface="Calibri" pitchFamily="34" charset="-120"/>
              </a:rPr>
              <a:t>After all the architecture, the model produces a probability distribution over the next token</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Three strategies to pick: greedy (always top probability), sample (random by probability), beam search (track multiple candidates)</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Copilot uses sampling for almost everything — even at 'low' temperature</a:t>
            </a:r>
            <a:endParaRPr lang="en-US" dirty="0"/>
          </a:p>
          <a:p>
            <a:pPr marL="342900" indent="-342900">
              <a:spcAft>
                <a:spcPts val="1000"/>
              </a:spcAft>
              <a:buSzPct val="100000"/>
              <a:buChar char="•"/>
            </a:pPr>
            <a:r>
              <a:rPr lang="en-US" dirty="0">
                <a:latin typeface="Calibri" pitchFamily="34" charset="0"/>
                <a:ea typeface="Calibri" pitchFamily="34" charset="-122"/>
                <a:cs typeface="Calibri" pitchFamily="34" charset="-120"/>
              </a:rPr>
              <a:t>The picker is where temperature, top-p, and top-k live</a:t>
            </a:r>
            <a:endParaRPr lang="en-US" dirty="0"/>
          </a:p>
        </p:txBody>
      </p:sp>
      <p:sp>
        <p:nvSpPr>
          <p:cNvPr id="4" name="Text 2"/>
          <p:cNvSpPr/>
          <p:nvPr/>
        </p:nvSpPr>
        <p:spPr>
          <a:xfrm>
            <a:off x="457200" y="4023360"/>
            <a:ext cx="8229600" cy="548640"/>
          </a:xfrm>
          <a:prstGeom prst="rect">
            <a:avLst/>
          </a:prstGeom>
          <a:noFill/>
          <a:ln/>
        </p:spPr>
        <p:txBody>
          <a:bodyPr wrap="square" rtlCol="0" anchor="t"/>
          <a:lstStyle/>
          <a:p>
            <a:pPr marL="0" indent="0">
              <a:buNone/>
            </a:pPr>
            <a:r>
              <a:rPr lang="en-US" sz="1600" b="1" i="1" dirty="0">
                <a:latin typeface="Calibri" pitchFamily="34" charset="0"/>
                <a:ea typeface="Calibri" pitchFamily="34" charset="-122"/>
                <a:cs typeface="Calibri" pitchFamily="34" charset="-120"/>
              </a:rPr>
              <a:t>Same model. Same prompt. Different settings → different output.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Temperature, top-p, top-k</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19</a:t>
            </a:fld>
            <a:endParaRPr lang="en-US">
              <a:solidFill>
                <a:schemeClr val="tx1"/>
              </a:solidFill>
            </a:endParaRPr>
          </a:p>
        </p:txBody>
      </p:sp>
      <p:graphicFrame>
        <p:nvGraphicFramePr>
          <p:cNvPr id="23" name="Table 0"/>
          <p:cNvGraphicFramePr>
            <a:graphicFrameLocks noGrp="1"/>
          </p:cNvGraphicFramePr>
          <p:nvPr>
            <p:extLst>
              <p:ext uri="{D42A27DB-BD31-4B8C-83A1-F6EECF244321}">
                <p14:modId xmlns:p14="http://schemas.microsoft.com/office/powerpoint/2010/main" val="1367251489"/>
              </p:ext>
            </p:extLst>
          </p:nvPr>
        </p:nvGraphicFramePr>
        <p:xfrm>
          <a:off x="514351" y="1582420"/>
          <a:ext cx="8229600" cy="2011680"/>
        </p:xfrm>
        <a:graphic>
          <a:graphicData uri="http://schemas.openxmlformats.org/drawingml/2006/table">
            <a:tbl>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29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Knob</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no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What it does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no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Good for code</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no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Temperature</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Scales probabilities. 0 = sharp / deterministic-ish. 1+ = flatter / more random.</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0.0 – 0.3</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Top-p (nucleus)</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Only sample from tokens covering the top p% of probability mass. Cuts the long tail.</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0.9 – 0.95</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Top-k</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Only sample from the top k most-likely tokens. Older approach, less common now.</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40 – 50</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457200" y="3840480"/>
            <a:ext cx="8229600" cy="914400"/>
          </a:xfrm>
          <a:prstGeom prst="rect">
            <a:avLst/>
          </a:prstGeom>
          <a:noFill/>
          <a:ln/>
        </p:spPr>
        <p:txBody>
          <a:bodyPr wrap="square" rtlCol="0" anchor="t"/>
          <a:lstStyle/>
          <a:p>
            <a:pPr marL="0" indent="0">
              <a:buNone/>
            </a:pPr>
            <a:r>
              <a:rPr lang="en-US" sz="1400" i="1" dirty="0">
                <a:latin typeface="Calibri" pitchFamily="34" charset="0"/>
                <a:ea typeface="Calibri" pitchFamily="34" charset="-122"/>
                <a:cs typeface="Calibri" pitchFamily="34" charset="-120"/>
              </a:rPr>
              <a:t>Most APIs let you set temperature and top-p — pick one to tune, leave the other at default. </a:t>
            </a:r>
            <a:r>
              <a:rPr lang="en-US" sz="1400" b="1" i="1" dirty="0">
                <a:latin typeface="Calibri" pitchFamily="34" charset="0"/>
                <a:ea typeface="Calibri" pitchFamily="34" charset="-122"/>
                <a:cs typeface="Calibri" pitchFamily="34" charset="-120"/>
              </a:rPr>
              <a:t>For .NET code generation: start at temp 0.2, top-p 0.95. </a:t>
            </a:r>
            <a:r>
              <a:rPr lang="en-US" sz="1400" i="1" dirty="0">
                <a:latin typeface="Calibri" pitchFamily="34" charset="0"/>
                <a:ea typeface="Calibri" pitchFamily="34" charset="-122"/>
                <a:cs typeface="Calibri" pitchFamily="34" charset="-120"/>
              </a:rPr>
              <a:t>For brainstorming names, docs, alternatives: bump temperature higher.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'Deterministic' is a lie</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20</a:t>
            </a:fld>
            <a:endParaRPr lang="en-US">
              <a:solidFill>
                <a:schemeClr val="tx1"/>
              </a:solidFill>
            </a:endParaRPr>
          </a:p>
        </p:txBody>
      </p:sp>
      <p:sp>
        <p:nvSpPr>
          <p:cNvPr id="3" name="Text 1"/>
          <p:cNvSpPr/>
          <p:nvPr/>
        </p:nvSpPr>
        <p:spPr>
          <a:xfrm>
            <a:off x="457200" y="1188720"/>
            <a:ext cx="8229600" cy="822960"/>
          </a:xfrm>
          <a:prstGeom prst="rect">
            <a:avLst/>
          </a:prstGeom>
          <a:noFill/>
          <a:ln/>
        </p:spPr>
        <p:txBody>
          <a:bodyPr wrap="square" rtlCol="0" anchor="ctr"/>
          <a:lstStyle/>
          <a:p>
            <a:pPr marL="0" indent="0">
              <a:buNone/>
            </a:pPr>
            <a:r>
              <a:rPr lang="en-US" sz="1800" b="1" dirty="0">
                <a:latin typeface="Calibri" pitchFamily="34" charset="0"/>
                <a:ea typeface="Calibri" pitchFamily="34" charset="-122"/>
                <a:cs typeface="Calibri" pitchFamily="34" charset="-120"/>
              </a:rPr>
              <a:t>Even with temperature = 0, you cannot count on the same input giving the same output in production.</a:t>
            </a:r>
            <a:endParaRPr lang="en-US" sz="1800" dirty="0"/>
          </a:p>
        </p:txBody>
      </p:sp>
      <p:sp>
        <p:nvSpPr>
          <p:cNvPr id="4" name="Text 2"/>
          <p:cNvSpPr/>
          <p:nvPr/>
        </p:nvSpPr>
        <p:spPr>
          <a:xfrm>
            <a:off x="457200" y="2194560"/>
            <a:ext cx="8229600" cy="1737360"/>
          </a:xfrm>
          <a:prstGeom prst="rect">
            <a:avLst/>
          </a:prstGeom>
          <a:noFill/>
          <a:ln/>
        </p:spPr>
        <p:txBody>
          <a:bodyPr wrap="square" rtlCol="0" anchor="t"/>
          <a:lstStyle/>
          <a:p>
            <a:pPr marL="342900" indent="-342900">
              <a:spcAft>
                <a:spcPts val="1000"/>
              </a:spcAft>
              <a:buSzPct val="100000"/>
              <a:buChar char="•"/>
            </a:pPr>
            <a:r>
              <a:rPr lang="en-US" sz="1500" dirty="0">
                <a:latin typeface="Calibri" pitchFamily="34" charset="0"/>
                <a:ea typeface="Calibri" pitchFamily="34" charset="-122"/>
                <a:cs typeface="Calibri" pitchFamily="34" charset="-120"/>
              </a:rPr>
              <a:t>GPU floating-point non-associativity — order of operations changes across batches</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Server-side load balancing — your request may hit different model versions</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Mixture-of-experts routing — different 'expert' subnetworks fire on different runs</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Silent model updates — providers rotate weights without notice</a:t>
            </a:r>
            <a:endParaRPr lang="en-US" sz="1500" dirty="0"/>
          </a:p>
        </p:txBody>
      </p:sp>
      <p:sp>
        <p:nvSpPr>
          <p:cNvPr id="5" name="Text 3"/>
          <p:cNvSpPr/>
          <p:nvPr/>
        </p:nvSpPr>
        <p:spPr>
          <a:xfrm>
            <a:off x="457200" y="4114800"/>
            <a:ext cx="8229600" cy="731520"/>
          </a:xfrm>
          <a:prstGeom prst="rect">
            <a:avLst/>
          </a:prstGeom>
          <a:noFill/>
          <a:ln/>
        </p:spPr>
        <p:txBody>
          <a:bodyPr wrap="square" rtlCol="0" anchor="t"/>
          <a:lstStyle/>
          <a:p>
            <a:pPr marL="0" indent="0">
              <a:buNone/>
            </a:pPr>
            <a:r>
              <a:rPr lang="en-US" sz="1400" b="1" i="1" dirty="0">
                <a:latin typeface="Calibri" pitchFamily="34" charset="0"/>
                <a:ea typeface="Calibri" pitchFamily="34" charset="-122"/>
                <a:cs typeface="Calibri" pitchFamily="34" charset="-120"/>
              </a:rPr>
              <a:t>Implication: </a:t>
            </a:r>
            <a:r>
              <a:rPr lang="en-US" sz="1400" i="1" dirty="0">
                <a:latin typeface="Calibri" pitchFamily="34" charset="0"/>
                <a:ea typeface="Calibri" pitchFamily="34" charset="-122"/>
                <a:cs typeface="Calibri" pitchFamily="34" charset="-120"/>
              </a:rPr>
              <a:t>never write tests that </a:t>
            </a:r>
            <a:r>
              <a:rPr lang="en-US" sz="1400" b="1" i="1" dirty="0">
                <a:latin typeface="Courier New" pitchFamily="34" charset="0"/>
                <a:ea typeface="Courier New" pitchFamily="34" charset="-122"/>
                <a:cs typeface="Courier New" pitchFamily="34" charset="-120"/>
              </a:rPr>
              <a:t>assertEqual</a:t>
            </a:r>
            <a:r>
              <a:rPr lang="en-US" sz="1400" i="1" dirty="0">
                <a:latin typeface="Calibri" pitchFamily="34" charset="0"/>
                <a:ea typeface="Calibri" pitchFamily="34" charset="-122"/>
                <a:cs typeface="Calibri" pitchFamily="34" charset="-120"/>
              </a:rPr>
              <a:t> on LLM output. Use rubric-based evals, structural checks, or LLM-as-judge. We'll revisit this in the evals module later in the week.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Temperature in action</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21</a:t>
            </a:fld>
            <a:endParaRPr lang="en-US">
              <a:solidFill>
                <a:schemeClr val="tx1"/>
              </a:solidFill>
            </a:endParaRPr>
          </a:p>
        </p:txBody>
      </p:sp>
      <p:sp>
        <p:nvSpPr>
          <p:cNvPr id="3" name="Text 1"/>
          <p:cNvSpPr/>
          <p:nvPr/>
        </p:nvSpPr>
        <p:spPr>
          <a:xfrm>
            <a:off x="457200" y="1188720"/>
            <a:ext cx="8229600" cy="3657600"/>
          </a:xfrm>
          <a:prstGeom prst="rect">
            <a:avLst/>
          </a:prstGeom>
          <a:noFill/>
          <a:ln/>
        </p:spPr>
        <p:txBody>
          <a:bodyPr wrap="square" rtlCol="0" anchor="t"/>
          <a:lstStyle/>
          <a:p>
            <a:pPr marL="0" indent="0">
              <a:spcAft>
                <a:spcPts val="600"/>
              </a:spcAft>
              <a:buNone/>
            </a:pPr>
            <a:r>
              <a:rPr lang="en-US" sz="1400" b="1" dirty="0">
                <a:latin typeface="Calibri" pitchFamily="34" charset="0"/>
                <a:ea typeface="Calibri" pitchFamily="34" charset="-122"/>
                <a:cs typeface="Calibri" pitchFamily="34" charset="-120"/>
              </a:rPr>
              <a:t>Setup</a:t>
            </a:r>
            <a:endParaRPr lang="en-US" sz="1400" dirty="0"/>
          </a:p>
          <a:p>
            <a:pPr marL="0" indent="0">
              <a:spcAft>
                <a:spcPts val="1600"/>
              </a:spcAft>
              <a:buNone/>
            </a:pPr>
            <a:r>
              <a:rPr lang="en-US" sz="1400" dirty="0">
                <a:latin typeface="Calibri" pitchFamily="34" charset="0"/>
                <a:ea typeface="Calibri" pitchFamily="34" charset="-122"/>
                <a:cs typeface="Calibri" pitchFamily="34" charset="-120"/>
              </a:rPr>
              <a:t>Open a notebook or playground (OpenAI Playground, Anthropic Console, or curl in the terminal).</a:t>
            </a:r>
            <a:endParaRPr lang="en-US" sz="1400" dirty="0"/>
          </a:p>
          <a:p>
            <a:pPr marL="0" indent="0">
              <a:spcAft>
                <a:spcPts val="600"/>
              </a:spcAft>
              <a:buNone/>
            </a:pPr>
            <a:r>
              <a:rPr lang="en-US" sz="1400" b="1" dirty="0">
                <a:latin typeface="Calibri" pitchFamily="34" charset="0"/>
                <a:ea typeface="Calibri" pitchFamily="34" charset="-122"/>
                <a:cs typeface="Calibri" pitchFamily="34" charset="-120"/>
              </a:rPr>
              <a:t>Prompt to run three times</a:t>
            </a:r>
            <a:endParaRPr lang="en-US" sz="1400" dirty="0"/>
          </a:p>
          <a:p>
            <a:pPr marL="0" indent="0">
              <a:spcAft>
                <a:spcPts val="1600"/>
              </a:spcAft>
              <a:buNone/>
            </a:pPr>
            <a:r>
              <a:rPr lang="en-US" sz="1300" i="1" dirty="0">
                <a:latin typeface="Courier New" pitchFamily="34" charset="0"/>
                <a:ea typeface="Courier New" pitchFamily="34" charset="-122"/>
                <a:cs typeface="Courier New" pitchFamily="34" charset="-120"/>
              </a:rPr>
              <a:t>"Write a one-sentence description of what a C# extension method is."</a:t>
            </a:r>
            <a:endParaRPr lang="en-US" sz="1400" dirty="0"/>
          </a:p>
          <a:p>
            <a:pPr marL="0" indent="0">
              <a:spcAft>
                <a:spcPts val="600"/>
              </a:spcAft>
              <a:buNone/>
            </a:pPr>
            <a:r>
              <a:rPr lang="en-US" sz="1400" b="1" dirty="0">
                <a:latin typeface="Calibri" pitchFamily="34" charset="0"/>
                <a:ea typeface="Calibri" pitchFamily="34" charset="-122"/>
                <a:cs typeface="Calibri" pitchFamily="34" charset="-120"/>
              </a:rPr>
              <a:t>Three runs</a:t>
            </a:r>
            <a:endParaRPr lang="en-US" sz="1400" dirty="0"/>
          </a:p>
          <a:p>
            <a:pPr marL="0" indent="0">
              <a:buNone/>
            </a:pPr>
            <a:r>
              <a:rPr lang="en-US" sz="1400" dirty="0">
                <a:latin typeface="Calibri" pitchFamily="34" charset="0"/>
                <a:ea typeface="Calibri" pitchFamily="34" charset="-122"/>
                <a:cs typeface="Calibri" pitchFamily="34" charset="-120"/>
              </a:rPr>
              <a:t>•  temperature = 0.0 — should give nearly identical answers</a:t>
            </a:r>
            <a:endParaRPr lang="en-US" sz="1400" dirty="0"/>
          </a:p>
          <a:p>
            <a:pPr marL="0" indent="0">
              <a:buNone/>
            </a:pPr>
            <a:r>
              <a:rPr lang="en-US" sz="1400" dirty="0">
                <a:latin typeface="Calibri" pitchFamily="34" charset="0"/>
                <a:ea typeface="Calibri" pitchFamily="34" charset="-122"/>
                <a:cs typeface="Calibri" pitchFamily="34" charset="-120"/>
              </a:rPr>
              <a:t>•  temperature = 0.7 — varied wording, same idea (default for most chat)</a:t>
            </a:r>
            <a:endParaRPr lang="en-US" sz="1400" dirty="0"/>
          </a:p>
          <a:p>
            <a:pPr marL="0" indent="0">
              <a:spcAft>
                <a:spcPts val="1600"/>
              </a:spcAft>
              <a:buNone/>
            </a:pPr>
            <a:r>
              <a:rPr lang="en-US" sz="1400" dirty="0">
                <a:latin typeface="Calibri" pitchFamily="34" charset="0"/>
                <a:ea typeface="Calibri" pitchFamily="34" charset="-122"/>
                <a:cs typeface="Calibri" pitchFamily="34" charset="-120"/>
              </a:rPr>
              <a:t>•  temperature = 1.5 — starts to drift, may go off-topic</a:t>
            </a:r>
            <a:endParaRPr lang="en-US" sz="1400" dirty="0"/>
          </a:p>
          <a:p>
            <a:pPr marL="0" indent="0">
              <a:spcAft>
                <a:spcPts val="600"/>
              </a:spcAft>
              <a:buNone/>
            </a:pPr>
            <a:r>
              <a:rPr lang="en-US" sz="1400" b="1" dirty="0">
                <a:latin typeface="Calibri" pitchFamily="34" charset="0"/>
                <a:ea typeface="Calibri" pitchFamily="34" charset="-122"/>
                <a:cs typeface="Calibri" pitchFamily="34" charset="-120"/>
              </a:rPr>
              <a:t>Discussion</a:t>
            </a:r>
            <a:endParaRPr lang="en-US" sz="1400" dirty="0"/>
          </a:p>
          <a:p>
            <a:pPr marL="0" indent="0">
              <a:buNone/>
            </a:pPr>
            <a:r>
              <a:rPr lang="en-US" sz="1400" i="1" dirty="0">
                <a:latin typeface="Calibri" pitchFamily="34" charset="0"/>
                <a:ea typeface="Calibri" pitchFamily="34" charset="-122"/>
                <a:cs typeface="Calibri" pitchFamily="34" charset="-120"/>
              </a:rPr>
              <a:t>Where would you want each setting in your real .NET workflow?</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Code models &amp; reasoning models</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5  ·  10 MINUTES</a:t>
            </a:r>
            <a:endParaRPr lang="en-US" sz="1400" dirty="0"/>
          </a:p>
        </p:txBody>
      </p:sp>
      <p:sp>
        <p:nvSpPr>
          <p:cNvPr id="4" name="Text 0"/>
          <p:cNvSpPr>
            <a:spLocks noGrp="1"/>
          </p:cNvSpPr>
          <p:nvPr>
            <p:ph type="body" idx="4294967295"/>
          </p:nvPr>
        </p:nvSpPr>
        <p:spPr>
          <a:xfrm>
            <a:off x="514351"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Why Copilot has a model picker — and how to use it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What makes code models different</a:t>
            </a:r>
            <a:endParaRPr lang="en-US" sz="2800" dirty="0"/>
          </a:p>
        </p:txBody>
      </p:sp>
      <p:sp>
        <p:nvSpPr>
          <p:cNvPr id="5" name="Content Placeholder 4">
            <a:extLst>
              <a:ext uri="{FF2B5EF4-FFF2-40B4-BE49-F238E27FC236}">
                <a16:creationId xmlns:a16="http://schemas.microsoft.com/office/drawing/2014/main" id="{6317F953-0A86-1ABF-9036-BD6F01DC86B6}"/>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23</a:t>
            </a:fld>
            <a:endParaRPr lang="en-US">
              <a:solidFill>
                <a:schemeClr val="tx1"/>
              </a:solidFill>
            </a:endParaRPr>
          </a:p>
        </p:txBody>
      </p:sp>
      <p:sp>
        <p:nvSpPr>
          <p:cNvPr id="3" name="Text 1"/>
          <p:cNvSpPr/>
          <p:nvPr/>
        </p:nvSpPr>
        <p:spPr>
          <a:xfrm>
            <a:off x="457200" y="1188720"/>
            <a:ext cx="8229600" cy="2377440"/>
          </a:xfrm>
          <a:prstGeom prst="rect">
            <a:avLst/>
          </a:prstGeom>
          <a:noFill/>
          <a:ln/>
        </p:spPr>
        <p:txBody>
          <a:bodyPr wrap="square" rtlCol="0" anchor="t"/>
          <a:lstStyle/>
          <a:p>
            <a:pPr marL="342900" indent="-342900">
              <a:spcAft>
                <a:spcPts val="1000"/>
              </a:spcAft>
              <a:buSzPct val="100000"/>
              <a:buChar char="•"/>
            </a:pPr>
            <a:r>
              <a:rPr lang="en-US" sz="1600" dirty="0">
                <a:latin typeface="Calibri" pitchFamily="34" charset="0"/>
                <a:ea typeface="Calibri" pitchFamily="34" charset="-122"/>
                <a:cs typeface="Calibri" pitchFamily="34" charset="-120"/>
              </a:rPr>
              <a:t>Pretraining corpus heavily weighted toward GitHub, Stack Overflow, technical docs, official language references</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Special objective: fill-in-the-middle (FIM) — given a prefix and suffix, predict what goes between</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Tokenizer often optimized for code (whitespace handling, common syntax tokens collapsed)</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Tuned for context patterns developers actually use: function signatures, imports, type hints</a:t>
            </a:r>
            <a:endParaRPr lang="en-US" sz="1600" dirty="0"/>
          </a:p>
        </p:txBody>
      </p:sp>
      <p:sp>
        <p:nvSpPr>
          <p:cNvPr id="4" name="Text 2"/>
          <p:cNvSpPr/>
          <p:nvPr/>
        </p:nvSpPr>
        <p:spPr>
          <a:xfrm>
            <a:off x="457200" y="3749040"/>
            <a:ext cx="8229600" cy="1005840"/>
          </a:xfrm>
          <a:prstGeom prst="rect">
            <a:avLst/>
          </a:prstGeom>
          <a:noFill/>
          <a:ln/>
        </p:spPr>
        <p:txBody>
          <a:bodyPr wrap="square" rtlCol="0" anchor="t"/>
          <a:lstStyle/>
          <a:p>
            <a:pPr marL="0" indent="0">
              <a:buNone/>
            </a:pPr>
            <a:r>
              <a:rPr lang="en-US" sz="1400" b="1" i="1" dirty="0">
                <a:latin typeface="Calibri" pitchFamily="34" charset="0"/>
                <a:ea typeface="Calibri" pitchFamily="34" charset="-122"/>
                <a:cs typeface="Calibri" pitchFamily="34" charset="-120"/>
              </a:rPr>
              <a:t>Why this matters: </a:t>
            </a:r>
            <a:r>
              <a:rPr lang="en-US" sz="1400" i="1" dirty="0">
                <a:latin typeface="Calibri" pitchFamily="34" charset="0"/>
                <a:ea typeface="Calibri" pitchFamily="34" charset="-122"/>
                <a:cs typeface="Calibri" pitchFamily="34" charset="-120"/>
              </a:rPr>
              <a:t>FIM is why Copilot autocomplete is so good at the </a:t>
            </a:r>
            <a:r>
              <a:rPr lang="en-US" sz="1400" b="1" i="1" dirty="0">
                <a:latin typeface="Calibri" pitchFamily="34" charset="0"/>
                <a:ea typeface="Calibri" pitchFamily="34" charset="-122"/>
                <a:cs typeface="Calibri" pitchFamily="34" charset="-120"/>
              </a:rPr>
              <a:t>middle</a:t>
            </a:r>
            <a:r>
              <a:rPr lang="en-US" sz="1400" i="1" dirty="0">
                <a:latin typeface="Calibri" pitchFamily="34" charset="0"/>
                <a:ea typeface="Calibri" pitchFamily="34" charset="-122"/>
                <a:cs typeface="Calibri" pitchFamily="34" charset="-120"/>
              </a:rPr>
              <a:t> of a function — when you're filling in a body with code above and below. A general chat model trained only on left-to-right completion would struggle there.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Reasoning models vs. fast models</a:t>
            </a:r>
            <a:endParaRPr lang="en-US" sz="2800" dirty="0"/>
          </a:p>
        </p:txBody>
      </p:sp>
      <p:sp>
        <p:nvSpPr>
          <p:cNvPr id="11" name="Content Placeholder 10">
            <a:extLst>
              <a:ext uri="{FF2B5EF4-FFF2-40B4-BE49-F238E27FC236}">
                <a16:creationId xmlns:a16="http://schemas.microsoft.com/office/drawing/2014/main" id="{5197814E-F607-293B-7B1A-EF61F1A2C7B8}"/>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24</a:t>
            </a:fld>
            <a:endParaRPr lang="en-US"/>
          </a:p>
        </p:txBody>
      </p:sp>
      <p:sp>
        <p:nvSpPr>
          <p:cNvPr id="3" name="Shape 1"/>
          <p:cNvSpPr/>
          <p:nvPr/>
        </p:nvSpPr>
        <p:spPr>
          <a:xfrm>
            <a:off x="457200" y="1280160"/>
            <a:ext cx="3931920" cy="3291840"/>
          </a:xfrm>
          <a:prstGeom prst="roundRect">
            <a:avLst>
              <a:gd name="adj" fmla="val 2222"/>
            </a:avLst>
          </a:prstGeom>
          <a:solidFill>
            <a:srgbClr val="FAFAFA"/>
          </a:solidFill>
          <a:ln w="6350">
            <a:solidFill>
              <a:srgbClr val="D6D6D6"/>
            </a:solidFill>
            <a:prstDash val="solid"/>
          </a:ln>
        </p:spPr>
        <p:txBody>
          <a:bodyPr/>
          <a:lstStyle/>
          <a:p>
            <a:endParaRPr lang="en-US"/>
          </a:p>
        </p:txBody>
      </p:sp>
      <p:sp>
        <p:nvSpPr>
          <p:cNvPr id="4" name="Text 2"/>
          <p:cNvSpPr/>
          <p:nvPr/>
        </p:nvSpPr>
        <p:spPr>
          <a:xfrm>
            <a:off x="640080" y="1417320"/>
            <a:ext cx="3566160" cy="365760"/>
          </a:xfrm>
          <a:prstGeom prst="rect">
            <a:avLst/>
          </a:prstGeom>
          <a:noFill/>
          <a:ln/>
        </p:spPr>
        <p:txBody>
          <a:bodyPr wrap="square"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Fast models</a:t>
            </a:r>
            <a:endParaRPr lang="en-US" sz="1800" dirty="0"/>
          </a:p>
        </p:txBody>
      </p:sp>
      <p:sp>
        <p:nvSpPr>
          <p:cNvPr id="5" name="Text 3"/>
          <p:cNvSpPr/>
          <p:nvPr/>
        </p:nvSpPr>
        <p:spPr>
          <a:xfrm>
            <a:off x="640080" y="1783080"/>
            <a:ext cx="3566160" cy="32004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GPT-4o-class, Claude Haiku, Gemini Flash</a:t>
            </a:r>
            <a:endParaRPr lang="en-US" sz="1200" dirty="0"/>
          </a:p>
        </p:txBody>
      </p:sp>
      <p:sp>
        <p:nvSpPr>
          <p:cNvPr id="6" name="Text 4"/>
          <p:cNvSpPr/>
          <p:nvPr/>
        </p:nvSpPr>
        <p:spPr>
          <a:xfrm>
            <a:off x="640080" y="2194560"/>
            <a:ext cx="3566160" cy="219456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  Low latency — sub-second</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Lower cost per token</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Good at: autocomplete, chat, summarization, well-defined transformations</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Worse at: multi-step planning, deep refactors, tricky debugging</a:t>
            </a:r>
            <a:endParaRPr lang="en-US" sz="1300" dirty="0"/>
          </a:p>
        </p:txBody>
      </p:sp>
      <p:sp>
        <p:nvSpPr>
          <p:cNvPr id="7" name="Shape 5"/>
          <p:cNvSpPr/>
          <p:nvPr/>
        </p:nvSpPr>
        <p:spPr>
          <a:xfrm>
            <a:off x="4754880" y="1280160"/>
            <a:ext cx="3931920" cy="3291840"/>
          </a:xfrm>
          <a:prstGeom prst="roundRect">
            <a:avLst>
              <a:gd name="adj" fmla="val 2222"/>
            </a:avLst>
          </a:prstGeom>
          <a:solidFill>
            <a:srgbClr val="FAFAFA"/>
          </a:solidFill>
          <a:ln w="6350">
            <a:solidFill>
              <a:srgbClr val="D6D6D6"/>
            </a:solidFill>
            <a:prstDash val="solid"/>
          </a:ln>
        </p:spPr>
        <p:txBody>
          <a:bodyPr/>
          <a:lstStyle/>
          <a:p>
            <a:endParaRPr lang="en-US"/>
          </a:p>
        </p:txBody>
      </p:sp>
      <p:sp>
        <p:nvSpPr>
          <p:cNvPr id="8" name="Text 6"/>
          <p:cNvSpPr/>
          <p:nvPr/>
        </p:nvSpPr>
        <p:spPr>
          <a:xfrm>
            <a:off x="4937760" y="1417320"/>
            <a:ext cx="3566160" cy="365760"/>
          </a:xfrm>
          <a:prstGeom prst="rect">
            <a:avLst/>
          </a:prstGeom>
          <a:noFill/>
          <a:ln/>
        </p:spPr>
        <p:txBody>
          <a:bodyPr wrap="square"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Reasoning models</a:t>
            </a:r>
            <a:endParaRPr lang="en-US" sz="1800" dirty="0"/>
          </a:p>
        </p:txBody>
      </p:sp>
      <p:sp>
        <p:nvSpPr>
          <p:cNvPr id="9" name="Text 7"/>
          <p:cNvSpPr/>
          <p:nvPr/>
        </p:nvSpPr>
        <p:spPr>
          <a:xfrm>
            <a:off x="4937760" y="1783080"/>
            <a:ext cx="3566160" cy="32004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o-series, Claude with extended thinking, Gemini Deep Think</a:t>
            </a:r>
            <a:endParaRPr lang="en-US" sz="1200" dirty="0"/>
          </a:p>
        </p:txBody>
      </p:sp>
      <p:sp>
        <p:nvSpPr>
          <p:cNvPr id="10" name="Text 8"/>
          <p:cNvSpPr/>
          <p:nvPr/>
        </p:nvSpPr>
        <p:spPr>
          <a:xfrm>
            <a:off x="4937760" y="2194560"/>
            <a:ext cx="3566160" cy="219456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  Internal scratchpad before answering — 'think' tokens</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Higher latency (10s – minutes) and cost</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Good at: complex refactors, multi-step bugs, planning, architecture</a:t>
            </a:r>
            <a:endParaRPr lang="en-US" sz="1300" dirty="0"/>
          </a:p>
          <a:p>
            <a:pPr marL="0" indent="0">
              <a:buNone/>
            </a:pPr>
            <a:r>
              <a:rPr lang="en-US" sz="1300" dirty="0">
                <a:solidFill>
                  <a:srgbClr val="333333"/>
                </a:solidFill>
                <a:latin typeface="Calibri" pitchFamily="34" charset="0"/>
                <a:ea typeface="Calibri" pitchFamily="34" charset="-122"/>
                <a:cs typeface="Calibri" pitchFamily="34" charset="-120"/>
              </a:rPr>
              <a:t>•  Worse at: latency-sensitive flows, simple Q&amp;A (overkill)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How LLMs fail</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6  ·  15 MINUTES</a:t>
            </a:r>
            <a:endParaRPr lang="en-US" sz="1400" dirty="0"/>
          </a:p>
        </p:txBody>
      </p:sp>
      <p:sp>
        <p:nvSpPr>
          <p:cNvPr id="4" name="Text 0"/>
          <p:cNvSpPr>
            <a:spLocks noGrp="1"/>
          </p:cNvSpPr>
          <p:nvPr>
            <p:ph type="body" idx="4294967295"/>
          </p:nvPr>
        </p:nvSpPr>
        <p:spPr>
          <a:xfrm>
            <a:off x="514351"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The four failure modes that bite .NET developers most often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solidFill>
                  <a:srgbClr val="1A1A1A"/>
                </a:solidFill>
                <a:latin typeface="Calibri" pitchFamily="34" charset="0"/>
                <a:ea typeface="Calibri" pitchFamily="34" charset="-122"/>
                <a:cs typeface="Calibri" pitchFamily="34" charset="-120"/>
              </a:rPr>
              <a:t>The four failures</a:t>
            </a:r>
            <a:endParaRPr lang="en-US" sz="2800" dirty="0"/>
          </a:p>
        </p:txBody>
      </p:sp>
      <p:sp>
        <p:nvSpPr>
          <p:cNvPr id="20" name="Content Placeholder 19">
            <a:extLst>
              <a:ext uri="{FF2B5EF4-FFF2-40B4-BE49-F238E27FC236}">
                <a16:creationId xmlns:a16="http://schemas.microsoft.com/office/drawing/2014/main" id="{F7BBAC43-C2E9-C67A-2E2C-864F14E2570B}"/>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t>26</a:t>
            </a:fld>
            <a:endParaRPr lang="en-US"/>
          </a:p>
        </p:txBody>
      </p:sp>
      <p:sp>
        <p:nvSpPr>
          <p:cNvPr id="3" name="Shape 1"/>
          <p:cNvSpPr/>
          <p:nvPr/>
        </p:nvSpPr>
        <p:spPr>
          <a:xfrm>
            <a:off x="457200" y="1234440"/>
            <a:ext cx="3931920" cy="1508760"/>
          </a:xfrm>
          <a:prstGeom prst="roundRect">
            <a:avLst>
              <a:gd name="adj" fmla="val 4848"/>
            </a:avLst>
          </a:prstGeom>
          <a:solidFill>
            <a:srgbClr val="FAFAFA"/>
          </a:solidFill>
          <a:ln w="6350">
            <a:solidFill>
              <a:srgbClr val="D6D6D6"/>
            </a:solidFill>
            <a:prstDash val="solid"/>
          </a:ln>
        </p:spPr>
        <p:txBody>
          <a:bodyPr/>
          <a:lstStyle/>
          <a:p>
            <a:endParaRPr lang="en-US"/>
          </a:p>
        </p:txBody>
      </p:sp>
      <p:sp>
        <p:nvSpPr>
          <p:cNvPr id="4" name="Text 2"/>
          <p:cNvSpPr/>
          <p:nvPr/>
        </p:nvSpPr>
        <p:spPr>
          <a:xfrm>
            <a:off x="685800" y="1417320"/>
            <a:ext cx="548640" cy="502920"/>
          </a:xfrm>
          <a:prstGeom prst="rect">
            <a:avLst/>
          </a:prstGeom>
          <a:noFill/>
          <a:ln/>
        </p:spPr>
        <p:txBody>
          <a:bodyPr wrap="square" rtlCol="0" anchor="ctr"/>
          <a:lstStyle/>
          <a:p>
            <a:pPr marL="0" indent="0">
              <a:buNone/>
            </a:pPr>
            <a:r>
              <a:rPr lang="en-US" sz="3200" b="1" dirty="0">
                <a:solidFill>
                  <a:srgbClr val="475569"/>
                </a:solidFill>
                <a:latin typeface="Calibri" pitchFamily="34" charset="0"/>
                <a:ea typeface="Calibri" pitchFamily="34" charset="-122"/>
                <a:cs typeface="Calibri" pitchFamily="34" charset="-120"/>
              </a:rPr>
              <a:t>1</a:t>
            </a:r>
            <a:endParaRPr lang="en-US" sz="3200" dirty="0"/>
          </a:p>
        </p:txBody>
      </p:sp>
      <p:sp>
        <p:nvSpPr>
          <p:cNvPr id="5" name="Text 3"/>
          <p:cNvSpPr/>
          <p:nvPr/>
        </p:nvSpPr>
        <p:spPr>
          <a:xfrm>
            <a:off x="1325880" y="1435608"/>
            <a:ext cx="292608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Hallucinations</a:t>
            </a:r>
            <a:endParaRPr lang="en-US" sz="1700" dirty="0"/>
          </a:p>
        </p:txBody>
      </p:sp>
      <p:sp>
        <p:nvSpPr>
          <p:cNvPr id="6" name="Text 4"/>
          <p:cNvSpPr/>
          <p:nvPr/>
        </p:nvSpPr>
        <p:spPr>
          <a:xfrm>
            <a:off x="1325880" y="1874520"/>
            <a:ext cx="2926080" cy="731520"/>
          </a:xfrm>
          <a:prstGeom prst="rect">
            <a:avLst/>
          </a:prstGeom>
          <a:noFill/>
          <a:ln/>
        </p:spPr>
        <p:txBody>
          <a:bodyPr wrap="square" rtlCol="0" anchor="t"/>
          <a:lstStyle/>
          <a:p>
            <a:pPr marL="0" indent="0">
              <a:buNone/>
            </a:pPr>
            <a:r>
              <a:rPr lang="en-US" sz="1200" dirty="0">
                <a:solidFill>
                  <a:srgbClr val="6B6B6B"/>
                </a:solidFill>
                <a:latin typeface="Calibri" pitchFamily="34" charset="0"/>
                <a:ea typeface="Calibri" pitchFamily="34" charset="-122"/>
                <a:cs typeface="Calibri" pitchFamily="34" charset="-120"/>
              </a:rPr>
              <a:t>Plausible output, no factual basis</a:t>
            </a:r>
            <a:endParaRPr lang="en-US" sz="1200" dirty="0"/>
          </a:p>
        </p:txBody>
      </p:sp>
      <p:sp>
        <p:nvSpPr>
          <p:cNvPr id="7" name="Shape 5"/>
          <p:cNvSpPr/>
          <p:nvPr/>
        </p:nvSpPr>
        <p:spPr>
          <a:xfrm>
            <a:off x="4572000" y="1234440"/>
            <a:ext cx="3931920" cy="1508760"/>
          </a:xfrm>
          <a:prstGeom prst="roundRect">
            <a:avLst>
              <a:gd name="adj" fmla="val 4848"/>
            </a:avLst>
          </a:prstGeom>
          <a:solidFill>
            <a:srgbClr val="FAFAFA"/>
          </a:solidFill>
          <a:ln w="6350">
            <a:solidFill>
              <a:srgbClr val="D6D6D6"/>
            </a:solidFill>
            <a:prstDash val="solid"/>
          </a:ln>
        </p:spPr>
        <p:txBody>
          <a:bodyPr/>
          <a:lstStyle/>
          <a:p>
            <a:endParaRPr lang="en-US"/>
          </a:p>
        </p:txBody>
      </p:sp>
      <p:sp>
        <p:nvSpPr>
          <p:cNvPr id="8" name="Text 6"/>
          <p:cNvSpPr/>
          <p:nvPr/>
        </p:nvSpPr>
        <p:spPr>
          <a:xfrm>
            <a:off x="4800600" y="1417320"/>
            <a:ext cx="548640" cy="502920"/>
          </a:xfrm>
          <a:prstGeom prst="rect">
            <a:avLst/>
          </a:prstGeom>
          <a:noFill/>
          <a:ln/>
        </p:spPr>
        <p:txBody>
          <a:bodyPr wrap="square" rtlCol="0" anchor="ctr"/>
          <a:lstStyle/>
          <a:p>
            <a:pPr marL="0" indent="0">
              <a:buNone/>
            </a:pPr>
            <a:r>
              <a:rPr lang="en-US" sz="3200" b="1" dirty="0">
                <a:solidFill>
                  <a:srgbClr val="475569"/>
                </a:solidFill>
                <a:latin typeface="Calibri" pitchFamily="34" charset="0"/>
                <a:ea typeface="Calibri" pitchFamily="34" charset="-122"/>
                <a:cs typeface="Calibri" pitchFamily="34" charset="-120"/>
              </a:rPr>
              <a:t>2</a:t>
            </a:r>
            <a:endParaRPr lang="en-US" sz="3200" dirty="0"/>
          </a:p>
        </p:txBody>
      </p:sp>
      <p:sp>
        <p:nvSpPr>
          <p:cNvPr id="9" name="Text 7"/>
          <p:cNvSpPr/>
          <p:nvPr/>
        </p:nvSpPr>
        <p:spPr>
          <a:xfrm>
            <a:off x="5440680" y="1435608"/>
            <a:ext cx="292608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Stale knowledge</a:t>
            </a:r>
            <a:endParaRPr lang="en-US" sz="1700" dirty="0"/>
          </a:p>
        </p:txBody>
      </p:sp>
      <p:sp>
        <p:nvSpPr>
          <p:cNvPr id="10" name="Text 8"/>
          <p:cNvSpPr/>
          <p:nvPr/>
        </p:nvSpPr>
        <p:spPr>
          <a:xfrm>
            <a:off x="5440680" y="1874520"/>
            <a:ext cx="2926080" cy="731520"/>
          </a:xfrm>
          <a:prstGeom prst="rect">
            <a:avLst/>
          </a:prstGeom>
          <a:noFill/>
          <a:ln/>
        </p:spPr>
        <p:txBody>
          <a:bodyPr wrap="square" rtlCol="0" anchor="t"/>
          <a:lstStyle/>
          <a:p>
            <a:pPr marL="0" indent="0">
              <a:buNone/>
            </a:pPr>
            <a:r>
              <a:rPr lang="en-US" sz="1200" dirty="0">
                <a:solidFill>
                  <a:srgbClr val="6B6B6B"/>
                </a:solidFill>
                <a:latin typeface="Calibri" pitchFamily="34" charset="0"/>
                <a:ea typeface="Calibri" pitchFamily="34" charset="-122"/>
                <a:cs typeface="Calibri" pitchFamily="34" charset="-120"/>
              </a:rPr>
              <a:t>World moved on, model didn't</a:t>
            </a:r>
            <a:endParaRPr lang="en-US" sz="1200" dirty="0"/>
          </a:p>
        </p:txBody>
      </p:sp>
      <p:sp>
        <p:nvSpPr>
          <p:cNvPr id="11" name="Shape 9"/>
          <p:cNvSpPr/>
          <p:nvPr/>
        </p:nvSpPr>
        <p:spPr>
          <a:xfrm>
            <a:off x="457200" y="2926080"/>
            <a:ext cx="3931920" cy="1508760"/>
          </a:xfrm>
          <a:prstGeom prst="roundRect">
            <a:avLst>
              <a:gd name="adj" fmla="val 4848"/>
            </a:avLst>
          </a:prstGeom>
          <a:solidFill>
            <a:srgbClr val="FAFAFA"/>
          </a:solidFill>
          <a:ln w="6350">
            <a:solidFill>
              <a:srgbClr val="D6D6D6"/>
            </a:solidFill>
            <a:prstDash val="solid"/>
          </a:ln>
        </p:spPr>
        <p:txBody>
          <a:bodyPr/>
          <a:lstStyle/>
          <a:p>
            <a:endParaRPr lang="en-US"/>
          </a:p>
        </p:txBody>
      </p:sp>
      <p:sp>
        <p:nvSpPr>
          <p:cNvPr id="12" name="Text 10"/>
          <p:cNvSpPr/>
          <p:nvPr/>
        </p:nvSpPr>
        <p:spPr>
          <a:xfrm>
            <a:off x="685800" y="3108960"/>
            <a:ext cx="548640" cy="502920"/>
          </a:xfrm>
          <a:prstGeom prst="rect">
            <a:avLst/>
          </a:prstGeom>
          <a:noFill/>
          <a:ln/>
        </p:spPr>
        <p:txBody>
          <a:bodyPr wrap="square" rtlCol="0" anchor="ctr"/>
          <a:lstStyle/>
          <a:p>
            <a:pPr marL="0" indent="0">
              <a:buNone/>
            </a:pPr>
            <a:r>
              <a:rPr lang="en-US" sz="3200" b="1" dirty="0">
                <a:solidFill>
                  <a:srgbClr val="475569"/>
                </a:solidFill>
                <a:latin typeface="Calibri" pitchFamily="34" charset="0"/>
                <a:ea typeface="Calibri" pitchFamily="34" charset="-122"/>
                <a:cs typeface="Calibri" pitchFamily="34" charset="-120"/>
              </a:rPr>
              <a:t>3</a:t>
            </a:r>
            <a:endParaRPr lang="en-US" sz="3200" dirty="0"/>
          </a:p>
        </p:txBody>
      </p:sp>
      <p:sp>
        <p:nvSpPr>
          <p:cNvPr id="13" name="Text 11"/>
          <p:cNvSpPr/>
          <p:nvPr/>
        </p:nvSpPr>
        <p:spPr>
          <a:xfrm>
            <a:off x="1325880" y="3127248"/>
            <a:ext cx="292608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Bad at exact things</a:t>
            </a:r>
            <a:endParaRPr lang="en-US" sz="1700" dirty="0"/>
          </a:p>
        </p:txBody>
      </p:sp>
      <p:sp>
        <p:nvSpPr>
          <p:cNvPr id="14" name="Text 12"/>
          <p:cNvSpPr/>
          <p:nvPr/>
        </p:nvSpPr>
        <p:spPr>
          <a:xfrm>
            <a:off x="1325880" y="3566160"/>
            <a:ext cx="2926080" cy="731520"/>
          </a:xfrm>
          <a:prstGeom prst="rect">
            <a:avLst/>
          </a:prstGeom>
          <a:noFill/>
          <a:ln/>
        </p:spPr>
        <p:txBody>
          <a:bodyPr wrap="square" rtlCol="0" anchor="t"/>
          <a:lstStyle/>
          <a:p>
            <a:pPr marL="0" indent="0">
              <a:buNone/>
            </a:pPr>
            <a:r>
              <a:rPr lang="en-US" sz="1200" dirty="0">
                <a:solidFill>
                  <a:srgbClr val="6B6B6B"/>
                </a:solidFill>
                <a:latin typeface="Calibri" pitchFamily="34" charset="0"/>
                <a:ea typeface="Calibri" pitchFamily="34" charset="-122"/>
                <a:cs typeface="Calibri" pitchFamily="34" charset="-120"/>
              </a:rPr>
              <a:t>Counting, math, regex, strings</a:t>
            </a:r>
            <a:endParaRPr lang="en-US" sz="1200" dirty="0"/>
          </a:p>
        </p:txBody>
      </p:sp>
      <p:sp>
        <p:nvSpPr>
          <p:cNvPr id="15" name="Shape 13"/>
          <p:cNvSpPr/>
          <p:nvPr/>
        </p:nvSpPr>
        <p:spPr>
          <a:xfrm>
            <a:off x="4572000" y="2926080"/>
            <a:ext cx="3931920" cy="1508760"/>
          </a:xfrm>
          <a:prstGeom prst="roundRect">
            <a:avLst>
              <a:gd name="adj" fmla="val 4848"/>
            </a:avLst>
          </a:prstGeom>
          <a:solidFill>
            <a:srgbClr val="FAFAFA"/>
          </a:solidFill>
          <a:ln w="6350">
            <a:solidFill>
              <a:srgbClr val="D6D6D6"/>
            </a:solidFill>
            <a:prstDash val="solid"/>
          </a:ln>
        </p:spPr>
        <p:txBody>
          <a:bodyPr/>
          <a:lstStyle/>
          <a:p>
            <a:endParaRPr lang="en-US"/>
          </a:p>
        </p:txBody>
      </p:sp>
      <p:sp>
        <p:nvSpPr>
          <p:cNvPr id="16" name="Text 14"/>
          <p:cNvSpPr/>
          <p:nvPr/>
        </p:nvSpPr>
        <p:spPr>
          <a:xfrm>
            <a:off x="4800600" y="3108960"/>
            <a:ext cx="548640" cy="502920"/>
          </a:xfrm>
          <a:prstGeom prst="rect">
            <a:avLst/>
          </a:prstGeom>
          <a:noFill/>
          <a:ln/>
        </p:spPr>
        <p:txBody>
          <a:bodyPr wrap="square" rtlCol="0" anchor="ctr"/>
          <a:lstStyle/>
          <a:p>
            <a:pPr marL="0" indent="0">
              <a:buNone/>
            </a:pPr>
            <a:r>
              <a:rPr lang="en-US" sz="3200" b="1" dirty="0">
                <a:solidFill>
                  <a:srgbClr val="475569"/>
                </a:solidFill>
                <a:latin typeface="Calibri" pitchFamily="34" charset="0"/>
                <a:ea typeface="Calibri" pitchFamily="34" charset="-122"/>
                <a:cs typeface="Calibri" pitchFamily="34" charset="-120"/>
              </a:rPr>
              <a:t>4</a:t>
            </a:r>
            <a:endParaRPr lang="en-US" sz="3200" dirty="0"/>
          </a:p>
        </p:txBody>
      </p:sp>
      <p:sp>
        <p:nvSpPr>
          <p:cNvPr id="17" name="Text 15"/>
          <p:cNvSpPr/>
          <p:nvPr/>
        </p:nvSpPr>
        <p:spPr>
          <a:xfrm>
            <a:off x="5440680" y="3127248"/>
            <a:ext cx="292608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Confident wrongness</a:t>
            </a:r>
            <a:endParaRPr lang="en-US" sz="1700" dirty="0"/>
          </a:p>
        </p:txBody>
      </p:sp>
      <p:sp>
        <p:nvSpPr>
          <p:cNvPr id="18" name="Text 16"/>
          <p:cNvSpPr/>
          <p:nvPr/>
        </p:nvSpPr>
        <p:spPr>
          <a:xfrm>
            <a:off x="5440680" y="3566160"/>
            <a:ext cx="2926080" cy="731520"/>
          </a:xfrm>
          <a:prstGeom prst="rect">
            <a:avLst/>
          </a:prstGeom>
          <a:noFill/>
          <a:ln/>
        </p:spPr>
        <p:txBody>
          <a:bodyPr wrap="square" rtlCol="0" anchor="t"/>
          <a:lstStyle/>
          <a:p>
            <a:pPr marL="0" indent="0">
              <a:buNone/>
            </a:pPr>
            <a:r>
              <a:rPr lang="en-US" sz="1200" dirty="0">
                <a:solidFill>
                  <a:srgbClr val="6B6B6B"/>
                </a:solidFill>
                <a:latin typeface="Calibri" pitchFamily="34" charset="0"/>
                <a:ea typeface="Calibri" pitchFamily="34" charset="-122"/>
                <a:cs typeface="Calibri" pitchFamily="34" charset="-120"/>
              </a:rPr>
              <a:t>Same tone whether right or wrong</a:t>
            </a:r>
            <a:endParaRPr lang="en-US" sz="1200" dirty="0"/>
          </a:p>
        </p:txBody>
      </p:sp>
      <p:sp>
        <p:nvSpPr>
          <p:cNvPr id="19" name="Text 17"/>
          <p:cNvSpPr/>
          <p:nvPr/>
        </p:nvSpPr>
        <p:spPr>
          <a:xfrm>
            <a:off x="457200" y="4572000"/>
            <a:ext cx="8229600" cy="320040"/>
          </a:xfrm>
          <a:prstGeom prst="rect">
            <a:avLst/>
          </a:prstGeom>
          <a:noFill/>
          <a:ln/>
        </p:spPr>
        <p:txBody>
          <a:bodyPr wrap="square" rtlCol="0" anchor="ctr"/>
          <a:lstStyle/>
          <a:p>
            <a:pPr marL="0" indent="0" algn="ctr">
              <a:buNone/>
            </a:pPr>
            <a:r>
              <a:rPr lang="en-US" sz="1300" i="1" dirty="0">
                <a:solidFill>
                  <a:srgbClr val="6B6B6B"/>
                </a:solidFill>
                <a:latin typeface="Calibri" pitchFamily="34" charset="0"/>
                <a:ea typeface="Calibri" pitchFamily="34" charset="-122"/>
                <a:cs typeface="Calibri" pitchFamily="34" charset="-120"/>
              </a:rPr>
              <a:t>We'll spend the rest of this block on each one. They're predictable — which means they're manageable.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Hallucinations</a:t>
            </a:r>
            <a:endParaRPr lang="en-US" sz="2800" dirty="0"/>
          </a:p>
        </p:txBody>
      </p:sp>
      <p:sp>
        <p:nvSpPr>
          <p:cNvPr id="5" name="Content Placeholder 4">
            <a:extLst>
              <a:ext uri="{FF2B5EF4-FFF2-40B4-BE49-F238E27FC236}">
                <a16:creationId xmlns:a16="http://schemas.microsoft.com/office/drawing/2014/main" id="{9CB22679-C218-3A06-0F4D-3C7F072BB1D4}"/>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27</a:t>
            </a:fld>
            <a:endParaRPr lang="en-US">
              <a:solidFill>
                <a:schemeClr val="tx1"/>
              </a:solidFill>
            </a:endParaRPr>
          </a:p>
        </p:txBody>
      </p:sp>
      <p:sp>
        <p:nvSpPr>
          <p:cNvPr id="3" name="Text 1"/>
          <p:cNvSpPr/>
          <p:nvPr/>
        </p:nvSpPr>
        <p:spPr>
          <a:xfrm>
            <a:off x="457200" y="1188720"/>
            <a:ext cx="8229600" cy="640080"/>
          </a:xfrm>
          <a:prstGeom prst="rect">
            <a:avLst/>
          </a:prstGeom>
          <a:noFill/>
          <a:ln/>
        </p:spPr>
        <p:txBody>
          <a:bodyPr wrap="square" rtlCol="0" anchor="ctr"/>
          <a:lstStyle/>
          <a:p>
            <a:pPr marL="0" indent="0">
              <a:buNone/>
            </a:pPr>
            <a:r>
              <a:rPr lang="en-US" sz="1800" i="1" dirty="0">
                <a:latin typeface="Calibri" pitchFamily="34" charset="0"/>
                <a:ea typeface="Calibri" pitchFamily="34" charset="-122"/>
                <a:cs typeface="Calibri" pitchFamily="34" charset="-120"/>
              </a:rPr>
              <a:t>The model produces output that sounds correct but isn't grounded in reality.</a:t>
            </a:r>
            <a:endParaRPr lang="en-US" sz="1800" dirty="0"/>
          </a:p>
        </p:txBody>
      </p:sp>
      <p:sp>
        <p:nvSpPr>
          <p:cNvPr id="4" name="Text 2"/>
          <p:cNvSpPr/>
          <p:nvPr/>
        </p:nvSpPr>
        <p:spPr>
          <a:xfrm>
            <a:off x="457200" y="1920240"/>
            <a:ext cx="8229600" cy="2926080"/>
          </a:xfrm>
          <a:prstGeom prst="rect">
            <a:avLst/>
          </a:prstGeom>
          <a:noFill/>
          <a:ln/>
        </p:spPr>
        <p:txBody>
          <a:bodyPr wrap="square" rtlCol="0" anchor="t"/>
          <a:lstStyle/>
          <a:p>
            <a:pPr marL="0" indent="0">
              <a:spcAft>
                <a:spcPts val="800"/>
              </a:spcAft>
              <a:buNone/>
            </a:pPr>
            <a:r>
              <a:rPr lang="en-US" sz="1400" b="1" dirty="0">
                <a:latin typeface="Calibri" pitchFamily="34" charset="0"/>
                <a:ea typeface="Calibri" pitchFamily="34" charset="-122"/>
                <a:cs typeface="Calibri" pitchFamily="34" charset="-120"/>
              </a:rPr>
              <a:t>What it looks like in .NET land:</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Invented NuGet packages</a:t>
            </a:r>
            <a:r>
              <a:rPr lang="en-US" sz="1400" dirty="0">
                <a:latin typeface="Courier New" pitchFamily="34" charset="0"/>
                <a:ea typeface="Courier New" pitchFamily="34" charset="-122"/>
                <a:cs typeface="Courier New" pitchFamily="34" charset="-120"/>
              </a:rPr>
              <a:t> — Microsoft.Extensions.SomethingThatSoundsReal</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Fabricated method signatures</a:t>
            </a:r>
            <a:r>
              <a:rPr lang="en-US" sz="1400" dirty="0">
                <a:latin typeface="Courier New" pitchFamily="34" charset="0"/>
                <a:ea typeface="Courier New" pitchFamily="34" charset="-122"/>
                <a:cs typeface="Courier New" pitchFamily="34" charset="-120"/>
              </a:rPr>
              <a:t> on real classes — DbContext.SaveChangesWithAuditTrail()</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Wrong overload resolution</a:t>
            </a:r>
            <a:r>
              <a:rPr lang="en-US" sz="1400" dirty="0">
                <a:latin typeface="Calibri" pitchFamily="34" charset="0"/>
                <a:ea typeface="Calibri" pitchFamily="34" charset="-122"/>
                <a:cs typeface="Calibri" pitchFamily="34" charset="-120"/>
              </a:rPr>
              <a:t> — using a parameter shape that doesn't exist</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Plausible but wrong namespaces</a:t>
            </a:r>
            <a:r>
              <a:rPr lang="en-US" sz="1400" dirty="0">
                <a:latin typeface="Calibri" pitchFamily="34" charset="0"/>
                <a:ea typeface="Calibri" pitchFamily="34" charset="-122"/>
                <a:cs typeface="Calibri" pitchFamily="34" charset="-120"/>
              </a:rPr>
              <a:t> — System.Net.Http.Json.JsonContent that isn't there</a:t>
            </a:r>
            <a:endParaRPr lang="en-US" sz="1400" dirty="0"/>
          </a:p>
          <a:p>
            <a:pPr marL="0" indent="0">
              <a:buNone/>
            </a:pPr>
            <a:r>
              <a:rPr lang="en-US" sz="1400" b="1" dirty="0">
                <a:latin typeface="Calibri" pitchFamily="34" charset="0"/>
                <a:ea typeface="Calibri" pitchFamily="34" charset="-122"/>
                <a:cs typeface="Calibri" pitchFamily="34" charset="-120"/>
              </a:rPr>
              <a:t>Why it happens: </a:t>
            </a:r>
            <a:r>
              <a:rPr lang="en-US" sz="1400" i="1" dirty="0">
                <a:latin typeface="Calibri" pitchFamily="34" charset="0"/>
                <a:ea typeface="Calibri" pitchFamily="34" charset="-122"/>
                <a:cs typeface="Calibri" pitchFamily="34" charset="-120"/>
              </a:rPr>
              <a:t>the model is doing what it was trained to do — predicting plausible text. </a:t>
            </a:r>
            <a:r>
              <a:rPr lang="en-US" sz="1400" b="1" i="1" dirty="0">
                <a:latin typeface="Calibri" pitchFamily="34" charset="0"/>
                <a:ea typeface="Calibri" pitchFamily="34" charset="-122"/>
                <a:cs typeface="Calibri" pitchFamily="34" charset="-120"/>
              </a:rPr>
              <a:t>'Plausible' and 'correct' are not the same.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Spot the hallucination</a:t>
            </a:r>
            <a:endParaRPr lang="en-US" sz="2800" dirty="0"/>
          </a:p>
        </p:txBody>
      </p:sp>
      <p:sp>
        <p:nvSpPr>
          <p:cNvPr id="4" name="Content Placeholder 3">
            <a:extLst>
              <a:ext uri="{FF2B5EF4-FFF2-40B4-BE49-F238E27FC236}">
                <a16:creationId xmlns:a16="http://schemas.microsoft.com/office/drawing/2014/main" id="{B5F84E89-24E3-2ED7-6756-D6142DDAA963}"/>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28</a:t>
            </a:fld>
            <a:endParaRPr lang="en-US">
              <a:solidFill>
                <a:schemeClr val="tx1"/>
              </a:solidFill>
            </a:endParaRPr>
          </a:p>
        </p:txBody>
      </p:sp>
      <p:sp>
        <p:nvSpPr>
          <p:cNvPr id="3" name="Text 1"/>
          <p:cNvSpPr/>
          <p:nvPr/>
        </p:nvSpPr>
        <p:spPr>
          <a:xfrm>
            <a:off x="457200" y="1188720"/>
            <a:ext cx="8229600" cy="3657600"/>
          </a:xfrm>
          <a:prstGeom prst="rect">
            <a:avLst/>
          </a:prstGeom>
          <a:noFill/>
          <a:ln/>
        </p:spPr>
        <p:txBody>
          <a:bodyPr wrap="square" rtlCol="0" anchor="t"/>
          <a:lstStyle/>
          <a:p>
            <a:pPr marL="0" indent="0">
              <a:spcAft>
                <a:spcPts val="600"/>
              </a:spcAft>
              <a:buNone/>
            </a:pPr>
            <a:r>
              <a:rPr lang="en-US" sz="1300" b="1" dirty="0">
                <a:latin typeface="Calibri" pitchFamily="34" charset="0"/>
                <a:ea typeface="Calibri" pitchFamily="34" charset="-122"/>
                <a:cs typeface="Calibri" pitchFamily="34" charset="-120"/>
              </a:rPr>
              <a:t>Setup</a:t>
            </a:r>
            <a:endParaRPr lang="en-US" sz="1300" dirty="0"/>
          </a:p>
          <a:p>
            <a:pPr marL="0" indent="0">
              <a:buNone/>
            </a:pPr>
            <a:r>
              <a:rPr lang="en-US" sz="1300" dirty="0">
                <a:latin typeface="Calibri" pitchFamily="34" charset="0"/>
                <a:ea typeface="Calibri" pitchFamily="34" charset="-122"/>
                <a:cs typeface="Calibri" pitchFamily="34" charset="-120"/>
              </a:rPr>
              <a:t>Prepare 2–3 Copilot Chat responses in advance, each containing a subtle hallucination. </a:t>
            </a:r>
            <a:endParaRPr lang="en-US" sz="1300" dirty="0"/>
          </a:p>
          <a:p>
            <a:pPr marL="0" indent="0">
              <a:spcAft>
                <a:spcPts val="600"/>
              </a:spcAft>
              <a:buNone/>
            </a:pPr>
            <a:r>
              <a:rPr lang="en-US" sz="1300" dirty="0">
                <a:latin typeface="Calibri" pitchFamily="34" charset="0"/>
                <a:ea typeface="Calibri" pitchFamily="34" charset="-122"/>
                <a:cs typeface="Calibri" pitchFamily="34" charset="-120"/>
              </a:rPr>
              <a:t>Examples to draw from:</a:t>
            </a:r>
            <a:endParaRPr lang="en-US" sz="1300" dirty="0"/>
          </a:p>
          <a:p>
            <a:pPr marL="0" indent="0">
              <a:buNone/>
            </a:pPr>
            <a:r>
              <a:rPr lang="en-US" sz="1300" dirty="0">
                <a:latin typeface="Calibri" pitchFamily="34" charset="0"/>
                <a:ea typeface="Calibri" pitchFamily="34" charset="-122"/>
                <a:cs typeface="Calibri" pitchFamily="34" charset="-120"/>
              </a:rPr>
              <a:t>   •  A real-looking using statement for a namespace that doesn't exist</a:t>
            </a:r>
            <a:endParaRPr lang="en-US" sz="1300" dirty="0"/>
          </a:p>
          <a:p>
            <a:pPr marL="0" indent="0">
              <a:buNone/>
            </a:pPr>
            <a:r>
              <a:rPr lang="en-US" sz="1300" dirty="0">
                <a:latin typeface="Calibri" pitchFamily="34" charset="0"/>
                <a:ea typeface="Calibri" pitchFamily="34" charset="-122"/>
                <a:cs typeface="Calibri" pitchFamily="34" charset="-120"/>
              </a:rPr>
              <a:t>   •  A correct-looking method called on the wrong class</a:t>
            </a:r>
            <a:endParaRPr lang="en-US" sz="1300" dirty="0"/>
          </a:p>
          <a:p>
            <a:pPr marL="0" indent="0">
              <a:buNone/>
            </a:pPr>
            <a:r>
              <a:rPr lang="en-US" sz="1300" dirty="0">
                <a:latin typeface="Calibri" pitchFamily="34" charset="0"/>
                <a:ea typeface="Calibri" pitchFamily="34" charset="-122"/>
                <a:cs typeface="Calibri" pitchFamily="34" charset="-120"/>
              </a:rPr>
              <a:t>   •  A NuGet package name that's one letter off from a real one</a:t>
            </a:r>
            <a:endParaRPr lang="en-US" sz="1300" dirty="0"/>
          </a:p>
          <a:p>
            <a:pPr marL="0" indent="0">
              <a:spcAft>
                <a:spcPts val="1400"/>
              </a:spcAft>
              <a:buNone/>
            </a:pPr>
            <a:r>
              <a:rPr lang="en-US" sz="1300" dirty="0">
                <a:latin typeface="Calibri" pitchFamily="34" charset="0"/>
                <a:ea typeface="Calibri" pitchFamily="34" charset="-122"/>
                <a:cs typeface="Calibri" pitchFamily="34" charset="-120"/>
              </a:rPr>
              <a:t>   •  A correct C# pattern using a feature from a version your project doesn't have</a:t>
            </a:r>
            <a:endParaRPr lang="en-US" sz="1300" dirty="0"/>
          </a:p>
          <a:p>
            <a:pPr marL="0" indent="0">
              <a:spcAft>
                <a:spcPts val="600"/>
              </a:spcAft>
              <a:buNone/>
            </a:pPr>
            <a:r>
              <a:rPr lang="en-US" sz="1300" b="1" dirty="0">
                <a:latin typeface="Calibri" pitchFamily="34" charset="0"/>
                <a:ea typeface="Calibri" pitchFamily="34" charset="-122"/>
                <a:cs typeface="Calibri" pitchFamily="34" charset="-120"/>
              </a:rPr>
              <a:t>Run</a:t>
            </a:r>
            <a:endParaRPr lang="en-US" sz="1300" dirty="0"/>
          </a:p>
          <a:p>
            <a:pPr marL="0" indent="0">
              <a:buNone/>
            </a:pPr>
            <a:r>
              <a:rPr lang="en-US" sz="1300" dirty="0">
                <a:latin typeface="Calibri" pitchFamily="34" charset="0"/>
                <a:ea typeface="Calibri" pitchFamily="34" charset="-122"/>
                <a:cs typeface="Calibri" pitchFamily="34" charset="-120"/>
              </a:rPr>
              <a:t>•  Show each response on screen for 30 seconds</a:t>
            </a:r>
            <a:endParaRPr lang="en-US" sz="1300" dirty="0"/>
          </a:p>
          <a:p>
            <a:pPr marL="0" indent="0">
              <a:buNone/>
            </a:pPr>
            <a:r>
              <a:rPr lang="en-US" sz="1300" dirty="0">
                <a:latin typeface="Calibri" pitchFamily="34" charset="0"/>
                <a:ea typeface="Calibri" pitchFamily="34" charset="-122"/>
                <a:cs typeface="Calibri" pitchFamily="34" charset="-120"/>
              </a:rPr>
              <a:t>•  Class votes (hands or chat): is this real or hallucinated?</a:t>
            </a:r>
            <a:endParaRPr lang="en-US" sz="1300" dirty="0"/>
          </a:p>
          <a:p>
            <a:pPr marL="0" indent="0">
              <a:spcAft>
                <a:spcPts val="1400"/>
              </a:spcAft>
              <a:buNone/>
            </a:pPr>
            <a:r>
              <a:rPr lang="en-US" sz="1300" dirty="0">
                <a:latin typeface="Calibri" pitchFamily="34" charset="0"/>
                <a:ea typeface="Calibri" pitchFamily="34" charset="-122"/>
                <a:cs typeface="Calibri" pitchFamily="34" charset="-120"/>
              </a:rPr>
              <a:t>•  Reveal — and run the code to prove it</a:t>
            </a:r>
            <a:endParaRPr lang="en-US" sz="1300" dirty="0"/>
          </a:p>
          <a:p>
            <a:pPr marL="0" indent="0">
              <a:spcAft>
                <a:spcPts val="600"/>
              </a:spcAft>
              <a:buNone/>
            </a:pPr>
            <a:r>
              <a:rPr lang="en-US" sz="1300" b="1" dirty="0">
                <a:latin typeface="Calibri" pitchFamily="34" charset="0"/>
                <a:ea typeface="Calibri" pitchFamily="34" charset="-122"/>
                <a:cs typeface="Calibri" pitchFamily="34" charset="-120"/>
              </a:rPr>
              <a:t>Discussion</a:t>
            </a:r>
            <a:endParaRPr lang="en-US" sz="1300" dirty="0"/>
          </a:p>
          <a:p>
            <a:pPr marL="0" indent="0">
              <a:buNone/>
            </a:pPr>
            <a:r>
              <a:rPr lang="en-US" sz="1300" i="1" dirty="0">
                <a:latin typeface="Calibri" pitchFamily="34" charset="0"/>
                <a:ea typeface="Calibri" pitchFamily="34" charset="-122"/>
                <a:cs typeface="Calibri" pitchFamily="34" charset="-120"/>
              </a:rPr>
              <a:t>What was the tell? What habits would have caught this earlier?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Stale knowledge</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29</a:t>
            </a:fld>
            <a:endParaRPr lang="en-US">
              <a:solidFill>
                <a:schemeClr val="tx1"/>
              </a:solidFill>
            </a:endParaRPr>
          </a:p>
        </p:txBody>
      </p:sp>
      <p:sp>
        <p:nvSpPr>
          <p:cNvPr id="3" name="Text 1"/>
          <p:cNvSpPr/>
          <p:nvPr/>
        </p:nvSpPr>
        <p:spPr>
          <a:xfrm>
            <a:off x="457200" y="1188720"/>
            <a:ext cx="8229600" cy="2377440"/>
          </a:xfrm>
          <a:prstGeom prst="rect">
            <a:avLst/>
          </a:prstGeom>
          <a:noFill/>
          <a:ln/>
        </p:spPr>
        <p:txBody>
          <a:bodyPr wrap="square" rtlCol="0" anchor="t"/>
          <a:lstStyle/>
          <a:p>
            <a:pPr marL="342900" indent="-342900">
              <a:spcAft>
                <a:spcPts val="1000"/>
              </a:spcAft>
              <a:buSzPct val="100000"/>
              <a:buChar char="•"/>
            </a:pPr>
            <a:r>
              <a:rPr lang="en-US" sz="1600" dirty="0">
                <a:latin typeface="Calibri" pitchFamily="34" charset="0"/>
                <a:ea typeface="Calibri" pitchFamily="34" charset="-122"/>
                <a:cs typeface="Calibri" pitchFamily="34" charset="-120"/>
              </a:rPr>
              <a:t>Every model has a training cutoff — typically 6–12 months before public release</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After that date: invisible. New .NET versions, new EF Core features, new NuGet packages, new APIs</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Your internal codebase is always 'after the cutoff' from the model's perspective</a:t>
            </a:r>
            <a:endParaRPr lang="en-US" sz="1600" dirty="0"/>
          </a:p>
          <a:p>
            <a:pPr marL="342900" indent="-342900">
              <a:spcAft>
                <a:spcPts val="1000"/>
              </a:spcAft>
              <a:buSzPct val="100000"/>
              <a:buChar char="•"/>
            </a:pPr>
            <a:r>
              <a:rPr lang="en-US" sz="1600" dirty="0">
                <a:latin typeface="Calibri" pitchFamily="34" charset="0"/>
                <a:ea typeface="Calibri" pitchFamily="34" charset="-122"/>
                <a:cs typeface="Calibri" pitchFamily="34" charset="-120"/>
              </a:rPr>
              <a:t>The model often doesn't know what it doesn't know — it will confidently fill in plausible guesses</a:t>
            </a:r>
            <a:endParaRPr lang="en-US" sz="1600" dirty="0"/>
          </a:p>
        </p:txBody>
      </p:sp>
      <p:sp>
        <p:nvSpPr>
          <p:cNvPr id="4" name="Text 2"/>
          <p:cNvSpPr/>
          <p:nvPr/>
        </p:nvSpPr>
        <p:spPr>
          <a:xfrm>
            <a:off x="457200" y="3749040"/>
            <a:ext cx="8229600" cy="1097280"/>
          </a:xfrm>
          <a:prstGeom prst="rect">
            <a:avLst/>
          </a:prstGeom>
          <a:noFill/>
          <a:ln/>
        </p:spPr>
        <p:txBody>
          <a:bodyPr wrap="square" rtlCol="0" anchor="t"/>
          <a:lstStyle/>
          <a:p>
            <a:pPr marL="0" indent="0">
              <a:spcAft>
                <a:spcPts val="800"/>
              </a:spcAft>
              <a:buNone/>
            </a:pPr>
            <a:r>
              <a:rPr lang="en-US" sz="1300" b="1" dirty="0">
                <a:latin typeface="Calibri" pitchFamily="34" charset="0"/>
                <a:ea typeface="Calibri" pitchFamily="34" charset="-122"/>
                <a:cs typeface="Calibri" pitchFamily="34" charset="-120"/>
              </a:rPr>
              <a:t>Mitigations we'll meet later this week:</a:t>
            </a:r>
            <a:endParaRPr lang="en-US" sz="1300" dirty="0"/>
          </a:p>
          <a:p>
            <a:pPr marL="0" indent="0">
              <a:buNone/>
            </a:pPr>
            <a:r>
              <a:rPr lang="en-US" sz="1300" dirty="0">
                <a:latin typeface="Calibri" pitchFamily="34" charset="0"/>
                <a:ea typeface="Calibri" pitchFamily="34" charset="-122"/>
                <a:cs typeface="Calibri" pitchFamily="34" charset="-120"/>
              </a:rPr>
              <a:t>•  </a:t>
            </a:r>
            <a:r>
              <a:rPr lang="en-US" sz="1300" dirty="0">
                <a:latin typeface="Courier New" pitchFamily="34" charset="0"/>
                <a:ea typeface="Courier New" pitchFamily="34" charset="-122"/>
                <a:cs typeface="Courier New" pitchFamily="34" charset="-120"/>
              </a:rPr>
              <a:t>MS Learn integration</a:t>
            </a:r>
            <a:r>
              <a:rPr lang="en-US" sz="1300" dirty="0">
                <a:latin typeface="Calibri" pitchFamily="34" charset="0"/>
                <a:ea typeface="Calibri" pitchFamily="34" charset="-122"/>
                <a:cs typeface="Calibri" pitchFamily="34" charset="-120"/>
              </a:rPr>
              <a:t> — Copilot fetches live docs</a:t>
            </a:r>
            <a:endParaRPr lang="en-US" sz="1300" dirty="0"/>
          </a:p>
          <a:p>
            <a:pPr marL="0" indent="0">
              <a:buNone/>
            </a:pPr>
            <a:r>
              <a:rPr lang="en-US" sz="1300" dirty="0">
                <a:latin typeface="Calibri" pitchFamily="34" charset="0"/>
                <a:ea typeface="Calibri" pitchFamily="34" charset="-122"/>
                <a:cs typeface="Calibri" pitchFamily="34" charset="-120"/>
              </a:rPr>
              <a:t>•  </a:t>
            </a:r>
            <a:r>
              <a:rPr lang="en-US" sz="1300" dirty="0">
                <a:latin typeface="Courier New" pitchFamily="34" charset="0"/>
                <a:ea typeface="Courier New" pitchFamily="34" charset="-122"/>
                <a:cs typeface="Courier New" pitchFamily="34" charset="-120"/>
              </a:rPr>
              <a:t>web_fetch / @workspace</a:t>
            </a:r>
            <a:r>
              <a:rPr lang="en-US" sz="1300" dirty="0">
                <a:latin typeface="Calibri" pitchFamily="34" charset="0"/>
                <a:ea typeface="Calibri" pitchFamily="34" charset="-122"/>
                <a:cs typeface="Calibri" pitchFamily="34" charset="-120"/>
              </a:rPr>
              <a:t> — context from your code and the web </a:t>
            </a:r>
            <a:endParaRPr lang="en-US" sz="1300" dirty="0"/>
          </a:p>
          <a:p>
            <a:pPr marL="0" indent="0">
              <a:buNone/>
            </a:pPr>
            <a:r>
              <a:rPr lang="en-US" sz="1300" dirty="0">
                <a:latin typeface="Calibri" pitchFamily="34" charset="0"/>
                <a:ea typeface="Calibri" pitchFamily="34" charset="-122"/>
                <a:cs typeface="Calibri" pitchFamily="34" charset="-120"/>
              </a:rPr>
              <a:t>•  </a:t>
            </a:r>
            <a:r>
              <a:rPr lang="en-US" sz="1300" dirty="0">
                <a:latin typeface="Courier New" pitchFamily="34" charset="0"/>
                <a:ea typeface="Courier New" pitchFamily="34" charset="-122"/>
                <a:cs typeface="Courier New" pitchFamily="34" charset="-120"/>
              </a:rPr>
              <a:t>MCP servers</a:t>
            </a:r>
            <a:r>
              <a:rPr lang="en-US" sz="1300" dirty="0">
                <a:latin typeface="Calibri" pitchFamily="34" charset="0"/>
                <a:ea typeface="Calibri" pitchFamily="34" charset="-122"/>
                <a:cs typeface="Calibri" pitchFamily="34" charset="-120"/>
              </a:rPr>
              <a:t> — live access to your DB, Jira, internal services </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Bad at exact things</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30</a:t>
            </a:fld>
            <a:endParaRPr lang="en-US">
              <a:solidFill>
                <a:schemeClr val="tx1"/>
              </a:solidFill>
            </a:endParaRPr>
          </a:p>
        </p:txBody>
      </p:sp>
      <p:sp>
        <p:nvSpPr>
          <p:cNvPr id="3" name="Text 1"/>
          <p:cNvSpPr/>
          <p:nvPr/>
        </p:nvSpPr>
        <p:spPr>
          <a:xfrm>
            <a:off x="457200" y="1188720"/>
            <a:ext cx="8229600" cy="640080"/>
          </a:xfrm>
          <a:prstGeom prst="rect">
            <a:avLst/>
          </a:prstGeom>
          <a:noFill/>
          <a:ln/>
        </p:spPr>
        <p:txBody>
          <a:bodyPr wrap="square" rtlCol="0" anchor="ctr"/>
          <a:lstStyle/>
          <a:p>
            <a:pPr marL="0" indent="0">
              <a:buNone/>
            </a:pPr>
            <a:r>
              <a:rPr lang="en-US" sz="1700" i="1" dirty="0">
                <a:latin typeface="Calibri" pitchFamily="34" charset="0"/>
                <a:ea typeface="Calibri" pitchFamily="34" charset="-122"/>
                <a:cs typeface="Calibri" pitchFamily="34" charset="-120"/>
              </a:rPr>
              <a:t>LLMs are bad at precision — and that's structural, not solvable by better prompting.</a:t>
            </a:r>
            <a:endParaRPr lang="en-US" sz="1700" dirty="0"/>
          </a:p>
        </p:txBody>
      </p:sp>
      <p:sp>
        <p:nvSpPr>
          <p:cNvPr id="4" name="Text 2"/>
          <p:cNvSpPr/>
          <p:nvPr/>
        </p:nvSpPr>
        <p:spPr>
          <a:xfrm>
            <a:off x="457200" y="1920240"/>
            <a:ext cx="8229600" cy="2286000"/>
          </a:xfrm>
          <a:prstGeom prst="rect">
            <a:avLst/>
          </a:prstGeom>
          <a:noFill/>
          <a:ln/>
        </p:spPr>
        <p:txBody>
          <a:bodyPr wrap="square" rtlCol="0" anchor="t"/>
          <a:lstStyle/>
          <a:p>
            <a:pPr marL="342900" indent="-342900">
              <a:spcAft>
                <a:spcPts val="1000"/>
              </a:spcAft>
              <a:buSzPct val="100000"/>
              <a:buChar char="•"/>
            </a:pPr>
            <a:r>
              <a:rPr lang="en-US" sz="1500" dirty="0">
                <a:latin typeface="Calibri" pitchFamily="34" charset="0"/>
                <a:ea typeface="Calibri" pitchFamily="34" charset="-122"/>
                <a:cs typeface="Calibri" pitchFamily="34" charset="-120"/>
              </a:rPr>
              <a:t>Counting tokens, characters, occurrences — wrong more often than right</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Exact string matching — close-but-not-equal is the default</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Regex correctness — syntactically valid, semantically wrong</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Arithmetic — past two-digit multiplication, accuracy drops fast</a:t>
            </a:r>
            <a:endParaRPr lang="en-US" sz="1500" dirty="0"/>
          </a:p>
          <a:p>
            <a:pPr marL="342900" indent="-342900">
              <a:spcAft>
                <a:spcPts val="1000"/>
              </a:spcAft>
              <a:buSzPct val="100000"/>
              <a:buChar char="•"/>
            </a:pPr>
            <a:r>
              <a:rPr lang="en-US" sz="1500" dirty="0">
                <a:latin typeface="Calibri" pitchFamily="34" charset="0"/>
                <a:ea typeface="Calibri" pitchFamily="34" charset="-122"/>
                <a:cs typeface="Calibri" pitchFamily="34" charset="-120"/>
              </a:rPr>
              <a:t>Reverse operations — 'spell this word backwards', 'sort this list' often glitch</a:t>
            </a:r>
            <a:endParaRPr lang="en-US" sz="1500" dirty="0"/>
          </a:p>
        </p:txBody>
      </p:sp>
      <p:sp>
        <p:nvSpPr>
          <p:cNvPr id="5" name="Text 3"/>
          <p:cNvSpPr/>
          <p:nvPr/>
        </p:nvSpPr>
        <p:spPr>
          <a:xfrm>
            <a:off x="457200" y="4297680"/>
            <a:ext cx="8229600" cy="640080"/>
          </a:xfrm>
          <a:prstGeom prst="rect">
            <a:avLst/>
          </a:prstGeom>
          <a:noFill/>
          <a:ln/>
        </p:spPr>
        <p:txBody>
          <a:bodyPr wrap="square" rtlCol="0" anchor="t"/>
          <a:lstStyle/>
          <a:p>
            <a:pPr marL="0" indent="0">
              <a:buNone/>
            </a:pPr>
            <a:r>
              <a:rPr lang="en-US" sz="1300" b="1" dirty="0">
                <a:latin typeface="Calibri" pitchFamily="34" charset="0"/>
                <a:ea typeface="Calibri" pitchFamily="34" charset="-122"/>
                <a:cs typeface="Calibri" pitchFamily="34" charset="-120"/>
              </a:rPr>
              <a:t>These are tokenizer artifacts. </a:t>
            </a:r>
            <a:r>
              <a:rPr lang="en-US" sz="1300" i="1" dirty="0">
                <a:latin typeface="Calibri" pitchFamily="34" charset="0"/>
                <a:ea typeface="Calibri" pitchFamily="34" charset="-122"/>
                <a:cs typeface="Calibri" pitchFamily="34" charset="-120"/>
              </a:rPr>
              <a:t>The model doesn't 'see' characters — it sees tokens. Asking it to count letters in 'strawberry' is like asking you to count letters in a word you only ever heard spoken.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Confidence ≠ correctness</a:t>
            </a:r>
            <a:endParaRPr lang="en-US" sz="2800" dirty="0"/>
          </a:p>
        </p:txBody>
      </p:sp>
      <p:sp>
        <p:nvSpPr>
          <p:cNvPr id="4" name="Content Placeholder 3">
            <a:extLst>
              <a:ext uri="{FF2B5EF4-FFF2-40B4-BE49-F238E27FC236}">
                <a16:creationId xmlns:a16="http://schemas.microsoft.com/office/drawing/2014/main" id="{5F7B8054-4139-1D5C-2393-A4BD309DDDCE}"/>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31</a:t>
            </a:fld>
            <a:endParaRPr lang="en-US">
              <a:solidFill>
                <a:schemeClr val="tx1"/>
              </a:solidFill>
            </a:endParaRPr>
          </a:p>
        </p:txBody>
      </p:sp>
      <p:sp>
        <p:nvSpPr>
          <p:cNvPr id="3" name="Text 1"/>
          <p:cNvSpPr/>
          <p:nvPr/>
        </p:nvSpPr>
        <p:spPr>
          <a:xfrm>
            <a:off x="457200" y="1188720"/>
            <a:ext cx="8229600" cy="3657600"/>
          </a:xfrm>
          <a:prstGeom prst="rect">
            <a:avLst/>
          </a:prstGeom>
          <a:noFill/>
          <a:ln/>
        </p:spPr>
        <p:txBody>
          <a:bodyPr wrap="square" rtlCol="0" anchor="t"/>
          <a:lstStyle/>
          <a:p>
            <a:pPr marL="0" indent="0">
              <a:spcAft>
                <a:spcPts val="1200"/>
              </a:spcAft>
              <a:buNone/>
            </a:pPr>
            <a:r>
              <a:rPr lang="en-US" sz="1500" b="1" dirty="0">
                <a:latin typeface="Calibri" pitchFamily="34" charset="0"/>
                <a:ea typeface="Calibri" pitchFamily="34" charset="-122"/>
                <a:cs typeface="Calibri" pitchFamily="34" charset="-120"/>
              </a:rPr>
              <a:t>LLMs don't express uncertainty naturally. </a:t>
            </a:r>
            <a:endParaRPr lang="en-US" sz="1500" dirty="0"/>
          </a:p>
          <a:p>
            <a:pPr marL="0" indent="0">
              <a:spcAft>
                <a:spcPts val="1600"/>
              </a:spcAft>
              <a:buNone/>
            </a:pPr>
            <a:r>
              <a:rPr lang="en-US" sz="1500" dirty="0">
                <a:latin typeface="Calibri" pitchFamily="34" charset="0"/>
                <a:ea typeface="Calibri" pitchFamily="34" charset="-122"/>
                <a:cs typeface="Calibri" pitchFamily="34" charset="-120"/>
              </a:rPr>
              <a:t>Wrong answers come in the same confident tone as right ones. There's no 'I'm guessing here' instinct unless RLHF specifically trained one in.</a:t>
            </a:r>
            <a:endParaRPr lang="en-US" sz="1500" dirty="0"/>
          </a:p>
          <a:p>
            <a:pPr marL="0" indent="0">
              <a:spcAft>
                <a:spcPts val="800"/>
              </a:spcAft>
              <a:buNone/>
            </a:pPr>
            <a:r>
              <a:rPr lang="en-US" sz="1500" b="1" dirty="0">
                <a:latin typeface="Calibri" pitchFamily="34" charset="0"/>
                <a:ea typeface="Calibri" pitchFamily="34" charset="-122"/>
                <a:cs typeface="Calibri" pitchFamily="34" charset="-120"/>
              </a:rPr>
              <a:t>The most dangerous output:</a:t>
            </a:r>
            <a:endParaRPr lang="en-US" sz="1500" dirty="0"/>
          </a:p>
          <a:p>
            <a:pPr marL="0" indent="0">
              <a:buNone/>
            </a:pPr>
            <a:r>
              <a:rPr lang="en-US" sz="1500" dirty="0">
                <a:latin typeface="Calibri" pitchFamily="34" charset="0"/>
                <a:ea typeface="Calibri" pitchFamily="34" charset="-122"/>
                <a:cs typeface="Calibri" pitchFamily="34" charset="-120"/>
              </a:rPr>
              <a:t>•  Compiles</a:t>
            </a:r>
            <a:endParaRPr lang="en-US" sz="1500" dirty="0"/>
          </a:p>
          <a:p>
            <a:pPr marL="0" indent="0">
              <a:buNone/>
            </a:pPr>
            <a:r>
              <a:rPr lang="en-US" sz="1500" dirty="0">
                <a:latin typeface="Calibri" pitchFamily="34" charset="0"/>
                <a:ea typeface="Calibri" pitchFamily="34" charset="-122"/>
                <a:cs typeface="Calibri" pitchFamily="34" charset="-120"/>
              </a:rPr>
              <a:t>•  Looks idiomatic</a:t>
            </a:r>
            <a:endParaRPr lang="en-US" sz="1500" dirty="0"/>
          </a:p>
          <a:p>
            <a:pPr marL="0" indent="0">
              <a:buNone/>
            </a:pPr>
            <a:r>
              <a:rPr lang="en-US" sz="1500" dirty="0">
                <a:latin typeface="Calibri" pitchFamily="34" charset="0"/>
                <a:ea typeface="Calibri" pitchFamily="34" charset="-122"/>
                <a:cs typeface="Calibri" pitchFamily="34" charset="-120"/>
              </a:rPr>
              <a:t>•  Uses real APIs</a:t>
            </a:r>
            <a:endParaRPr lang="en-US" sz="1500" dirty="0"/>
          </a:p>
          <a:p>
            <a:pPr marL="0" indent="0">
              <a:spcAft>
                <a:spcPts val="1600"/>
              </a:spcAft>
              <a:buNone/>
            </a:pPr>
            <a:r>
              <a:rPr lang="en-US" sz="1500" b="1" dirty="0">
                <a:latin typeface="Calibri" pitchFamily="34" charset="0"/>
                <a:ea typeface="Calibri" pitchFamily="34" charset="-122"/>
                <a:cs typeface="Calibri" pitchFamily="34" charset="-120"/>
              </a:rPr>
              <a:t>•  Is subtly, confidently wrong</a:t>
            </a:r>
            <a:endParaRPr lang="en-US" sz="1500" dirty="0"/>
          </a:p>
          <a:p>
            <a:pPr marL="0" indent="0">
              <a:buNone/>
            </a:pPr>
            <a:r>
              <a:rPr lang="en-US" sz="1500" b="1" dirty="0">
                <a:latin typeface="Calibri" pitchFamily="34" charset="0"/>
                <a:ea typeface="Calibri" pitchFamily="34" charset="-122"/>
                <a:cs typeface="Calibri" pitchFamily="34" charset="-120"/>
              </a:rPr>
              <a:t>This is why the 'last mile' is non-negotiable: </a:t>
            </a:r>
            <a:r>
              <a:rPr lang="en-US" sz="1500" i="1" dirty="0">
                <a:latin typeface="Calibri" pitchFamily="34" charset="0"/>
                <a:ea typeface="Calibri" pitchFamily="34" charset="-122"/>
                <a:cs typeface="Calibri" pitchFamily="34" charset="-120"/>
              </a:rPr>
              <a:t>every line of agent-generated code gets human eyes before it ships. We'll keep coming back to this all week.</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0"/>
          <p:cNvSpPr>
            <a:spLocks noGrp="1"/>
          </p:cNvSpPr>
          <p:nvPr>
            <p:ph type="title"/>
          </p:nvPr>
        </p:nvSpPr>
        <p:spPr>
          <a:prstGeom prst="rect">
            <a:avLst/>
          </a:prstGeom>
          <a:noFill/>
          <a:ln/>
        </p:spPr>
        <p:txBody>
          <a:bodyPr wrap="square" lIns="0" tIns="0" rIns="0" bIns="0" rtlCol="0" anchor="ctr"/>
          <a:lstStyle/>
          <a:p>
            <a:pPr marL="0" indent="0" algn="l">
              <a:buNone/>
            </a:pPr>
            <a:r>
              <a:rPr lang="en-US" sz="3600" b="1" dirty="0">
                <a:latin typeface="Calibri" pitchFamily="34" charset="0"/>
                <a:ea typeface="Calibri" pitchFamily="34" charset="-122"/>
                <a:cs typeface="Calibri" pitchFamily="34" charset="-120"/>
              </a:rPr>
              <a:t>Picking the right model</a:t>
            </a:r>
            <a:endParaRPr lang="en-US" sz="3600" dirty="0"/>
          </a:p>
        </p:txBody>
      </p:sp>
      <p:sp>
        <p:nvSpPr>
          <p:cNvPr id="2" name="Text 0"/>
          <p:cNvSpPr>
            <a:spLocks noGrp="1"/>
          </p:cNvSpPr>
          <p:nvPr>
            <p:ph idx="1"/>
          </p:nvPr>
        </p:nvSpPr>
        <p:spPr>
          <a:prstGeom prst="rect">
            <a:avLst/>
          </a:prstGeom>
          <a:noFill/>
          <a:ln/>
        </p:spPr>
        <p:txBody>
          <a:bodyPr wrap="square" lIns="0" tIns="0" rIns="0" bIns="0" rtlCol="0" anchor="ctr"/>
          <a:lstStyle/>
          <a:p>
            <a:pPr marL="0" indent="0" algn="l">
              <a:buNone/>
            </a:pPr>
            <a:r>
              <a:rPr lang="en-US" sz="1400" b="1" kern="0" spc="300" dirty="0">
                <a:latin typeface="Calibri" pitchFamily="34" charset="0"/>
                <a:ea typeface="Calibri" pitchFamily="34" charset="-122"/>
                <a:cs typeface="Calibri" pitchFamily="34" charset="-120"/>
              </a:rPr>
              <a:t>BLOCK 7  ·  10 MINUTES</a:t>
            </a:r>
            <a:endParaRPr lang="en-US" sz="1400" dirty="0"/>
          </a:p>
        </p:txBody>
      </p:sp>
      <p:sp>
        <p:nvSpPr>
          <p:cNvPr id="4" name="Text 0"/>
          <p:cNvSpPr>
            <a:spLocks noGrp="1"/>
          </p:cNvSpPr>
          <p:nvPr>
            <p:ph type="body" idx="4294967295"/>
          </p:nvPr>
        </p:nvSpPr>
        <p:spPr>
          <a:xfrm>
            <a:off x="0" y="3521075"/>
            <a:ext cx="8045450" cy="457200"/>
          </a:xfrm>
          <a:prstGeom prst="rect">
            <a:avLst/>
          </a:prstGeom>
          <a:noFill/>
          <a:ln/>
        </p:spPr>
        <p:txBody>
          <a:bodyPr wrap="square" lIns="0" tIns="0" rIns="0" bIns="0" rtlCol="0" anchor="t"/>
          <a:lstStyle/>
          <a:p>
            <a:pPr marL="0" indent="0" algn="l">
              <a:buNone/>
            </a:pPr>
            <a:r>
              <a:rPr lang="en-US" sz="1600" dirty="0">
                <a:latin typeface="Calibri" pitchFamily="34" charset="0"/>
                <a:ea typeface="Calibri" pitchFamily="34" charset="-122"/>
                <a:cs typeface="Calibri" pitchFamily="34" charset="-120"/>
              </a:rPr>
              <a:t>Three dials, one decision per task</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The landscape today</a:t>
            </a:r>
            <a:endParaRPr lang="en-US" sz="2800" dirty="0"/>
          </a:p>
        </p:txBody>
      </p:sp>
      <p:sp>
        <p:nvSpPr>
          <p:cNvPr id="4" name="Content Placeholder 3">
            <a:extLst>
              <a:ext uri="{FF2B5EF4-FFF2-40B4-BE49-F238E27FC236}">
                <a16:creationId xmlns:a16="http://schemas.microsoft.com/office/drawing/2014/main" id="{C5B8136F-DABF-CE7C-9CB1-B7E9C184C304}"/>
              </a:ext>
            </a:extLst>
          </p:cNvPr>
          <p:cNvSpPr>
            <a:spLocks noGrp="1"/>
          </p:cNvSpPr>
          <p:nvPr>
            <p:ph idx="1"/>
          </p:nvPr>
        </p:nvSpPr>
        <p:spPr/>
        <p:txBody>
          <a:bodyPr/>
          <a:lstStyle/>
          <a:p>
            <a:endParaRPr lang="LID4096"/>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33</a:t>
            </a:fld>
            <a:endParaRPr lang="en-US">
              <a:solidFill>
                <a:schemeClr val="tx1"/>
              </a:solidFill>
            </a:endParaRPr>
          </a:p>
        </p:txBody>
      </p:sp>
      <p:sp>
        <p:nvSpPr>
          <p:cNvPr id="3" name="Text 1"/>
          <p:cNvSpPr/>
          <p:nvPr/>
        </p:nvSpPr>
        <p:spPr>
          <a:xfrm>
            <a:off x="457200" y="1188720"/>
            <a:ext cx="8229600" cy="3657600"/>
          </a:xfrm>
          <a:prstGeom prst="rect">
            <a:avLst/>
          </a:prstGeom>
          <a:noFill/>
          <a:ln/>
        </p:spPr>
        <p:txBody>
          <a:bodyPr wrap="square" rtlCol="0" anchor="t"/>
          <a:lstStyle/>
          <a:p>
            <a:pPr marL="0" indent="0">
              <a:spcAft>
                <a:spcPts val="600"/>
              </a:spcAft>
              <a:buNone/>
            </a:pPr>
            <a:r>
              <a:rPr lang="en-US" sz="1400" b="1" dirty="0">
                <a:latin typeface="Calibri" pitchFamily="34" charset="0"/>
                <a:ea typeface="Calibri" pitchFamily="34" charset="-122"/>
                <a:cs typeface="Calibri" pitchFamily="34" charset="-120"/>
              </a:rPr>
              <a:t>Frontier labs</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OpenAI</a:t>
            </a:r>
            <a:r>
              <a:rPr lang="en-US" sz="1400" dirty="0">
                <a:latin typeface="Calibri" pitchFamily="34" charset="0"/>
                <a:ea typeface="Calibri" pitchFamily="34" charset="-122"/>
                <a:cs typeface="Calibri" pitchFamily="34" charset="-120"/>
              </a:rPr>
              <a:t> — GPT family (chat) and o-series (reasoning)</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Anthropic</a:t>
            </a:r>
            <a:r>
              <a:rPr lang="en-US" sz="1400" dirty="0">
                <a:latin typeface="Calibri" pitchFamily="34" charset="0"/>
                <a:ea typeface="Calibri" pitchFamily="34" charset="-122"/>
                <a:cs typeface="Calibri" pitchFamily="34" charset="-120"/>
              </a:rPr>
              <a:t> — Claude family (Opus, Sonnet, Haiku) with extended thinking modes</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Google</a:t>
            </a:r>
            <a:r>
              <a:rPr lang="en-US" sz="1400" dirty="0">
                <a:latin typeface="Calibri" pitchFamily="34" charset="0"/>
                <a:ea typeface="Calibri" pitchFamily="34" charset="-122"/>
                <a:cs typeface="Calibri" pitchFamily="34" charset="-120"/>
              </a:rPr>
              <a:t> — Gemini family (Pro, Flash) with Deep Think variants</a:t>
            </a:r>
            <a:endParaRPr lang="en-US" sz="1400" dirty="0"/>
          </a:p>
          <a:p>
            <a:pPr marL="0" indent="0">
              <a:spcAft>
                <a:spcPts val="600"/>
              </a:spcAft>
              <a:buNone/>
            </a:pPr>
            <a:r>
              <a:rPr lang="en-US" sz="1400" b="1" dirty="0">
                <a:latin typeface="Calibri" pitchFamily="34" charset="0"/>
                <a:ea typeface="Calibri" pitchFamily="34" charset="-122"/>
                <a:cs typeface="Calibri" pitchFamily="34" charset="-120"/>
              </a:rPr>
              <a:t>Open weights</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Meta</a:t>
            </a:r>
            <a:r>
              <a:rPr lang="en-US" sz="1400" dirty="0">
                <a:latin typeface="Calibri" pitchFamily="34" charset="0"/>
                <a:ea typeface="Calibri" pitchFamily="34" charset="-122"/>
                <a:cs typeface="Calibri" pitchFamily="34" charset="-120"/>
              </a:rPr>
              <a:t> — Llama family</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Mistral</a:t>
            </a:r>
            <a:r>
              <a:rPr lang="en-US" sz="1400" dirty="0">
                <a:latin typeface="Calibri" pitchFamily="34" charset="0"/>
                <a:ea typeface="Calibri" pitchFamily="34" charset="-122"/>
                <a:cs typeface="Calibri" pitchFamily="34" charset="-120"/>
              </a:rPr>
              <a:t> — Mistral and Mixtral lines</a:t>
            </a:r>
            <a:endParaRPr lang="en-US" sz="1400" dirty="0"/>
          </a:p>
          <a:p>
            <a:pPr marL="0" indent="0">
              <a:buNone/>
            </a:pPr>
            <a:r>
              <a:rPr lang="en-US" sz="1400" dirty="0">
                <a:latin typeface="Calibri" pitchFamily="34" charset="0"/>
                <a:ea typeface="Calibri" pitchFamily="34" charset="-122"/>
                <a:cs typeface="Calibri" pitchFamily="34" charset="-120"/>
              </a:rPr>
              <a:t>•  </a:t>
            </a:r>
            <a:r>
              <a:rPr lang="en-US" sz="1400" b="1" dirty="0">
                <a:latin typeface="Calibri" pitchFamily="34" charset="0"/>
                <a:ea typeface="Calibri" pitchFamily="34" charset="-122"/>
                <a:cs typeface="Calibri" pitchFamily="34" charset="-120"/>
              </a:rPr>
              <a:t>DeepSeek, Qwen, others</a:t>
            </a:r>
            <a:r>
              <a:rPr lang="en-US" sz="1400" dirty="0">
                <a:latin typeface="Calibri" pitchFamily="34" charset="0"/>
                <a:ea typeface="Calibri" pitchFamily="34" charset="-122"/>
                <a:cs typeface="Calibri" pitchFamily="34" charset="-120"/>
              </a:rPr>
              <a:t> — strong code-tuned options</a:t>
            </a:r>
            <a:endParaRPr lang="en-US" sz="1400" dirty="0"/>
          </a:p>
          <a:p>
            <a:pPr marL="0" indent="0">
              <a:buNone/>
            </a:pPr>
            <a:r>
              <a:rPr lang="en-US" sz="1300" i="1" dirty="0">
                <a:latin typeface="Calibri" pitchFamily="34" charset="0"/>
                <a:ea typeface="Calibri" pitchFamily="34" charset="-122"/>
                <a:cs typeface="Calibri" pitchFamily="34" charset="-120"/>
              </a:rPr>
              <a:t>Copilot currently offers a mix from these. Which models are available depends on your plan and may change month-to-month — check docs.github.com.</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ctr"/>
          <a:lstStyle/>
          <a:p>
            <a:pPr marL="0" indent="0" algn="l">
              <a:buNone/>
            </a:pPr>
            <a:r>
              <a:rPr lang="en-US" sz="2800" b="1" dirty="0">
                <a:latin typeface="Calibri" pitchFamily="34" charset="0"/>
                <a:ea typeface="Calibri" pitchFamily="34" charset="-122"/>
                <a:cs typeface="Calibri" pitchFamily="34" charset="-120"/>
              </a:rPr>
              <a:t>Three dials: cost, latency, quality</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34</a:t>
            </a:fld>
            <a:endParaRPr lang="en-US">
              <a:solidFill>
                <a:schemeClr val="tx1"/>
              </a:solidFill>
            </a:endParaRPr>
          </a:p>
        </p:txBody>
      </p:sp>
      <p:sp>
        <p:nvSpPr>
          <p:cNvPr id="3" name="Text 1"/>
          <p:cNvSpPr/>
          <p:nvPr/>
        </p:nvSpPr>
        <p:spPr>
          <a:xfrm>
            <a:off x="457200" y="1188720"/>
            <a:ext cx="8229600" cy="640080"/>
          </a:xfrm>
          <a:prstGeom prst="rect">
            <a:avLst/>
          </a:prstGeom>
          <a:noFill/>
          <a:ln/>
        </p:spPr>
        <p:txBody>
          <a:bodyPr wrap="square" rtlCol="0" anchor="ctr"/>
          <a:lstStyle/>
          <a:p>
            <a:pPr marL="0" indent="0">
              <a:buNone/>
            </a:pPr>
            <a:r>
              <a:rPr lang="en-US" sz="1600" i="1" dirty="0">
                <a:latin typeface="Calibri" pitchFamily="34" charset="0"/>
                <a:ea typeface="Calibri" pitchFamily="34" charset="-122"/>
                <a:cs typeface="Calibri" pitchFamily="34" charset="-120"/>
              </a:rPr>
              <a:t>You can have any two, never all three. Picking a model is picking which two matter for this task.</a:t>
            </a:r>
            <a:endParaRPr lang="en-US" sz="1600" dirty="0"/>
          </a:p>
        </p:txBody>
      </p:sp>
      <p:sp>
        <p:nvSpPr>
          <p:cNvPr id="4" name="Shape 2"/>
          <p:cNvSpPr/>
          <p:nvPr/>
        </p:nvSpPr>
        <p:spPr>
          <a:xfrm>
            <a:off x="365760" y="2011680"/>
            <a:ext cx="2606040" cy="2468880"/>
          </a:xfrm>
          <a:prstGeom prst="roundRect">
            <a:avLst>
              <a:gd name="adj" fmla="val 2963"/>
            </a:avLst>
          </a:prstGeom>
          <a:solidFill>
            <a:srgbClr val="FAFAFA"/>
          </a:solidFill>
          <a:ln w="6350">
            <a:solidFill>
              <a:srgbClr val="D6D6D6"/>
            </a:solidFill>
            <a:prstDash val="solid"/>
          </a:ln>
        </p:spPr>
        <p:txBody>
          <a:bodyPr/>
          <a:lstStyle/>
          <a:p>
            <a:endParaRPr lang="en-US">
              <a:solidFill>
                <a:schemeClr val="accent2">
                  <a:lumMod val="75000"/>
                </a:schemeClr>
              </a:solidFill>
            </a:endParaRPr>
          </a:p>
        </p:txBody>
      </p:sp>
      <p:sp>
        <p:nvSpPr>
          <p:cNvPr id="5" name="Text 3"/>
          <p:cNvSpPr/>
          <p:nvPr/>
        </p:nvSpPr>
        <p:spPr>
          <a:xfrm>
            <a:off x="530352" y="2148840"/>
            <a:ext cx="2276856" cy="365760"/>
          </a:xfrm>
          <a:prstGeom prst="rect">
            <a:avLst/>
          </a:prstGeom>
          <a:noFill/>
          <a:ln/>
        </p:spPr>
        <p:txBody>
          <a:bodyPr wrap="square" rtlCol="0" anchor="ctr"/>
          <a:lstStyle/>
          <a:p>
            <a:pPr marL="0" indent="0">
              <a:buNone/>
            </a:pPr>
            <a:r>
              <a:rPr lang="en-US" sz="1600" b="1" dirty="0">
                <a:solidFill>
                  <a:schemeClr val="accent2">
                    <a:lumMod val="75000"/>
                  </a:schemeClr>
                </a:solidFill>
                <a:latin typeface="Calibri" pitchFamily="34" charset="0"/>
                <a:ea typeface="Calibri" pitchFamily="34" charset="-122"/>
                <a:cs typeface="Calibri" pitchFamily="34" charset="-120"/>
              </a:rPr>
              <a:t>Cheap &amp; fast</a:t>
            </a:r>
            <a:endParaRPr lang="en-US" sz="1600" dirty="0">
              <a:solidFill>
                <a:schemeClr val="accent2">
                  <a:lumMod val="75000"/>
                </a:schemeClr>
              </a:solidFill>
            </a:endParaRPr>
          </a:p>
        </p:txBody>
      </p:sp>
      <p:sp>
        <p:nvSpPr>
          <p:cNvPr id="6" name="Text 4"/>
          <p:cNvSpPr/>
          <p:nvPr/>
        </p:nvSpPr>
        <p:spPr>
          <a:xfrm>
            <a:off x="530352" y="2514600"/>
            <a:ext cx="2276856" cy="365760"/>
          </a:xfrm>
          <a:prstGeom prst="rect">
            <a:avLst/>
          </a:prstGeom>
          <a:noFill/>
          <a:ln/>
        </p:spPr>
        <p:txBody>
          <a:bodyPr wrap="square" rtlCol="0" anchor="t"/>
          <a:lstStyle/>
          <a:p>
            <a:pPr marL="0" indent="0">
              <a:buNone/>
            </a:pPr>
            <a:r>
              <a:rPr lang="en-US" sz="1100" i="1" dirty="0">
                <a:solidFill>
                  <a:schemeClr val="accent2">
                    <a:lumMod val="75000"/>
                  </a:schemeClr>
                </a:solidFill>
                <a:latin typeface="Calibri" pitchFamily="34" charset="0"/>
                <a:ea typeface="Calibri" pitchFamily="34" charset="-122"/>
                <a:cs typeface="Calibri" pitchFamily="34" charset="-120"/>
              </a:rPr>
              <a:t>Haiku, Flash, GPT-4o-mini class</a:t>
            </a:r>
            <a:endParaRPr lang="en-US" sz="1100" dirty="0">
              <a:solidFill>
                <a:schemeClr val="accent2">
                  <a:lumMod val="75000"/>
                </a:schemeClr>
              </a:solidFill>
            </a:endParaRPr>
          </a:p>
        </p:txBody>
      </p:sp>
      <p:sp>
        <p:nvSpPr>
          <p:cNvPr id="7" name="Text 5"/>
          <p:cNvSpPr/>
          <p:nvPr/>
        </p:nvSpPr>
        <p:spPr>
          <a:xfrm>
            <a:off x="530352" y="2926080"/>
            <a:ext cx="2276856" cy="274320"/>
          </a:xfrm>
          <a:prstGeom prst="rect">
            <a:avLst/>
          </a:prstGeom>
          <a:noFill/>
          <a:ln/>
        </p:spPr>
        <p:txBody>
          <a:bodyPr wrap="square" rtlCol="0" anchor="t"/>
          <a:lstStyle/>
          <a:p>
            <a:pPr marL="0" indent="0">
              <a:buNone/>
            </a:pPr>
            <a:r>
              <a:rPr lang="en-US" sz="1100" b="1" dirty="0">
                <a:solidFill>
                  <a:schemeClr val="accent2">
                    <a:lumMod val="75000"/>
                  </a:schemeClr>
                </a:solidFill>
                <a:latin typeface="Calibri" pitchFamily="34" charset="0"/>
                <a:ea typeface="Calibri" pitchFamily="34" charset="-122"/>
                <a:cs typeface="Calibri" pitchFamily="34" charset="-120"/>
              </a:rPr>
              <a:t>Good for:</a:t>
            </a:r>
            <a:endParaRPr lang="en-US" sz="1100" dirty="0">
              <a:solidFill>
                <a:schemeClr val="accent2">
                  <a:lumMod val="75000"/>
                </a:schemeClr>
              </a:solidFill>
            </a:endParaRPr>
          </a:p>
        </p:txBody>
      </p:sp>
      <p:sp>
        <p:nvSpPr>
          <p:cNvPr id="8" name="Text 6"/>
          <p:cNvSpPr/>
          <p:nvPr/>
        </p:nvSpPr>
        <p:spPr>
          <a:xfrm>
            <a:off x="530352" y="3200400"/>
            <a:ext cx="2276856" cy="640080"/>
          </a:xfrm>
          <a:prstGeom prst="rect">
            <a:avLst/>
          </a:prstGeom>
          <a:noFill/>
          <a:ln/>
        </p:spPr>
        <p:txBody>
          <a:bodyPr wrap="square" rtlCol="0" anchor="t"/>
          <a:lstStyle/>
          <a:p>
            <a:pPr marL="0" indent="0">
              <a:buNone/>
            </a:pPr>
            <a:r>
              <a:rPr lang="en-US" sz="1200" dirty="0">
                <a:solidFill>
                  <a:schemeClr val="accent2">
                    <a:lumMod val="75000"/>
                  </a:schemeClr>
                </a:solidFill>
                <a:latin typeface="Calibri" pitchFamily="34" charset="0"/>
                <a:ea typeface="Calibri" pitchFamily="34" charset="-122"/>
                <a:cs typeface="Calibri" pitchFamily="34" charset="-120"/>
              </a:rPr>
              <a:t>Autocomplete, simple chat, classification</a:t>
            </a:r>
            <a:endParaRPr lang="en-US" sz="1200" dirty="0">
              <a:solidFill>
                <a:schemeClr val="accent2">
                  <a:lumMod val="75000"/>
                </a:schemeClr>
              </a:solidFill>
            </a:endParaRPr>
          </a:p>
        </p:txBody>
      </p:sp>
      <p:sp>
        <p:nvSpPr>
          <p:cNvPr id="9" name="Text 7"/>
          <p:cNvSpPr/>
          <p:nvPr/>
        </p:nvSpPr>
        <p:spPr>
          <a:xfrm>
            <a:off x="530352" y="3886200"/>
            <a:ext cx="2276856" cy="502920"/>
          </a:xfrm>
          <a:prstGeom prst="rect">
            <a:avLst/>
          </a:prstGeom>
          <a:noFill/>
          <a:ln/>
        </p:spPr>
        <p:txBody>
          <a:bodyPr wrap="square" rtlCol="0" anchor="t"/>
          <a:lstStyle/>
          <a:p>
            <a:pPr marL="0" indent="0">
              <a:buNone/>
            </a:pPr>
            <a:r>
              <a:rPr lang="en-US" sz="1100" i="1" dirty="0">
                <a:solidFill>
                  <a:schemeClr val="accent2">
                    <a:lumMod val="75000"/>
                  </a:schemeClr>
                </a:solidFill>
                <a:latin typeface="Calibri" pitchFamily="34" charset="0"/>
                <a:ea typeface="Calibri" pitchFamily="34" charset="-122"/>
                <a:cs typeface="Calibri" pitchFamily="34" charset="-120"/>
              </a:rPr>
              <a:t>Misses nuance on complex tasks</a:t>
            </a:r>
            <a:endParaRPr lang="en-US" sz="1100" dirty="0">
              <a:solidFill>
                <a:schemeClr val="accent2">
                  <a:lumMod val="75000"/>
                </a:schemeClr>
              </a:solidFill>
            </a:endParaRPr>
          </a:p>
        </p:txBody>
      </p:sp>
      <p:sp>
        <p:nvSpPr>
          <p:cNvPr id="10" name="Shape 8"/>
          <p:cNvSpPr/>
          <p:nvPr/>
        </p:nvSpPr>
        <p:spPr>
          <a:xfrm>
            <a:off x="3154680" y="2011680"/>
            <a:ext cx="2606040" cy="2468880"/>
          </a:xfrm>
          <a:prstGeom prst="roundRect">
            <a:avLst>
              <a:gd name="adj" fmla="val 2963"/>
            </a:avLst>
          </a:prstGeom>
          <a:solidFill>
            <a:srgbClr val="FAFAFA"/>
          </a:solidFill>
          <a:ln w="6350">
            <a:solidFill>
              <a:srgbClr val="D6D6D6"/>
            </a:solidFill>
            <a:prstDash val="solid"/>
          </a:ln>
        </p:spPr>
        <p:txBody>
          <a:bodyPr/>
          <a:lstStyle/>
          <a:p>
            <a:endParaRPr lang="en-US">
              <a:solidFill>
                <a:schemeClr val="accent6">
                  <a:lumMod val="50000"/>
                </a:schemeClr>
              </a:solidFill>
            </a:endParaRPr>
          </a:p>
        </p:txBody>
      </p:sp>
      <p:sp>
        <p:nvSpPr>
          <p:cNvPr id="11" name="Text 9"/>
          <p:cNvSpPr/>
          <p:nvPr/>
        </p:nvSpPr>
        <p:spPr>
          <a:xfrm>
            <a:off x="3319272" y="2148840"/>
            <a:ext cx="2276856" cy="365760"/>
          </a:xfrm>
          <a:prstGeom prst="rect">
            <a:avLst/>
          </a:prstGeom>
          <a:noFill/>
          <a:ln/>
        </p:spPr>
        <p:txBody>
          <a:bodyPr wrap="square" rtlCol="0" anchor="ctr"/>
          <a:lstStyle/>
          <a:p>
            <a:pPr marL="0" indent="0">
              <a:buNone/>
            </a:pPr>
            <a:r>
              <a:rPr lang="en-US" sz="1600" b="1" dirty="0">
                <a:solidFill>
                  <a:schemeClr val="accent6">
                    <a:lumMod val="50000"/>
                  </a:schemeClr>
                </a:solidFill>
                <a:latin typeface="Calibri" pitchFamily="34" charset="0"/>
                <a:ea typeface="Calibri" pitchFamily="34" charset="-122"/>
                <a:cs typeface="Calibri" pitchFamily="34" charset="-120"/>
              </a:rPr>
              <a:t>Balanced</a:t>
            </a:r>
            <a:endParaRPr lang="en-US" sz="1600" dirty="0">
              <a:solidFill>
                <a:schemeClr val="accent6">
                  <a:lumMod val="50000"/>
                </a:schemeClr>
              </a:solidFill>
            </a:endParaRPr>
          </a:p>
        </p:txBody>
      </p:sp>
      <p:sp>
        <p:nvSpPr>
          <p:cNvPr id="12" name="Text 10"/>
          <p:cNvSpPr/>
          <p:nvPr/>
        </p:nvSpPr>
        <p:spPr>
          <a:xfrm>
            <a:off x="3319272" y="2514600"/>
            <a:ext cx="2276856" cy="365760"/>
          </a:xfrm>
          <a:prstGeom prst="rect">
            <a:avLst/>
          </a:prstGeom>
          <a:noFill/>
          <a:ln/>
        </p:spPr>
        <p:txBody>
          <a:bodyPr wrap="square" rtlCol="0" anchor="t"/>
          <a:lstStyle/>
          <a:p>
            <a:pPr marL="0" indent="0">
              <a:buNone/>
            </a:pPr>
            <a:r>
              <a:rPr lang="en-US" sz="1100" i="1" dirty="0">
                <a:solidFill>
                  <a:schemeClr val="accent6">
                    <a:lumMod val="50000"/>
                  </a:schemeClr>
                </a:solidFill>
                <a:latin typeface="Calibri" pitchFamily="34" charset="0"/>
                <a:ea typeface="Calibri" pitchFamily="34" charset="-122"/>
                <a:cs typeface="Calibri" pitchFamily="34" charset="-120"/>
              </a:rPr>
              <a:t>Sonnet, GPT-4o, Gemini Pro</a:t>
            </a:r>
            <a:endParaRPr lang="en-US" sz="1100" dirty="0">
              <a:solidFill>
                <a:schemeClr val="accent6">
                  <a:lumMod val="50000"/>
                </a:schemeClr>
              </a:solidFill>
            </a:endParaRPr>
          </a:p>
        </p:txBody>
      </p:sp>
      <p:sp>
        <p:nvSpPr>
          <p:cNvPr id="13" name="Text 11"/>
          <p:cNvSpPr/>
          <p:nvPr/>
        </p:nvSpPr>
        <p:spPr>
          <a:xfrm>
            <a:off x="3319272" y="2926080"/>
            <a:ext cx="2276856" cy="274320"/>
          </a:xfrm>
          <a:prstGeom prst="rect">
            <a:avLst/>
          </a:prstGeom>
          <a:noFill/>
          <a:ln/>
        </p:spPr>
        <p:txBody>
          <a:bodyPr wrap="square" rtlCol="0" anchor="t"/>
          <a:lstStyle/>
          <a:p>
            <a:pPr marL="0" indent="0">
              <a:buNone/>
            </a:pPr>
            <a:r>
              <a:rPr lang="en-US" sz="1100" b="1" dirty="0">
                <a:solidFill>
                  <a:schemeClr val="accent6">
                    <a:lumMod val="50000"/>
                  </a:schemeClr>
                </a:solidFill>
                <a:latin typeface="Calibri" pitchFamily="34" charset="0"/>
                <a:ea typeface="Calibri" pitchFamily="34" charset="-122"/>
                <a:cs typeface="Calibri" pitchFamily="34" charset="-120"/>
              </a:rPr>
              <a:t>Good for:</a:t>
            </a:r>
            <a:endParaRPr lang="en-US" sz="1100" dirty="0">
              <a:solidFill>
                <a:schemeClr val="accent6">
                  <a:lumMod val="50000"/>
                </a:schemeClr>
              </a:solidFill>
            </a:endParaRPr>
          </a:p>
        </p:txBody>
      </p:sp>
      <p:sp>
        <p:nvSpPr>
          <p:cNvPr id="14" name="Text 12"/>
          <p:cNvSpPr/>
          <p:nvPr/>
        </p:nvSpPr>
        <p:spPr>
          <a:xfrm>
            <a:off x="3319272" y="3200400"/>
            <a:ext cx="2276856" cy="640080"/>
          </a:xfrm>
          <a:prstGeom prst="rect">
            <a:avLst/>
          </a:prstGeom>
          <a:noFill/>
          <a:ln/>
        </p:spPr>
        <p:txBody>
          <a:bodyPr wrap="square" rtlCol="0" anchor="t"/>
          <a:lstStyle/>
          <a:p>
            <a:pPr marL="0" indent="0">
              <a:buNone/>
            </a:pPr>
            <a:r>
              <a:rPr lang="en-US" sz="1200" dirty="0">
                <a:solidFill>
                  <a:schemeClr val="accent6">
                    <a:lumMod val="50000"/>
                  </a:schemeClr>
                </a:solidFill>
                <a:latin typeface="Calibri" pitchFamily="34" charset="0"/>
                <a:ea typeface="Calibri" pitchFamily="34" charset="-122"/>
                <a:cs typeface="Calibri" pitchFamily="34" charset="-120"/>
              </a:rPr>
              <a:t>Most chat, multi-file edits, refactors</a:t>
            </a:r>
            <a:endParaRPr lang="en-US" sz="1200" dirty="0">
              <a:solidFill>
                <a:schemeClr val="accent6">
                  <a:lumMod val="50000"/>
                </a:schemeClr>
              </a:solidFill>
            </a:endParaRPr>
          </a:p>
        </p:txBody>
      </p:sp>
      <p:sp>
        <p:nvSpPr>
          <p:cNvPr id="15" name="Text 13"/>
          <p:cNvSpPr/>
          <p:nvPr/>
        </p:nvSpPr>
        <p:spPr>
          <a:xfrm>
            <a:off x="3319272" y="3886200"/>
            <a:ext cx="2276856" cy="502920"/>
          </a:xfrm>
          <a:prstGeom prst="rect">
            <a:avLst/>
          </a:prstGeom>
          <a:noFill/>
          <a:ln/>
        </p:spPr>
        <p:txBody>
          <a:bodyPr wrap="square" rtlCol="0" anchor="t"/>
          <a:lstStyle/>
          <a:p>
            <a:pPr marL="0" indent="0">
              <a:buNone/>
            </a:pPr>
            <a:r>
              <a:rPr lang="en-US" sz="1100" i="1" dirty="0">
                <a:solidFill>
                  <a:schemeClr val="accent6">
                    <a:lumMod val="50000"/>
                  </a:schemeClr>
                </a:solidFill>
                <a:latin typeface="Calibri" pitchFamily="34" charset="0"/>
                <a:ea typeface="Calibri" pitchFamily="34" charset="-122"/>
                <a:cs typeface="Calibri" pitchFamily="34" charset="-120"/>
              </a:rPr>
              <a:t>Sweet spot for daily work</a:t>
            </a:r>
            <a:endParaRPr lang="en-US" sz="1100" dirty="0">
              <a:solidFill>
                <a:schemeClr val="accent6">
                  <a:lumMod val="50000"/>
                </a:schemeClr>
              </a:solidFill>
            </a:endParaRPr>
          </a:p>
        </p:txBody>
      </p:sp>
      <p:sp>
        <p:nvSpPr>
          <p:cNvPr id="16" name="Shape 14"/>
          <p:cNvSpPr/>
          <p:nvPr/>
        </p:nvSpPr>
        <p:spPr>
          <a:xfrm>
            <a:off x="5943600" y="2011680"/>
            <a:ext cx="2606040" cy="2468880"/>
          </a:xfrm>
          <a:prstGeom prst="roundRect">
            <a:avLst>
              <a:gd name="adj" fmla="val 2963"/>
            </a:avLst>
          </a:prstGeom>
          <a:solidFill>
            <a:srgbClr val="FAFAFA"/>
          </a:solidFill>
          <a:ln w="6350">
            <a:solidFill>
              <a:srgbClr val="D6D6D6"/>
            </a:solidFill>
            <a:prstDash val="solid"/>
          </a:ln>
        </p:spPr>
        <p:txBody>
          <a:bodyPr/>
          <a:lstStyle/>
          <a:p>
            <a:endParaRPr lang="en-US">
              <a:solidFill>
                <a:schemeClr val="accent1">
                  <a:lumMod val="50000"/>
                </a:schemeClr>
              </a:solidFill>
            </a:endParaRPr>
          </a:p>
        </p:txBody>
      </p:sp>
      <p:sp>
        <p:nvSpPr>
          <p:cNvPr id="17" name="Text 15"/>
          <p:cNvSpPr/>
          <p:nvPr/>
        </p:nvSpPr>
        <p:spPr>
          <a:xfrm>
            <a:off x="6108192" y="2148840"/>
            <a:ext cx="2276856" cy="365760"/>
          </a:xfrm>
          <a:prstGeom prst="rect">
            <a:avLst/>
          </a:prstGeom>
          <a:noFill/>
          <a:ln/>
        </p:spPr>
        <p:txBody>
          <a:bodyPr wrap="square" rtlCol="0" anchor="ctr"/>
          <a:lstStyle/>
          <a:p>
            <a:pPr marL="0" indent="0">
              <a:buNone/>
            </a:pPr>
            <a:r>
              <a:rPr lang="en-US" sz="1600" b="1" dirty="0">
                <a:solidFill>
                  <a:schemeClr val="accent1">
                    <a:lumMod val="50000"/>
                  </a:schemeClr>
                </a:solidFill>
                <a:latin typeface="Calibri" pitchFamily="34" charset="0"/>
                <a:ea typeface="Calibri" pitchFamily="34" charset="-122"/>
                <a:cs typeface="Calibri" pitchFamily="34" charset="-120"/>
              </a:rPr>
              <a:t>Premium / reasoning</a:t>
            </a:r>
            <a:endParaRPr lang="en-US" sz="1600" dirty="0">
              <a:solidFill>
                <a:schemeClr val="accent1">
                  <a:lumMod val="50000"/>
                </a:schemeClr>
              </a:solidFill>
            </a:endParaRPr>
          </a:p>
        </p:txBody>
      </p:sp>
      <p:sp>
        <p:nvSpPr>
          <p:cNvPr id="18" name="Text 16"/>
          <p:cNvSpPr/>
          <p:nvPr/>
        </p:nvSpPr>
        <p:spPr>
          <a:xfrm>
            <a:off x="6108192" y="2514600"/>
            <a:ext cx="2276856" cy="365760"/>
          </a:xfrm>
          <a:prstGeom prst="rect">
            <a:avLst/>
          </a:prstGeom>
          <a:noFill/>
          <a:ln/>
        </p:spPr>
        <p:txBody>
          <a:bodyPr wrap="square" rtlCol="0" anchor="t"/>
          <a:lstStyle/>
          <a:p>
            <a:pPr marL="0" indent="0">
              <a:buNone/>
            </a:pPr>
            <a:r>
              <a:rPr lang="en-US" sz="1100" i="1" dirty="0">
                <a:solidFill>
                  <a:schemeClr val="accent1">
                    <a:lumMod val="50000"/>
                  </a:schemeClr>
                </a:solidFill>
                <a:latin typeface="Calibri" pitchFamily="34" charset="0"/>
                <a:ea typeface="Calibri" pitchFamily="34" charset="-122"/>
                <a:cs typeface="Calibri" pitchFamily="34" charset="-120"/>
              </a:rPr>
              <a:t>Opus, o-series, Deep Think</a:t>
            </a:r>
            <a:endParaRPr lang="en-US" sz="1100" dirty="0">
              <a:solidFill>
                <a:schemeClr val="accent1">
                  <a:lumMod val="50000"/>
                </a:schemeClr>
              </a:solidFill>
            </a:endParaRPr>
          </a:p>
        </p:txBody>
      </p:sp>
      <p:sp>
        <p:nvSpPr>
          <p:cNvPr id="19" name="Text 17"/>
          <p:cNvSpPr/>
          <p:nvPr/>
        </p:nvSpPr>
        <p:spPr>
          <a:xfrm>
            <a:off x="6108192" y="2926080"/>
            <a:ext cx="2276856" cy="274320"/>
          </a:xfrm>
          <a:prstGeom prst="rect">
            <a:avLst/>
          </a:prstGeom>
          <a:noFill/>
          <a:ln/>
        </p:spPr>
        <p:txBody>
          <a:bodyPr wrap="square" rtlCol="0" anchor="t"/>
          <a:lstStyle/>
          <a:p>
            <a:pPr marL="0" indent="0">
              <a:buNone/>
            </a:pPr>
            <a:r>
              <a:rPr lang="en-US" sz="1100" b="1" dirty="0">
                <a:solidFill>
                  <a:schemeClr val="accent1">
                    <a:lumMod val="50000"/>
                  </a:schemeClr>
                </a:solidFill>
                <a:latin typeface="Calibri" pitchFamily="34" charset="0"/>
                <a:ea typeface="Calibri" pitchFamily="34" charset="-122"/>
                <a:cs typeface="Calibri" pitchFamily="34" charset="-120"/>
              </a:rPr>
              <a:t>Good for:</a:t>
            </a:r>
            <a:endParaRPr lang="en-US" sz="1100" dirty="0">
              <a:solidFill>
                <a:schemeClr val="accent1">
                  <a:lumMod val="50000"/>
                </a:schemeClr>
              </a:solidFill>
            </a:endParaRPr>
          </a:p>
        </p:txBody>
      </p:sp>
      <p:sp>
        <p:nvSpPr>
          <p:cNvPr id="20" name="Text 18"/>
          <p:cNvSpPr/>
          <p:nvPr/>
        </p:nvSpPr>
        <p:spPr>
          <a:xfrm>
            <a:off x="6108192" y="3200400"/>
            <a:ext cx="2276856" cy="640080"/>
          </a:xfrm>
          <a:prstGeom prst="rect">
            <a:avLst/>
          </a:prstGeom>
          <a:noFill/>
          <a:ln/>
        </p:spPr>
        <p:txBody>
          <a:bodyPr wrap="square" rtlCol="0" anchor="t"/>
          <a:lstStyle/>
          <a:p>
            <a:pPr marL="0" indent="0">
              <a:buNone/>
            </a:pPr>
            <a:r>
              <a:rPr lang="en-US" sz="1200" dirty="0">
                <a:solidFill>
                  <a:schemeClr val="accent1">
                    <a:lumMod val="50000"/>
                  </a:schemeClr>
                </a:solidFill>
                <a:latin typeface="Calibri" pitchFamily="34" charset="0"/>
                <a:ea typeface="Calibri" pitchFamily="34" charset="-122"/>
                <a:cs typeface="Calibri" pitchFamily="34" charset="-120"/>
              </a:rPr>
              <a:t>Complex bugs, architecture, migrations</a:t>
            </a:r>
            <a:endParaRPr lang="en-US" sz="1200" dirty="0">
              <a:solidFill>
                <a:schemeClr val="accent1">
                  <a:lumMod val="50000"/>
                </a:schemeClr>
              </a:solidFill>
            </a:endParaRPr>
          </a:p>
        </p:txBody>
      </p:sp>
      <p:sp>
        <p:nvSpPr>
          <p:cNvPr id="21" name="Text 19"/>
          <p:cNvSpPr/>
          <p:nvPr/>
        </p:nvSpPr>
        <p:spPr>
          <a:xfrm>
            <a:off x="6108192" y="3886200"/>
            <a:ext cx="2276856" cy="502920"/>
          </a:xfrm>
          <a:prstGeom prst="rect">
            <a:avLst/>
          </a:prstGeom>
          <a:noFill/>
          <a:ln/>
        </p:spPr>
        <p:txBody>
          <a:bodyPr wrap="square" rtlCol="0" anchor="t"/>
          <a:lstStyle/>
          <a:p>
            <a:pPr marL="0" indent="0">
              <a:buNone/>
            </a:pPr>
            <a:r>
              <a:rPr lang="en-US" sz="1100" i="1" dirty="0">
                <a:solidFill>
                  <a:schemeClr val="accent1">
                    <a:lumMod val="50000"/>
                  </a:schemeClr>
                </a:solidFill>
                <a:latin typeface="Calibri" pitchFamily="34" charset="0"/>
                <a:ea typeface="Calibri" pitchFamily="34" charset="-122"/>
                <a:cs typeface="Calibri" pitchFamily="34" charset="-120"/>
              </a:rPr>
              <a:t>Slow and expensive — use deliberately</a:t>
            </a:r>
            <a:endParaRPr lang="en-US" sz="1100" dirty="0">
              <a:solidFill>
                <a:schemeClr val="accent1">
                  <a:lumMod val="50000"/>
                </a:scheme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Picking models in Copilot — rules of thumb</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35</a:t>
            </a:fld>
            <a:endParaRPr lang="en-US">
              <a:solidFill>
                <a:schemeClr val="tx1"/>
              </a:solidFill>
            </a:endParaRPr>
          </a:p>
        </p:txBody>
      </p:sp>
      <p:graphicFrame>
        <p:nvGraphicFramePr>
          <p:cNvPr id="39" name="Table 0"/>
          <p:cNvGraphicFramePr>
            <a:graphicFrameLocks noGrp="1"/>
          </p:cNvGraphicFramePr>
          <p:nvPr>
            <p:extLst>
              <p:ext uri="{D42A27DB-BD31-4B8C-83A1-F6EECF244321}">
                <p14:modId xmlns:p14="http://schemas.microsoft.com/office/powerpoint/2010/main" val="3715246592"/>
              </p:ext>
            </p:extLst>
          </p:nvPr>
        </p:nvGraphicFramePr>
        <p:xfrm>
          <a:off x="457200" y="1188720"/>
          <a:ext cx="8229600" cy="3032760"/>
        </p:xfrm>
        <a:graphic>
          <a:graphicData uri="http://schemas.openxmlformats.org/drawingml/2006/table">
            <a:tbl>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1148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Task</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alpha val="45000"/>
                      </a:srgbClr>
                    </a:solid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Tier</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alpha val="45000"/>
                      </a:srgbClr>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Why</a:t>
                      </a:r>
                      <a:endParaRPr lang="en-US" sz="14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alpha val="45000"/>
                      </a:srgbClr>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Inline autocomplete</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Fast</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Latency dominates — must be sub-second</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Chat: 'explain this code'</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Balanced</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Quality matters; latency is fine at 2–5s</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Multi-file refactor</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Balanced / Premium</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Coherence across files needs a stronger model</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Plan Mode (large changes)</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Reasoning</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Architecture-level thinking is what reasoning is for</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.NET Framework → .NET Core migration</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Reasoning</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Lots of moving parts, breakage to anticipate</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Generating xUnit tests for one method</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Balanced</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Reasoning is overkill; balanced does this well</a:t>
                      </a:r>
                      <a:endParaRPr lang="en-US" sz="1300" dirty="0">
                        <a:solidFill>
                          <a:schemeClr val="tx1"/>
                        </a:solidFill>
                        <a:latin typeface="Calibri" charset="0"/>
                        <a:ea typeface="Calibri" charset="0"/>
                        <a:cs typeface="Calibri" charset="0"/>
                      </a:endParaRPr>
                    </a:p>
                  </a:txBody>
                  <a:tcP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457200" y="4434840"/>
            <a:ext cx="8229600" cy="365760"/>
          </a:xfrm>
          <a:prstGeom prst="rect">
            <a:avLst/>
          </a:prstGeom>
          <a:noFill/>
          <a:ln/>
        </p:spPr>
        <p:txBody>
          <a:bodyPr wrap="square" rtlCol="0" anchor="ctr"/>
          <a:lstStyle/>
          <a:p>
            <a:pPr marL="0" indent="0" algn="ctr">
              <a:buNone/>
            </a:pPr>
            <a:r>
              <a:rPr lang="en-US" sz="1300" i="1" dirty="0">
                <a:latin typeface="Calibri" pitchFamily="34" charset="0"/>
                <a:ea typeface="Calibri" pitchFamily="34" charset="-122"/>
                <a:cs typeface="Calibri" pitchFamily="34" charset="-120"/>
              </a:rPr>
              <a:t>When in doubt: 'Auto' mode in Copilot picks a sensible default. Override when you know better.</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From LLMs to agents — a teaser</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36</a:t>
            </a:fld>
            <a:endParaRPr lang="en-US">
              <a:solidFill>
                <a:schemeClr val="tx1"/>
              </a:solidFill>
            </a:endParaRPr>
          </a:p>
        </p:txBody>
      </p:sp>
      <p:sp>
        <p:nvSpPr>
          <p:cNvPr id="3" name="Text 1"/>
          <p:cNvSpPr/>
          <p:nvPr/>
        </p:nvSpPr>
        <p:spPr>
          <a:xfrm>
            <a:off x="457200" y="1549400"/>
            <a:ext cx="8229600" cy="3296919"/>
          </a:xfrm>
          <a:prstGeom prst="rect">
            <a:avLst/>
          </a:prstGeom>
          <a:noFill/>
          <a:ln/>
        </p:spPr>
        <p:txBody>
          <a:bodyPr wrap="square" rtlCol="0" anchor="t"/>
          <a:lstStyle/>
          <a:p>
            <a:pPr marL="0" indent="0">
              <a:buNone/>
            </a:pPr>
            <a:r>
              <a:rPr lang="en-US" dirty="0">
                <a:latin typeface="Calibri" pitchFamily="34" charset="0"/>
                <a:ea typeface="Calibri" pitchFamily="34" charset="-122"/>
                <a:cs typeface="Calibri" pitchFamily="34" charset="-120"/>
              </a:rPr>
              <a:t>Everything so far has been:  </a:t>
            </a:r>
            <a:r>
              <a:rPr lang="en-US" b="1" dirty="0">
                <a:latin typeface="Courier New" pitchFamily="34" charset="0"/>
                <a:ea typeface="Courier New" pitchFamily="34" charset="-122"/>
                <a:cs typeface="Courier New" pitchFamily="34" charset="-120"/>
              </a:rPr>
              <a:t>input  →  LLM  →  output.</a:t>
            </a:r>
            <a:endParaRPr lang="en-US" dirty="0"/>
          </a:p>
          <a:p>
            <a:pPr marL="0" indent="0">
              <a:spcAft>
                <a:spcPts val="800"/>
              </a:spcAft>
              <a:buNone/>
            </a:pPr>
            <a:endParaRPr lang="en-US" b="1" dirty="0">
              <a:latin typeface="Calibri" pitchFamily="34" charset="0"/>
              <a:ea typeface="Calibri" pitchFamily="34" charset="-122"/>
              <a:cs typeface="Calibri" pitchFamily="34" charset="-120"/>
            </a:endParaRPr>
          </a:p>
          <a:p>
            <a:pPr marL="0" indent="0">
              <a:spcAft>
                <a:spcPts val="800"/>
              </a:spcAft>
              <a:buNone/>
            </a:pPr>
            <a:r>
              <a:rPr lang="en-US" b="1" dirty="0">
                <a:latin typeface="Calibri" pitchFamily="34" charset="0"/>
                <a:ea typeface="Calibri" pitchFamily="34" charset="-122"/>
                <a:cs typeface="Calibri" pitchFamily="34" charset="-120"/>
              </a:rPr>
              <a:t>An agent adds two things:</a:t>
            </a:r>
          </a:p>
          <a:p>
            <a:pPr marL="0" indent="0">
              <a:spcAft>
                <a:spcPts val="800"/>
              </a:spcAft>
              <a:buNone/>
            </a:pPr>
            <a:endParaRPr lang="en-US" dirty="0"/>
          </a:p>
          <a:p>
            <a:pPr marL="0" indent="0">
              <a:buNone/>
            </a:pPr>
            <a:r>
              <a:rPr lang="en-US" dirty="0">
                <a:latin typeface="Calibri" pitchFamily="34" charset="0"/>
                <a:ea typeface="Calibri" pitchFamily="34" charset="-122"/>
                <a:cs typeface="Calibri" pitchFamily="34" charset="-120"/>
              </a:rPr>
              <a:t>•  </a:t>
            </a:r>
            <a:r>
              <a:rPr lang="en-US" b="1" dirty="0">
                <a:latin typeface="Calibri" pitchFamily="34" charset="0"/>
                <a:ea typeface="Calibri" pitchFamily="34" charset="-122"/>
                <a:cs typeface="Calibri" pitchFamily="34" charset="-120"/>
              </a:rPr>
              <a:t>Tools</a:t>
            </a:r>
            <a:r>
              <a:rPr lang="en-US" dirty="0">
                <a:latin typeface="Calibri" pitchFamily="34" charset="0"/>
                <a:ea typeface="Calibri" pitchFamily="34" charset="-122"/>
                <a:cs typeface="Calibri" pitchFamily="34" charset="-120"/>
              </a:rPr>
              <a:t> — the LLM can call functions (read files, run code, fetch URLs, query DBs)</a:t>
            </a:r>
          </a:p>
          <a:p>
            <a:pPr marL="0" indent="0">
              <a:buNone/>
            </a:pPr>
            <a:endParaRPr lang="en-US" dirty="0"/>
          </a:p>
          <a:p>
            <a:pPr marL="0" indent="0">
              <a:buNone/>
            </a:pPr>
            <a:r>
              <a:rPr lang="en-US" dirty="0">
                <a:latin typeface="Calibri" pitchFamily="34" charset="0"/>
                <a:ea typeface="Calibri" pitchFamily="34" charset="-122"/>
                <a:cs typeface="Calibri" pitchFamily="34" charset="-120"/>
              </a:rPr>
              <a:t>•  </a:t>
            </a:r>
            <a:r>
              <a:rPr lang="en-US" b="1" dirty="0">
                <a:latin typeface="Calibri" pitchFamily="34" charset="0"/>
                <a:ea typeface="Calibri" pitchFamily="34" charset="-122"/>
                <a:cs typeface="Calibri" pitchFamily="34" charset="-120"/>
              </a:rPr>
              <a:t>A loop</a:t>
            </a:r>
            <a:r>
              <a:rPr lang="en-US" dirty="0">
                <a:latin typeface="Calibri" pitchFamily="34" charset="0"/>
                <a:ea typeface="Calibri" pitchFamily="34" charset="-122"/>
                <a:cs typeface="Calibri" pitchFamily="34" charset="-120"/>
              </a:rPr>
              <a:t> — it can use tool output to inform its next step, and repeat</a:t>
            </a:r>
            <a:endParaRPr lang="en-US" dirty="0"/>
          </a:p>
          <a:p>
            <a:pPr marL="0" indent="0">
              <a:buNone/>
            </a:pPr>
            <a:r>
              <a:rPr lang="en-US" b="1" dirty="0">
                <a:latin typeface="Calibri" pitchFamily="34" charset="0"/>
                <a:ea typeface="Calibri" pitchFamily="34" charset="-122"/>
                <a:cs typeface="Calibri" pitchFamily="34" charset="-120"/>
              </a:rPr>
              <a:t>Important: the failure modes don't go away. </a:t>
            </a:r>
            <a:r>
              <a:rPr lang="en-US" i="1" dirty="0">
                <a:latin typeface="Calibri" pitchFamily="34" charset="0"/>
                <a:ea typeface="Calibri" pitchFamily="34" charset="-122"/>
                <a:cs typeface="Calibri" pitchFamily="34" charset="-120"/>
              </a:rPr>
              <a:t>They get amplified — a hallucinated package can now </a:t>
            </a:r>
            <a:r>
              <a:rPr lang="en-US" b="1" i="1" dirty="0">
                <a:latin typeface="Calibri" pitchFamily="34" charset="0"/>
                <a:ea typeface="Calibri" pitchFamily="34" charset="-122"/>
                <a:cs typeface="Calibri" pitchFamily="34" charset="-120"/>
              </a:rPr>
              <a:t>install itself</a:t>
            </a:r>
            <a:r>
              <a:rPr lang="en-US" i="1" dirty="0">
                <a:latin typeface="Calibri" pitchFamily="34" charset="0"/>
                <a:ea typeface="Calibri" pitchFamily="34" charset="-122"/>
                <a:cs typeface="Calibri" pitchFamily="34" charset="-120"/>
              </a:rPr>
              <a:t>. A confidently-wrong refactor can now </a:t>
            </a:r>
            <a:r>
              <a:rPr lang="en-US" b="1" i="1" dirty="0">
                <a:latin typeface="Calibri" pitchFamily="34" charset="0"/>
                <a:ea typeface="Calibri" pitchFamily="34" charset="-122"/>
                <a:cs typeface="Calibri" pitchFamily="34" charset="-120"/>
              </a:rPr>
              <a:t>commit itself.</a:t>
            </a:r>
            <a:r>
              <a:rPr lang="en-US" i="1" dirty="0">
                <a:latin typeface="Calibri" pitchFamily="34" charset="0"/>
                <a:ea typeface="Calibri" pitchFamily="34" charset="-122"/>
                <a:cs typeface="Calibri" pitchFamily="34" charset="-120"/>
              </a:rPr>
              <a:t> That's why everything we covered today matters.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Key takeaways</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37</a:t>
            </a:fld>
            <a:endParaRPr lang="en-US">
              <a:solidFill>
                <a:schemeClr val="tx1"/>
              </a:solidFill>
            </a:endParaRPr>
          </a:p>
        </p:txBody>
      </p:sp>
      <p:sp>
        <p:nvSpPr>
          <p:cNvPr id="3" name="Text 1"/>
          <p:cNvSpPr/>
          <p:nvPr/>
        </p:nvSpPr>
        <p:spPr>
          <a:xfrm>
            <a:off x="457200" y="1270000"/>
            <a:ext cx="8229600" cy="3119120"/>
          </a:xfrm>
          <a:prstGeom prst="rect">
            <a:avLst/>
          </a:prstGeom>
          <a:noFill/>
          <a:ln/>
        </p:spPr>
        <p:txBody>
          <a:bodyPr wrap="square" rtlCol="0" anchor="t"/>
          <a:lstStyle/>
          <a:p>
            <a:pPr marL="342900" indent="-342900">
              <a:spcAft>
                <a:spcPts val="1000"/>
              </a:spcAft>
              <a:buSzPct val="100000"/>
              <a:buChar char="•"/>
            </a:pPr>
            <a:r>
              <a:rPr lang="en-US" sz="1700" dirty="0">
                <a:latin typeface="Calibri" pitchFamily="34" charset="0"/>
                <a:ea typeface="Calibri" pitchFamily="34" charset="-122"/>
                <a:cs typeface="Calibri" pitchFamily="34" charset="-120"/>
              </a:rPr>
              <a:t>LLMs are next-token predictors with an assistant personality bolted on by RLHF</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Tokens, context, sampling — three knobs that shape every interaction</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Failure modes are predictable: hallucinations, stale knowledge, bad at exact things, confident wrongness</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Pick models per task: fast / balanced / reasoning, depending on cost-latency-quality tradeoffs</a:t>
            </a:r>
            <a:endParaRPr lang="en-US" sz="1700" dirty="0"/>
          </a:p>
          <a:p>
            <a:pPr marL="342900" indent="-342900">
              <a:spcAft>
                <a:spcPts val="1000"/>
              </a:spcAft>
              <a:buSzPct val="100000"/>
              <a:buChar char="•"/>
            </a:pPr>
            <a:r>
              <a:rPr lang="en-US" sz="1700" dirty="0">
                <a:latin typeface="Calibri" pitchFamily="34" charset="0"/>
                <a:ea typeface="Calibri" pitchFamily="34" charset="-122"/>
                <a:cs typeface="Calibri" pitchFamily="34" charset="-120"/>
              </a:rPr>
              <a:t>Trust the structure, verify the specifics — the 'last mile' is non-negotiable, and it gets more important as agents take more autonomy</a:t>
            </a:r>
            <a:endParaRPr lang="en-US" sz="1700" dirty="0"/>
          </a:p>
        </p:txBody>
      </p:sp>
      <p:sp>
        <p:nvSpPr>
          <p:cNvPr id="4" name="Text 2"/>
          <p:cNvSpPr/>
          <p:nvPr/>
        </p:nvSpPr>
        <p:spPr>
          <a:xfrm>
            <a:off x="457200" y="4297680"/>
            <a:ext cx="8229600" cy="548640"/>
          </a:xfrm>
          <a:prstGeom prst="rect">
            <a:avLst/>
          </a:prstGeom>
          <a:noFill/>
          <a:ln/>
        </p:spPr>
        <p:txBody>
          <a:bodyPr wrap="square" rtlCol="0" anchor="t"/>
          <a:lstStyle/>
          <a:p>
            <a:pPr marL="0" indent="0">
              <a:buNone/>
            </a:pPr>
            <a:r>
              <a:rPr lang="en-US" sz="1500" b="1" dirty="0">
                <a:latin typeface="Calibri" pitchFamily="34" charset="0"/>
                <a:ea typeface="Calibri" pitchFamily="34" charset="-122"/>
                <a:cs typeface="Calibri" pitchFamily="34" charset="-120"/>
              </a:rPr>
              <a:t>If you remember nothing else:  </a:t>
            </a:r>
            <a:r>
              <a:rPr lang="en-US" sz="1500" i="1" dirty="0">
                <a:latin typeface="Calibri" pitchFamily="34" charset="0"/>
                <a:ea typeface="Calibri" pitchFamily="34" charset="-122"/>
                <a:cs typeface="Calibri" pitchFamily="34" charset="-120"/>
              </a:rPr>
              <a:t>the model is a pattern-completer at scale, with assistant tone bolted on. Everything else falls out of that.</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p:nvPr>
        </p:nvSpPr>
        <p:spPr>
          <a:prstGeom prst="rect">
            <a:avLst/>
          </a:prstGeom>
          <a:noFill/>
          <a:ln/>
        </p:spPr>
        <p:txBody>
          <a:bodyPr wrap="square" lIns="0" tIns="0" rIns="0" bIns="0" rtlCol="0" anchor="t"/>
          <a:lstStyle/>
          <a:p>
            <a:pPr marL="0" indent="0" algn="l">
              <a:buNone/>
            </a:pPr>
            <a:r>
              <a:rPr lang="en-US" sz="2800" b="1" dirty="0">
                <a:latin typeface="Calibri" pitchFamily="34" charset="0"/>
                <a:ea typeface="Calibri" pitchFamily="34" charset="-122"/>
                <a:cs typeface="Calibri" pitchFamily="34" charset="-120"/>
              </a:rPr>
              <a:t>What's next</a:t>
            </a:r>
            <a:endParaRPr lang="en-US" sz="2800" dirty="0"/>
          </a:p>
        </p:txBody>
      </p:sp>
      <p:sp>
        <p:nvSpPr>
          <p:cNvPr id="25" name="Slide Number Placeholder 0"/>
          <p:cNvSpPr>
            <a:spLocks noGrp="1"/>
          </p:cNvSpPr>
          <p:nvPr>
            <p:ph type="sldNum" sz="quarter" idx="12"/>
          </p:nvPr>
        </p:nvSpPr>
        <p:spPr>
          <a:prstGeom prst="rect">
            <a:avLst/>
          </a:prstGeom>
          <a:extLst>
            <a:ext uri="{C572A759-6A51-4108-AA02-DFA0A04FC94B}">
              <ma14:wrappingTextBoxFlag xmlns:ma14="http://schemas.microsoft.com/office/mac/drawingml/2011/main" xmlns="" val="0"/>
            </a:ext>
          </a:extLst>
        </p:spPr>
        <p:txBody>
          <a:bodyPr/>
          <a:lstStyle>
            <a:lvl1pPr>
              <a:defRPr sz="1000">
                <a:solidFill>
                  <a:srgbClr val="6B6B6B"/>
                </a:solidFill>
                <a:latin typeface="Calibri"/>
                <a:ea typeface="Calibri"/>
                <a:cs typeface="Calibri"/>
              </a:defRPr>
            </a:lvl1pPr>
          </a:lstStyle>
          <a:p>
            <a:pPr algn="r"/>
            <a:fld id="{F7021451-1387-4CA6-816F-3879F97B5CBC}" type="slidenum">
              <a:rPr lang="en-US" b="0">
                <a:solidFill>
                  <a:schemeClr val="tx1"/>
                </a:solidFill>
              </a:rPr>
              <a:t>38</a:t>
            </a:fld>
            <a:endParaRPr lang="en-US">
              <a:solidFill>
                <a:schemeClr val="tx1"/>
              </a:solidFill>
            </a:endParaRPr>
          </a:p>
        </p:txBody>
      </p:sp>
      <p:sp>
        <p:nvSpPr>
          <p:cNvPr id="3" name="Text 1"/>
          <p:cNvSpPr/>
          <p:nvPr/>
        </p:nvSpPr>
        <p:spPr>
          <a:xfrm>
            <a:off x="457200" y="1422400"/>
            <a:ext cx="8229600" cy="3423920"/>
          </a:xfrm>
          <a:prstGeom prst="rect">
            <a:avLst/>
          </a:prstGeom>
          <a:noFill/>
          <a:ln/>
        </p:spPr>
        <p:txBody>
          <a:bodyPr wrap="square" rtlCol="0" anchor="t"/>
          <a:lstStyle/>
          <a:p>
            <a:pPr marL="0" indent="0">
              <a:buNone/>
            </a:pPr>
            <a:r>
              <a:rPr lang="en-US" sz="1700" b="1" dirty="0">
                <a:latin typeface="Calibri" pitchFamily="34" charset="0"/>
                <a:ea typeface="Calibri" pitchFamily="34" charset="-122"/>
                <a:cs typeface="Calibri" pitchFamily="34" charset="-120"/>
              </a:rPr>
              <a:t>Module 2: </a:t>
            </a:r>
            <a:r>
              <a:rPr lang="en-US" sz="1700" dirty="0">
                <a:latin typeface="Calibri" pitchFamily="34" charset="0"/>
                <a:ea typeface="Calibri" pitchFamily="34" charset="-122"/>
                <a:cs typeface="Calibri" pitchFamily="34" charset="-120"/>
              </a:rPr>
              <a:t>Basic Chat &amp; Prompting Fundamentals</a:t>
            </a:r>
            <a:endParaRPr lang="en-US" sz="1700" dirty="0"/>
          </a:p>
          <a:p>
            <a:pPr marL="0" indent="0">
              <a:spcAft>
                <a:spcPts val="1800"/>
              </a:spcAft>
              <a:buNone/>
            </a:pPr>
            <a:r>
              <a:rPr lang="en-US" sz="1400" dirty="0">
                <a:latin typeface="Calibri" pitchFamily="34" charset="0"/>
                <a:ea typeface="Calibri" pitchFamily="34" charset="-122"/>
                <a:cs typeface="Calibri" pitchFamily="34" charset="-120"/>
              </a:rPr>
              <a:t>How to talk to the model: zero-shot, few-shot, chain-of-thought, the WRAP framework, and prompt files.</a:t>
            </a:r>
            <a:endParaRPr lang="en-US" sz="1700" dirty="0"/>
          </a:p>
          <a:p>
            <a:pPr marL="0" indent="0">
              <a:buNone/>
            </a:pPr>
            <a:r>
              <a:rPr lang="en-US" sz="1700" b="1" dirty="0">
                <a:latin typeface="Calibri" pitchFamily="34" charset="0"/>
                <a:ea typeface="Calibri" pitchFamily="34" charset="-122"/>
                <a:cs typeface="Calibri" pitchFamily="34" charset="-120"/>
              </a:rPr>
              <a:t>Module 3: </a:t>
            </a:r>
            <a:r>
              <a:rPr lang="en-US" sz="1700" dirty="0">
                <a:latin typeface="Calibri" pitchFamily="34" charset="0"/>
                <a:ea typeface="Calibri" pitchFamily="34" charset="-122"/>
                <a:cs typeface="Calibri" pitchFamily="34" charset="-120"/>
              </a:rPr>
              <a:t>Context — the most important variable</a:t>
            </a:r>
            <a:endParaRPr lang="en-US" sz="1700" dirty="0"/>
          </a:p>
          <a:p>
            <a:pPr marL="0" indent="0">
              <a:spcAft>
                <a:spcPts val="1800"/>
              </a:spcAft>
              <a:buNone/>
            </a:pPr>
            <a:r>
              <a:rPr lang="en-US" sz="1400" dirty="0">
                <a:latin typeface="Calibri" pitchFamily="34" charset="0"/>
                <a:ea typeface="Calibri" pitchFamily="34" charset="-122"/>
                <a:cs typeface="Calibri" pitchFamily="34" charset="-120"/>
              </a:rPr>
              <a:t>What goes into the window, what to leave out, and how to anchor context references in Copilot.</a:t>
            </a:r>
            <a:endParaRPr lang="en-US" sz="1700" dirty="0"/>
          </a:p>
          <a:p>
            <a:pPr marL="0" indent="0">
              <a:buNone/>
            </a:pPr>
            <a:r>
              <a:rPr lang="en-US" sz="1700" b="1" dirty="0">
                <a:latin typeface="Calibri" pitchFamily="34" charset="0"/>
                <a:ea typeface="Calibri" pitchFamily="34" charset="-122"/>
                <a:cs typeface="Calibri" pitchFamily="34" charset="-120"/>
              </a:rPr>
              <a:t>Module 4: </a:t>
            </a:r>
            <a:r>
              <a:rPr lang="en-US" sz="1700" dirty="0">
                <a:latin typeface="Calibri" pitchFamily="34" charset="0"/>
                <a:ea typeface="Calibri" pitchFamily="34" charset="-122"/>
                <a:cs typeface="Calibri" pitchFamily="34" charset="-120"/>
              </a:rPr>
              <a:t>Copilot Chat in VS Code</a:t>
            </a:r>
            <a:endParaRPr lang="en-US" sz="1700" dirty="0"/>
          </a:p>
          <a:p>
            <a:pPr marL="0" indent="0">
              <a:spcAft>
                <a:spcPts val="1800"/>
              </a:spcAft>
              <a:buNone/>
            </a:pPr>
            <a:r>
              <a:rPr lang="en-US" sz="1400" dirty="0">
                <a:latin typeface="Calibri" pitchFamily="34" charset="0"/>
                <a:ea typeface="Calibri" pitchFamily="34" charset="-122"/>
                <a:cs typeface="Calibri" pitchFamily="34" charset="-120"/>
              </a:rPr>
              <a:t>Where the rubber meets the road — inline autocomplete, chat participants, slash commands, Plan Mode.</a:t>
            </a:r>
            <a:endParaRPr lang="en-US" sz="1700" dirty="0"/>
          </a:p>
          <a:p>
            <a:pPr marL="0" indent="0">
              <a:buNone/>
            </a:pPr>
            <a:r>
              <a:rPr lang="en-US" sz="1700" b="1" dirty="0">
                <a:latin typeface="Calibri" pitchFamily="34" charset="0"/>
                <a:ea typeface="Calibri" pitchFamily="34" charset="-122"/>
                <a:cs typeface="Calibri" pitchFamily="34" charset="-120"/>
              </a:rPr>
              <a:t>Module 5: </a:t>
            </a:r>
            <a:r>
              <a:rPr lang="en-US" sz="1700" dirty="0">
                <a:latin typeface="Calibri" pitchFamily="34" charset="0"/>
                <a:ea typeface="Calibri" pitchFamily="34" charset="-122"/>
                <a:cs typeface="Calibri" pitchFamily="34" charset="-120"/>
              </a:rPr>
              <a:t>Copilot for .NET Core / C#</a:t>
            </a:r>
            <a:endParaRPr lang="en-US" sz="1700" dirty="0"/>
          </a:p>
          <a:p>
            <a:pPr marL="0" indent="0">
              <a:buNone/>
            </a:pPr>
            <a:r>
              <a:rPr lang="en-US" sz="1400" dirty="0">
                <a:latin typeface="Calibri" pitchFamily="34" charset="0"/>
                <a:ea typeface="Calibri" pitchFamily="34" charset="-122"/>
                <a:cs typeface="Calibri" pitchFamily="34" charset="-120"/>
              </a:rPr>
              <a:t>Your stack: @Test, @Profiler, MS Learn integration, Clean Architecture instruction files.</a:t>
            </a:r>
            <a:endParaRPr lang="en-US" sz="17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TM03457452[[fn=Celestial]]</Template>
  <TotalTime>1138</TotalTime>
  <Words>4955</Words>
  <Application>Microsoft Office PowerPoint</Application>
  <PresentationFormat>On-screen Show (16:9)</PresentationFormat>
  <Paragraphs>421</Paragraphs>
  <Slides>38</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Courier New</vt:lpstr>
      <vt:lpstr>Celestial</vt:lpstr>
      <vt:lpstr>02 – Large Language Models</vt:lpstr>
      <vt:lpstr>Mental model &amp; tokens</vt:lpstr>
      <vt:lpstr>An LLM in one sentence</vt:lpstr>
      <vt:lpstr>How prediction actually works</vt:lpstr>
      <vt:lpstr>Tokens, not words</vt:lpstr>
      <vt:lpstr>Why tokens matter — three places they bite</vt:lpstr>
      <vt:lpstr>Architecture, just enough</vt:lpstr>
      <vt:lpstr>The transformer, top to bottom</vt:lpstr>
      <vt:lpstr>Attention in one line</vt:lpstr>
      <vt:lpstr>Why context windows are finite</vt:lpstr>
      <vt:lpstr>The training pipeline</vt:lpstr>
      <vt:lpstr>From raw text to chatbot — three stages</vt:lpstr>
      <vt:lpstr>Stage 1 — Pretraining</vt:lpstr>
      <vt:lpstr>Stage 2 — Supervised Fine-Tuning (SFT)</vt:lpstr>
      <vt:lpstr>Stage 3 — RLHF (or DPO, its newer cousin)</vt:lpstr>
      <vt:lpstr>Why this matters for your day job</vt:lpstr>
      <vt:lpstr>Inference &amp; sampling</vt:lpstr>
      <vt:lpstr>Inference — what happens at request time</vt:lpstr>
      <vt:lpstr>Temperature, top-p, top-k</vt:lpstr>
      <vt:lpstr>'Deterministic' is a lie</vt:lpstr>
      <vt:lpstr>Temperature in action</vt:lpstr>
      <vt:lpstr>Code models &amp; reasoning models</vt:lpstr>
      <vt:lpstr>What makes code models different</vt:lpstr>
      <vt:lpstr>Reasoning models vs. fast models</vt:lpstr>
      <vt:lpstr>How LLMs fail</vt:lpstr>
      <vt:lpstr>The four failures</vt:lpstr>
      <vt:lpstr>Hallucinations</vt:lpstr>
      <vt:lpstr>Spot the hallucination</vt:lpstr>
      <vt:lpstr>Stale knowledge</vt:lpstr>
      <vt:lpstr>Bad at exact things</vt:lpstr>
      <vt:lpstr>Confidence ≠ correctness</vt:lpstr>
      <vt:lpstr>Picking the right model</vt:lpstr>
      <vt:lpstr>The landscape today</vt:lpstr>
      <vt:lpstr>Three dials: cost, latency, quality</vt:lpstr>
      <vt:lpstr>Picking models in Copilot — rules of thumb</vt:lpstr>
      <vt:lpstr>From LLMs to agents — a teaser</vt:lpstr>
      <vt:lpstr>Key takeaways</vt:lpstr>
      <vt:lpstr>What's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LLMs Work — Module 1</dc:title>
  <dc:subject>PptxGenJS Presentation</dc:subject>
  <dc:creator>Workshop instructor</dc:creator>
  <cp:lastModifiedBy>Uri Goldstein</cp:lastModifiedBy>
  <cp:revision>23</cp:revision>
  <dcterms:created xsi:type="dcterms:W3CDTF">2026-06-14T14:19:50Z</dcterms:created>
  <dcterms:modified xsi:type="dcterms:W3CDTF">2026-06-30T22:39:44Z</dcterms:modified>
</cp:coreProperties>
</file>